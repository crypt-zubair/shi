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7" r:id="rId14"/>
    <p:sldId id="273" r:id="rId15"/>
    <p:sldId id="268" r:id="rId16"/>
    <p:sldId id="270" r:id="rId17"/>
    <p:sldId id="271" r:id="rId18"/>
    <p:sldId id="272" r:id="rId19"/>
    <p:sldId id="279" r:id="rId20"/>
    <p:sldId id="281" r:id="rId21"/>
    <p:sldId id="282" r:id="rId22"/>
    <p:sldId id="269" r:id="rId23"/>
    <p:sldId id="296" r:id="rId24"/>
    <p:sldId id="275" r:id="rId25"/>
    <p:sldId id="298" r:id="rId26"/>
    <p:sldId id="277" r:id="rId27"/>
    <p:sldId id="297" r:id="rId28"/>
    <p:sldId id="278" r:id="rId29"/>
    <p:sldId id="299"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9" r:id="rId72"/>
    <p:sldId id="330" r:id="rId73"/>
    <p:sldId id="331" r:id="rId74"/>
    <p:sldId id="334" r:id="rId75"/>
    <p:sldId id="332" r:id="rId76"/>
    <p:sldId id="333" r:id="rId77"/>
    <p:sldId id="339" r:id="rId78"/>
    <p:sldId id="335" r:id="rId79"/>
    <p:sldId id="340" r:id="rId80"/>
    <p:sldId id="336" r:id="rId81"/>
    <p:sldId id="337"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5" d="100"/>
          <a:sy n="75" d="100"/>
        </p:scale>
        <p:origin x="-1016"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60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CB8B61-0540-457C-AEBD-1B6CA0A4EE22}" type="datetimeFigureOut">
              <a:rPr lang="en-US" smtClean="0"/>
              <a:pPr/>
              <a:t>9/16/2025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B0982F-A6D9-42E1-9632-48DC6FE3541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B0982F-A6D9-42E1-9632-48DC6FE3541A}" type="slidenum">
              <a:rPr lang="en-US" smtClean="0"/>
              <a:pPr/>
              <a:t>76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B0982F-A6D9-42E1-9632-48DC6FE3541A}" type="slidenum">
              <a:rPr lang="en-US" smtClean="0"/>
              <a:pPr/>
              <a:t>78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5F306C-CD16-4CA0-BE18-A9EE4DDB39B6}"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5F306C-CD16-4CA0-BE18-A9EE4DDB39B6}"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F306C-CD16-4CA0-BE18-A9EE4DDB39B6}"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5F306C-CD16-4CA0-BE18-A9EE4DDB39B6}"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5F306C-CD16-4CA0-BE18-A9EE4DDB39B6}" type="datetimeFigureOut">
              <a:rPr lang="en-US" smtClean="0"/>
              <a:pPr/>
              <a:t>9/16/2025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5F306C-CD16-4CA0-BE18-A9EE4DDB39B6}" type="datetimeFigureOut">
              <a:rPr lang="en-US" smtClean="0"/>
              <a:pPr/>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5F306C-CD16-4CA0-BE18-A9EE4DDB39B6}" type="datetimeFigureOut">
              <a:rPr lang="en-US" smtClean="0"/>
              <a:pPr/>
              <a:t>9/16/2025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5F306C-CD16-4CA0-BE18-A9EE4DDB39B6}"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5F306C-CD16-4CA0-BE18-A9EE4DDB39B6}"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5F306C-CD16-4CA0-BE18-A9EE4DDB39B6}"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5F306C-CD16-4CA0-BE18-A9EE4DDB39B6}"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27C91-0D40-4D33-8533-8C9E8D070CD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F306C-CD16-4CA0-BE18-A9EE4DDB39B6}" type="datetimeFigureOut">
              <a:rPr lang="en-US" smtClean="0"/>
              <a:pPr/>
              <a:t>9/16/2025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327C91-0D40-4D33-8533-8C9E8D070CD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hyperlink" Target="https://www.geeksforgeeks.org/dsa/introduction-to-dijkstras-shortest-path-algorithm/" TargetMode="External"/><Relationship Id="rId2" Type="http://schemas.openxmlformats.org/officeDocument/2006/relationships/hyperlink" Target="https://www.geeksforgeeks.org/dsa/prims-minimum-spanning-tree-mst-greedy-algo-5/" TargetMode="External"/><Relationship Id="rId1" Type="http://schemas.openxmlformats.org/officeDocument/2006/relationships/slideLayout" Target="../slideLayouts/slideLayout2.xml"/><Relationship Id="rId4" Type="http://schemas.openxmlformats.org/officeDocument/2006/relationships/hyperlink" Target="https://www.geeksforgeeks.org/dsa/a-search-algorithm/" TargetMode="External"/></Relationships>
</file>

<file path=ppt/slides/_rels/slide81.xml.rels><?xml version="1.0" encoding="UTF-8" standalone="yes"?>
<Relationships xmlns="http://schemas.openxmlformats.org/package/2006/relationships"><Relationship Id="rId2" Type="http://schemas.openxmlformats.org/officeDocument/2006/relationships/hyperlink" Target="https://www.geeksforgeeks.org/dsa/k-largestor-smallest-elements-in-an-arra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428604"/>
            <a:ext cx="7772400" cy="869947"/>
          </a:xfrm>
        </p:spPr>
        <p:txBody>
          <a:bodyPr/>
          <a:lstStyle/>
          <a:p>
            <a:r>
              <a:rPr lang="en-IN" dirty="0"/>
              <a:t>UNIT 3 – TREE DATA STRUCTURES</a:t>
            </a:r>
            <a:endParaRPr lang="en-US" dirty="0"/>
          </a:p>
        </p:txBody>
      </p:sp>
      <p:sp>
        <p:nvSpPr>
          <p:cNvPr id="3" name="Subtitle 2"/>
          <p:cNvSpPr>
            <a:spLocks noGrp="1"/>
          </p:cNvSpPr>
          <p:nvPr>
            <p:ph type="subTitle" idx="1"/>
          </p:nvPr>
        </p:nvSpPr>
        <p:spPr>
          <a:xfrm>
            <a:off x="357158" y="1500174"/>
            <a:ext cx="8501122" cy="3000396"/>
          </a:xfrm>
        </p:spPr>
        <p:txBody>
          <a:bodyPr>
            <a:normAutofit/>
          </a:bodyPr>
          <a:lstStyle/>
          <a:p>
            <a:pPr algn="just"/>
            <a:r>
              <a:rPr lang="en-US" b="1" dirty="0"/>
              <a:t>Introduction – Types of Trees – Creating a Binary Tree from a General Tree – Traversing a Binary Tree – Binary Search Trees – Operations on a Binary Search Trees – Threaded Binary Trees – AVL Trees– Binary Heaps – Applications of Heaps.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a:t>What is a Tree?</a:t>
            </a:r>
          </a:p>
          <a:p>
            <a:r>
              <a:rPr lang="en-US" dirty="0"/>
              <a:t>A </a:t>
            </a:r>
            <a:r>
              <a:rPr lang="en-US" b="1" dirty="0"/>
              <a:t>tree</a:t>
            </a:r>
            <a:r>
              <a:rPr lang="en-US" dirty="0"/>
              <a:t> is a </a:t>
            </a:r>
            <a:r>
              <a:rPr lang="en-US" b="1" dirty="0"/>
              <a:t>non-linear</a:t>
            </a:r>
            <a:r>
              <a:rPr lang="en-US" dirty="0"/>
              <a:t> data structure made up of </a:t>
            </a:r>
            <a:r>
              <a:rPr lang="en-US" b="1" dirty="0"/>
              <a:t>nodes</a:t>
            </a:r>
            <a:r>
              <a:rPr lang="en-US" dirty="0"/>
              <a:t> connected by </a:t>
            </a:r>
            <a:r>
              <a:rPr lang="en-US" b="1" dirty="0"/>
              <a:t>edges</a:t>
            </a:r>
            <a:r>
              <a:rPr lang="en-US" dirty="0"/>
              <a:t>. It starts with a </a:t>
            </a:r>
            <a:r>
              <a:rPr lang="en-US" b="1" dirty="0"/>
              <a:t>root node</a:t>
            </a:r>
            <a:r>
              <a:rPr lang="en-US" dirty="0"/>
              <a:t>, and each node can have </a:t>
            </a:r>
            <a:r>
              <a:rPr lang="en-US" b="1" dirty="0"/>
              <a:t>children</a:t>
            </a:r>
            <a:r>
              <a:rPr lang="en-US" dirty="0"/>
              <a:t>. A common type of tree is the </a:t>
            </a:r>
            <a:r>
              <a:rPr lang="en-US" b="1" dirty="0"/>
              <a:t>binary tree</a:t>
            </a:r>
            <a:r>
              <a:rPr lang="en-US" dirty="0"/>
              <a:t>, where each node has at most </a:t>
            </a:r>
            <a:r>
              <a:rPr lang="en-US" b="1" dirty="0"/>
              <a:t>two children</a:t>
            </a:r>
            <a:r>
              <a:rPr lang="en-US" dirty="0"/>
              <a:t>.</a:t>
            </a:r>
          </a:p>
          <a:p>
            <a:pPr>
              <a:buNone/>
            </a:pPr>
            <a:r>
              <a:rPr lang="en-US" b="1" dirty="0"/>
              <a:t>Why Use Trees?</a:t>
            </a:r>
          </a:p>
          <a:p>
            <a:r>
              <a:rPr lang="en-US" dirty="0"/>
              <a:t>Efficient for searching and sorting (like Binary Search Tree)</a:t>
            </a:r>
          </a:p>
          <a:p>
            <a:r>
              <a:rPr lang="en-US" dirty="0"/>
              <a:t>Represent hierarchical data (e.g., file systems, organization charts)</a:t>
            </a:r>
          </a:p>
          <a:p>
            <a:r>
              <a:rPr lang="en-US" dirty="0"/>
              <a:t>Backbone for complex data structures (heaps, tries, syntax trees)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
            <a:ext cx="7886700" cy="811369"/>
          </a:xfrm>
        </p:spPr>
        <p:txBody>
          <a:bodyPr/>
          <a:lstStyle/>
          <a:p>
            <a:pPr algn="ctr"/>
            <a:r>
              <a:rPr lang="en-US" b="1" dirty="0"/>
              <a:t>Tree ADT</a:t>
            </a:r>
          </a:p>
        </p:txBody>
      </p:sp>
      <p:sp>
        <p:nvSpPr>
          <p:cNvPr id="3" name="Content Placeholder 2"/>
          <p:cNvSpPr>
            <a:spLocks noGrp="1"/>
          </p:cNvSpPr>
          <p:nvPr>
            <p:ph idx="1"/>
          </p:nvPr>
        </p:nvSpPr>
        <p:spPr>
          <a:xfrm>
            <a:off x="628650" y="1012915"/>
            <a:ext cx="7886700" cy="4351338"/>
          </a:xfrm>
        </p:spPr>
        <p:txBody>
          <a:bodyPr>
            <a:normAutofit/>
          </a:bodyPr>
          <a:lstStyle/>
          <a:p>
            <a:r>
              <a:rPr lang="en-US" sz="2400" dirty="0"/>
              <a:t>A Tree is a Data structure in which data items are connected using references in a hierarchical manner. </a:t>
            </a:r>
          </a:p>
          <a:p>
            <a:r>
              <a:rPr lang="en-US" sz="2400" b="1" dirty="0"/>
              <a:t>Tree is a non-linear data structure which organizes data in hierarchical structure and this is a recursive definition.</a:t>
            </a:r>
            <a:endParaRPr lang="en-US" sz="2400" dirty="0"/>
          </a:p>
          <a:p>
            <a:r>
              <a:rPr lang="en-US" sz="2400" dirty="0"/>
              <a:t>Each Tree consists of a root node from which  can access each element of the tree. </a:t>
            </a:r>
          </a:p>
          <a:p>
            <a:r>
              <a:rPr lang="en-US" sz="2400" dirty="0"/>
              <a:t>Starting from the root node, each node contains zero or more nodes connected to it as children. </a:t>
            </a:r>
          </a:p>
        </p:txBody>
      </p:sp>
      <p:pic>
        <p:nvPicPr>
          <p:cNvPr id="5" name="Picture 4"/>
          <p:cNvPicPr>
            <a:picLocks noChangeAspect="1"/>
          </p:cNvPicPr>
          <p:nvPr/>
        </p:nvPicPr>
        <p:blipFill>
          <a:blip r:embed="rId2"/>
          <a:stretch>
            <a:fillRect/>
          </a:stretch>
        </p:blipFill>
        <p:spPr>
          <a:xfrm>
            <a:off x="3132340" y="3774630"/>
            <a:ext cx="4786313" cy="28854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348" y="522514"/>
            <a:ext cx="8817429" cy="6191795"/>
          </a:xfrm>
        </p:spPr>
        <p:txBody>
          <a:bodyPr>
            <a:normAutofit/>
          </a:bodyPr>
          <a:lstStyle/>
          <a:p>
            <a:pPr marL="457200" indent="-457200">
              <a:buAutoNum type="arabicPeriod"/>
            </a:pPr>
            <a:r>
              <a:rPr lang="en-US" sz="2000" b="1" dirty="0"/>
              <a:t>Root node: </a:t>
            </a:r>
            <a:r>
              <a:rPr lang="en-US" sz="2000" dirty="0"/>
              <a:t>In a tree data structure, the first node is called as </a:t>
            </a:r>
            <a:r>
              <a:rPr lang="en-US" sz="2000" b="1" dirty="0"/>
              <a:t>Root Node</a:t>
            </a:r>
            <a:r>
              <a:rPr lang="en-US" sz="2000" dirty="0"/>
              <a:t>. Every tree must have a root node. The root node is the origin of the tree data structure. In any tree, there must be only one root node. </a:t>
            </a:r>
          </a:p>
          <a:p>
            <a:pPr marL="457200" indent="-457200">
              <a:buAutoNum type="arabicPeriod"/>
            </a:pPr>
            <a:endParaRPr lang="en-US" sz="2000" dirty="0"/>
          </a:p>
          <a:p>
            <a:pPr marL="457200" indent="-457200">
              <a:buAutoNum type="arabicPeriod"/>
            </a:pPr>
            <a:endParaRPr lang="en-US" sz="2000" dirty="0"/>
          </a:p>
          <a:p>
            <a:pPr marL="457200" indent="-457200">
              <a:buAutoNum type="arabicPeriod"/>
            </a:pPr>
            <a:endParaRPr lang="en-US" sz="2000" dirty="0"/>
          </a:p>
          <a:p>
            <a:pPr marL="457200" indent="-457200">
              <a:buAutoNum type="arabicPeriod"/>
            </a:pPr>
            <a:endParaRPr lang="en-US" sz="2000" dirty="0"/>
          </a:p>
          <a:p>
            <a:pPr marL="0" indent="0">
              <a:buNone/>
            </a:pPr>
            <a:endParaRPr lang="en-US" sz="2000" dirty="0"/>
          </a:p>
          <a:p>
            <a:pPr marL="0" indent="0">
              <a:buNone/>
            </a:pPr>
            <a:endParaRPr lang="en-US" sz="2000" dirty="0"/>
          </a:p>
          <a:p>
            <a:pPr marL="0" indent="0">
              <a:buNone/>
            </a:pPr>
            <a:r>
              <a:rPr lang="en-US" sz="2000" b="1" dirty="0"/>
              <a:t>2. Edge: </a:t>
            </a:r>
            <a:r>
              <a:rPr lang="en-US" sz="2000" dirty="0"/>
              <a:t>In a tree data structure, the connecting link between any two nodes is called as </a:t>
            </a:r>
            <a:r>
              <a:rPr lang="en-US" sz="2000" b="1" dirty="0"/>
              <a:t>EDGE</a:t>
            </a:r>
            <a:r>
              <a:rPr lang="en-US" sz="2000" dirty="0"/>
              <a:t>. In a tree with '</a:t>
            </a:r>
            <a:r>
              <a:rPr lang="en-US" sz="2000" b="1" dirty="0"/>
              <a:t>N</a:t>
            </a:r>
            <a:r>
              <a:rPr lang="en-US" sz="2000" dirty="0"/>
              <a:t>' number of nodes there will be a maximum of '</a:t>
            </a:r>
            <a:r>
              <a:rPr lang="en-US" sz="2000" b="1" dirty="0"/>
              <a:t>N-1</a:t>
            </a:r>
            <a:r>
              <a:rPr lang="en-US" sz="2000" dirty="0"/>
              <a:t>' number of edges.</a:t>
            </a:r>
          </a:p>
          <a:p>
            <a:pPr marL="0" indent="0">
              <a:buNone/>
            </a:pPr>
            <a:endParaRPr lang="en-US" sz="2000" dirty="0"/>
          </a:p>
        </p:txBody>
      </p:sp>
      <p:pic>
        <p:nvPicPr>
          <p:cNvPr id="4" name="Picture 3"/>
          <p:cNvPicPr>
            <a:picLocks noChangeAspect="1"/>
          </p:cNvPicPr>
          <p:nvPr/>
        </p:nvPicPr>
        <p:blipFill>
          <a:blip r:embed="rId2"/>
          <a:stretch>
            <a:fillRect/>
          </a:stretch>
        </p:blipFill>
        <p:spPr>
          <a:xfrm>
            <a:off x="2034284" y="1175657"/>
            <a:ext cx="4647368" cy="2312126"/>
          </a:xfrm>
          <a:prstGeom prst="rect">
            <a:avLst/>
          </a:prstGeom>
        </p:spPr>
      </p:pic>
      <p:sp>
        <p:nvSpPr>
          <p:cNvPr id="6" name="Title 1"/>
          <p:cNvSpPr>
            <a:spLocks noGrp="1"/>
          </p:cNvSpPr>
          <p:nvPr>
            <p:ph type="title"/>
          </p:nvPr>
        </p:nvSpPr>
        <p:spPr>
          <a:xfrm>
            <a:off x="628650" y="365127"/>
            <a:ext cx="7886700" cy="314143"/>
          </a:xfrm>
        </p:spPr>
        <p:txBody>
          <a:bodyPr>
            <a:normAutofit fontScale="90000"/>
          </a:bodyPr>
          <a:lstStyle/>
          <a:p>
            <a:pPr algn="ctr"/>
            <a:r>
              <a:rPr lang="en-US" b="1" dirty="0"/>
              <a:t>Tree Terminologies</a:t>
            </a:r>
            <a:br>
              <a:rPr lang="en-US" b="1" dirty="0"/>
            </a:br>
            <a:endParaRPr lang="en-US" b="1" dirty="0"/>
          </a:p>
        </p:txBody>
      </p:sp>
      <p:pic>
        <p:nvPicPr>
          <p:cNvPr id="7" name="Picture 6"/>
          <p:cNvPicPr>
            <a:picLocks noChangeAspect="1"/>
          </p:cNvPicPr>
          <p:nvPr/>
        </p:nvPicPr>
        <p:blipFill>
          <a:blip r:embed="rId3"/>
          <a:stretch>
            <a:fillRect/>
          </a:stretch>
        </p:blipFill>
        <p:spPr>
          <a:xfrm>
            <a:off x="2548890" y="4247196"/>
            <a:ext cx="4534445" cy="21274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 y="209006"/>
            <a:ext cx="8788037" cy="6348548"/>
          </a:xfrm>
        </p:spPr>
        <p:txBody>
          <a:bodyPr>
            <a:normAutofit/>
          </a:bodyPr>
          <a:lstStyle/>
          <a:p>
            <a:pPr marL="0" indent="0">
              <a:buNone/>
            </a:pPr>
            <a:r>
              <a:rPr lang="en-US" sz="2400" b="1" dirty="0"/>
              <a:t>3. </a:t>
            </a:r>
            <a:r>
              <a:rPr lang="en-US" sz="2000" b="1" dirty="0"/>
              <a:t>Parent: </a:t>
            </a:r>
            <a:r>
              <a:rPr lang="en-US" sz="2000" dirty="0"/>
              <a:t>In a tree data structure, the node which is a predecessor of any node is called as </a:t>
            </a:r>
            <a:r>
              <a:rPr lang="en-US" sz="2000" b="1" dirty="0"/>
              <a:t>PARENT NODE</a:t>
            </a:r>
            <a:r>
              <a:rPr lang="en-US" sz="2000" dirty="0"/>
              <a:t>. The node which has a branch from it to any other node is called a parent node. Parent node can also be defined as "</a:t>
            </a:r>
            <a:r>
              <a:rPr lang="en-US" sz="2000" b="1" dirty="0"/>
              <a:t>The node which has child / children</a:t>
            </a:r>
            <a:r>
              <a:rPr lang="en-US" sz="2000" dirty="0"/>
              <a: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b="1" dirty="0"/>
              <a:t>4. Child: </a:t>
            </a:r>
            <a:r>
              <a:rPr lang="en-US" sz="2000" dirty="0"/>
              <a:t>In a tree data structure, the node which is descendant of any node is called as </a:t>
            </a:r>
            <a:r>
              <a:rPr lang="en-US" sz="2000" b="1" dirty="0"/>
              <a:t>CHILD Node</a:t>
            </a:r>
            <a:r>
              <a:rPr lang="en-US" sz="2000" dirty="0"/>
              <a:t>. The node which has a link from its parent node is called as child node. In a tree, any parent node can have any number of child nodes. In a tree, all the nodes except root are child nodes.</a:t>
            </a:r>
          </a:p>
          <a:p>
            <a:pPr marL="0" indent="0">
              <a:buNone/>
            </a:pPr>
            <a:endParaRPr lang="en-US" sz="2000" dirty="0"/>
          </a:p>
          <a:p>
            <a:pPr marL="0" indent="0">
              <a:buNone/>
            </a:pPr>
            <a:endParaRPr lang="en-US" sz="2400" dirty="0"/>
          </a:p>
        </p:txBody>
      </p:sp>
      <p:pic>
        <p:nvPicPr>
          <p:cNvPr id="4" name="Picture 3"/>
          <p:cNvPicPr>
            <a:picLocks noChangeAspect="1"/>
          </p:cNvPicPr>
          <p:nvPr/>
        </p:nvPicPr>
        <p:blipFill>
          <a:blip r:embed="rId2"/>
          <a:stretch>
            <a:fillRect/>
          </a:stretch>
        </p:blipFill>
        <p:spPr>
          <a:xfrm>
            <a:off x="2450919" y="1273901"/>
            <a:ext cx="4242163" cy="2279197"/>
          </a:xfrm>
          <a:prstGeom prst="rect">
            <a:avLst/>
          </a:prstGeom>
        </p:spPr>
      </p:pic>
      <p:pic>
        <p:nvPicPr>
          <p:cNvPr id="5" name="Picture 4"/>
          <p:cNvPicPr>
            <a:picLocks noChangeAspect="1"/>
          </p:cNvPicPr>
          <p:nvPr/>
        </p:nvPicPr>
        <p:blipFill>
          <a:blip r:embed="rId3"/>
          <a:stretch>
            <a:fillRect/>
          </a:stretch>
        </p:blipFill>
        <p:spPr>
          <a:xfrm>
            <a:off x="2615838" y="4460082"/>
            <a:ext cx="4271554" cy="21889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363" y="117566"/>
            <a:ext cx="8739052" cy="6518365"/>
          </a:xfrm>
        </p:spPr>
        <p:txBody>
          <a:bodyPr>
            <a:normAutofit/>
          </a:bodyPr>
          <a:lstStyle/>
          <a:p>
            <a:pPr marL="0" indent="0">
              <a:buNone/>
            </a:pPr>
            <a:r>
              <a:rPr lang="en-US" sz="2000" b="1" dirty="0"/>
              <a:t>5. Siblings: </a:t>
            </a:r>
            <a:r>
              <a:rPr lang="en-US" sz="2000" dirty="0"/>
              <a:t>In a tree data structure, nodes which belong to same Parent are called as </a:t>
            </a:r>
            <a:r>
              <a:rPr lang="en-US" sz="2000" b="1" dirty="0"/>
              <a:t>SIBLINGS</a:t>
            </a:r>
            <a:r>
              <a:rPr lang="en-US" sz="2000" dirty="0"/>
              <a:t>. The nodes with the same parent are called Sibling nodes.</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b="1" dirty="0"/>
              <a:t>6. Leaf: </a:t>
            </a:r>
            <a:r>
              <a:rPr lang="en-US" sz="2000" dirty="0"/>
              <a:t>In a tree data structure, the node which does not have a child is called as </a:t>
            </a:r>
            <a:r>
              <a:rPr lang="en-US" sz="2000" b="1" dirty="0"/>
              <a:t>LEAF Node</a:t>
            </a:r>
            <a:r>
              <a:rPr lang="en-US" sz="2000" dirty="0"/>
              <a:t>. The leaf nodes are also called as </a:t>
            </a:r>
            <a:r>
              <a:rPr lang="en-US" sz="2000" b="1" dirty="0"/>
              <a:t>External Nodes or </a:t>
            </a:r>
            <a:r>
              <a:rPr lang="en-US" sz="2000" dirty="0"/>
              <a:t>'</a:t>
            </a:r>
            <a:r>
              <a:rPr lang="en-US" sz="2000" b="1" dirty="0"/>
              <a:t>Terminal</a:t>
            </a:r>
            <a:r>
              <a:rPr lang="en-US" sz="2000" dirty="0"/>
              <a:t>' node.</a:t>
            </a:r>
          </a:p>
          <a:p>
            <a:pPr marL="0" indent="0">
              <a:buNone/>
            </a:pPr>
            <a:endParaRPr lang="en-US" sz="2000" dirty="0"/>
          </a:p>
          <a:p>
            <a:pPr marL="0" indent="0">
              <a:buNone/>
            </a:pPr>
            <a:endParaRPr lang="en-US" dirty="0"/>
          </a:p>
        </p:txBody>
      </p:sp>
      <p:pic>
        <p:nvPicPr>
          <p:cNvPr id="4" name="Picture 3"/>
          <p:cNvPicPr>
            <a:picLocks noChangeAspect="1"/>
          </p:cNvPicPr>
          <p:nvPr/>
        </p:nvPicPr>
        <p:blipFill>
          <a:blip r:embed="rId2"/>
          <a:stretch>
            <a:fillRect/>
          </a:stretch>
        </p:blipFill>
        <p:spPr>
          <a:xfrm>
            <a:off x="2537461" y="763023"/>
            <a:ext cx="4777740" cy="2620259"/>
          </a:xfrm>
          <a:prstGeom prst="rect">
            <a:avLst/>
          </a:prstGeom>
        </p:spPr>
      </p:pic>
      <p:pic>
        <p:nvPicPr>
          <p:cNvPr id="5" name="Picture 4"/>
          <p:cNvPicPr>
            <a:picLocks noChangeAspect="1"/>
          </p:cNvPicPr>
          <p:nvPr/>
        </p:nvPicPr>
        <p:blipFill>
          <a:blip r:embed="rId3"/>
          <a:stretch>
            <a:fillRect/>
          </a:stretch>
        </p:blipFill>
        <p:spPr>
          <a:xfrm>
            <a:off x="2655026" y="3883887"/>
            <a:ext cx="4330338" cy="25561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754" y="326571"/>
            <a:ext cx="8562703" cy="6322423"/>
          </a:xfrm>
        </p:spPr>
        <p:txBody>
          <a:bodyPr/>
          <a:lstStyle/>
          <a:p>
            <a:pPr marL="0" indent="0">
              <a:buNone/>
            </a:pPr>
            <a:r>
              <a:rPr lang="en-US" sz="2000" b="1" dirty="0"/>
              <a:t>7. Internal Nodes: </a:t>
            </a:r>
            <a:r>
              <a:rPr lang="en-US" sz="2000" dirty="0"/>
              <a:t>In a tree data structure, the node which has </a:t>
            </a:r>
            <a:r>
              <a:rPr lang="en-US" sz="2000" dirty="0" err="1"/>
              <a:t>atleast</a:t>
            </a:r>
            <a:r>
              <a:rPr lang="en-US" sz="2000" dirty="0"/>
              <a:t> one child is called as </a:t>
            </a:r>
            <a:r>
              <a:rPr lang="en-US" sz="2000" b="1" dirty="0"/>
              <a:t>INTERNAL Node</a:t>
            </a:r>
            <a:r>
              <a:rPr lang="en-US" sz="2000" dirty="0"/>
              <a:t>. In a tree data structure, nodes other than leaf nodes are called as </a:t>
            </a:r>
            <a:r>
              <a:rPr lang="en-US" sz="2000" b="1" dirty="0"/>
              <a:t>Internal Nodes</a:t>
            </a:r>
            <a:r>
              <a:rPr lang="en-US" sz="2000" dirty="0"/>
              <a:t> </a:t>
            </a:r>
            <a:r>
              <a:rPr lang="en-US" sz="2000" b="1" dirty="0"/>
              <a:t>or</a:t>
            </a:r>
            <a:r>
              <a:rPr lang="en-US" sz="2000" dirty="0"/>
              <a:t> '</a:t>
            </a:r>
            <a:r>
              <a:rPr lang="en-US" sz="2000" b="1" dirty="0"/>
              <a:t>Non-Terminal</a:t>
            </a:r>
            <a:r>
              <a:rPr lang="en-US" sz="2000" dirty="0"/>
              <a:t>' nodes. </a:t>
            </a:r>
            <a:r>
              <a:rPr lang="en-US" sz="2000" b="1" dirty="0"/>
              <a:t> The root node is also said to be Internal Node</a:t>
            </a:r>
            <a:r>
              <a:rPr lang="en-US" sz="2000" dirty="0"/>
              <a:t> if the tree has more than one node.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b="1" dirty="0"/>
              <a:t>8. Degree: </a:t>
            </a:r>
            <a:r>
              <a:rPr lang="en-US" sz="2000" dirty="0"/>
              <a:t>In a tree data structure, the total number of children of a node is called as </a:t>
            </a:r>
            <a:r>
              <a:rPr lang="en-US" sz="2000" b="1" dirty="0"/>
              <a:t>DEGREE</a:t>
            </a:r>
            <a:r>
              <a:rPr lang="en-US" sz="2000" dirty="0"/>
              <a:t> of that Node. The highest degree of a node among all the nodes in a tree is called as '</a:t>
            </a:r>
            <a:r>
              <a:rPr lang="en-US" sz="2000" b="1" dirty="0"/>
              <a:t>Degree of Tree</a:t>
            </a:r>
            <a:r>
              <a:rPr lang="en-US" sz="2000" dirty="0"/>
              <a:t>'</a:t>
            </a:r>
          </a:p>
          <a:p>
            <a:pPr marL="0" indent="0">
              <a:buNone/>
            </a:pPr>
            <a:endParaRPr lang="en-US" sz="2000" dirty="0"/>
          </a:p>
          <a:p>
            <a:pPr marL="0" indent="0">
              <a:buNone/>
            </a:pPr>
            <a:endParaRPr lang="en-US" sz="2000" dirty="0"/>
          </a:p>
        </p:txBody>
      </p:sp>
      <p:pic>
        <p:nvPicPr>
          <p:cNvPr id="4" name="Picture 3"/>
          <p:cNvPicPr>
            <a:picLocks noChangeAspect="1"/>
          </p:cNvPicPr>
          <p:nvPr/>
        </p:nvPicPr>
        <p:blipFill>
          <a:blip r:embed="rId2"/>
          <a:stretch>
            <a:fillRect/>
          </a:stretch>
        </p:blipFill>
        <p:spPr>
          <a:xfrm>
            <a:off x="2341212" y="1219032"/>
            <a:ext cx="4663747" cy="2417785"/>
          </a:xfrm>
          <a:prstGeom prst="rect">
            <a:avLst/>
          </a:prstGeom>
        </p:spPr>
      </p:pic>
      <p:pic>
        <p:nvPicPr>
          <p:cNvPr id="5" name="Picture 4"/>
          <p:cNvPicPr>
            <a:picLocks noChangeAspect="1"/>
          </p:cNvPicPr>
          <p:nvPr/>
        </p:nvPicPr>
        <p:blipFill>
          <a:blip r:embed="rId3"/>
          <a:stretch>
            <a:fillRect/>
          </a:stretch>
        </p:blipFill>
        <p:spPr>
          <a:xfrm>
            <a:off x="4071934" y="4683126"/>
            <a:ext cx="5072066" cy="20416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3" y="91440"/>
            <a:ext cx="8837023" cy="6570618"/>
          </a:xfrm>
        </p:spPr>
        <p:txBody>
          <a:bodyPr>
            <a:noAutofit/>
          </a:bodyPr>
          <a:lstStyle/>
          <a:p>
            <a:pPr marL="0" indent="0" algn="just">
              <a:buNone/>
            </a:pPr>
            <a:r>
              <a:rPr lang="en-US" sz="2000" b="1" dirty="0"/>
              <a:t>9. Level: </a:t>
            </a:r>
            <a:r>
              <a:rPr lang="en-US" sz="2000" dirty="0"/>
              <a:t>In a tree data structure, the root node is said to be at Level 0 and the children of root node are at Level 1 and the children of the nodes which are at Level 1 will be at Level 2 and so on... In simple words, in a tree each step from top to bottom is called as a Level and the Level count starts with '0' and incremented by one at each level (Step).</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buNone/>
            </a:pPr>
            <a:r>
              <a:rPr lang="en-US" sz="2000" b="1" dirty="0"/>
              <a:t>10. Height: </a:t>
            </a:r>
            <a:r>
              <a:rPr lang="en-US" sz="2000" dirty="0"/>
              <a:t>In a tree data structure, the total number of edges from leaf node to a particular node in the longest path is called as </a:t>
            </a:r>
            <a:r>
              <a:rPr lang="en-US" sz="2000" b="1" dirty="0"/>
              <a:t>HEIGHT</a:t>
            </a:r>
            <a:r>
              <a:rPr lang="en-US" sz="2000" dirty="0"/>
              <a:t> of that Node. In a tree, height of the root node is said to be </a:t>
            </a:r>
            <a:r>
              <a:rPr lang="en-US" sz="2000" b="1" dirty="0"/>
              <a:t>height of the tree</a:t>
            </a:r>
            <a:r>
              <a:rPr lang="en-US" sz="2000" dirty="0"/>
              <a:t>. In a tree, </a:t>
            </a:r>
            <a:r>
              <a:rPr lang="en-US" sz="2000" b="1" dirty="0"/>
              <a:t>height of all leaf nodes is '0'.</a:t>
            </a:r>
            <a:endParaRPr lang="en-US" sz="2000" dirty="0"/>
          </a:p>
          <a:p>
            <a:pPr marL="0" indent="0" algn="just">
              <a:buNone/>
            </a:pPr>
            <a:endParaRPr lang="en-US" sz="2000" dirty="0"/>
          </a:p>
          <a:p>
            <a:pPr marL="0" indent="0">
              <a:buNone/>
            </a:pPr>
            <a:r>
              <a:rPr lang="en-US" sz="2000" dirty="0"/>
              <a:t/>
            </a:r>
            <a:br>
              <a:rPr lang="en-US" sz="2000" dirty="0"/>
            </a:br>
            <a:endParaRPr lang="en-US" sz="2000" dirty="0"/>
          </a:p>
        </p:txBody>
      </p:sp>
      <p:pic>
        <p:nvPicPr>
          <p:cNvPr id="4" name="Picture 3"/>
          <p:cNvPicPr>
            <a:picLocks noChangeAspect="1"/>
          </p:cNvPicPr>
          <p:nvPr/>
        </p:nvPicPr>
        <p:blipFill>
          <a:blip r:embed="rId2"/>
          <a:stretch>
            <a:fillRect/>
          </a:stretch>
        </p:blipFill>
        <p:spPr>
          <a:xfrm>
            <a:off x="3998868" y="1428736"/>
            <a:ext cx="4250327" cy="1904608"/>
          </a:xfrm>
          <a:prstGeom prst="rect">
            <a:avLst/>
          </a:prstGeom>
        </p:spPr>
      </p:pic>
      <p:pic>
        <p:nvPicPr>
          <p:cNvPr id="5" name="Picture 4"/>
          <p:cNvPicPr>
            <a:picLocks noChangeAspect="1"/>
          </p:cNvPicPr>
          <p:nvPr/>
        </p:nvPicPr>
        <p:blipFill>
          <a:blip r:embed="rId3"/>
          <a:stretch>
            <a:fillRect/>
          </a:stretch>
        </p:blipFill>
        <p:spPr>
          <a:xfrm>
            <a:off x="3857620" y="4714884"/>
            <a:ext cx="4670788" cy="20478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 y="339635"/>
            <a:ext cx="8788037" cy="5837329"/>
          </a:xfrm>
        </p:spPr>
        <p:txBody>
          <a:bodyPr>
            <a:normAutofit/>
          </a:bodyPr>
          <a:lstStyle/>
          <a:p>
            <a:pPr marL="0" indent="0" algn="just">
              <a:buNone/>
            </a:pPr>
            <a:r>
              <a:rPr lang="en-US" sz="2000" b="1" dirty="0"/>
              <a:t>11. Depth: </a:t>
            </a:r>
            <a:r>
              <a:rPr lang="en-US" sz="2000" dirty="0"/>
              <a:t>The total number of </a:t>
            </a:r>
            <a:r>
              <a:rPr lang="en-US" sz="2000" dirty="0" err="1"/>
              <a:t>egdes</a:t>
            </a:r>
            <a:r>
              <a:rPr lang="en-US" sz="2000" dirty="0"/>
              <a:t> from root node to a particular node is called as </a:t>
            </a:r>
            <a:r>
              <a:rPr lang="en-US" sz="2000" b="1" dirty="0"/>
              <a:t>DEPTH</a:t>
            </a:r>
            <a:r>
              <a:rPr lang="en-US" sz="2000" dirty="0"/>
              <a:t> of that Node. In a tree, the total number of edges from root node to a leaf node in the longest path is said to be </a:t>
            </a:r>
            <a:r>
              <a:rPr lang="en-US" sz="2000" b="1" dirty="0"/>
              <a:t>Depth of the tree</a:t>
            </a:r>
            <a:r>
              <a:rPr lang="en-US" sz="2000" dirty="0"/>
              <a:t>. In simple words, the highest depth of any leaf node in a tree is said to be depth of that tree. In a tree, </a:t>
            </a:r>
            <a:r>
              <a:rPr lang="en-US" sz="2000" b="1" dirty="0"/>
              <a:t>depth of the root node is '0'.</a:t>
            </a:r>
          </a:p>
          <a:p>
            <a:pPr marL="0" indent="0" algn="just">
              <a:buNone/>
            </a:pPr>
            <a:endParaRPr lang="en-US" sz="2000" b="1" dirty="0"/>
          </a:p>
          <a:p>
            <a:pPr marL="0" indent="0" algn="just">
              <a:buNone/>
            </a:pPr>
            <a:endParaRPr lang="en-US" sz="2000" b="1" dirty="0"/>
          </a:p>
          <a:p>
            <a:pPr marL="0" indent="0" algn="just">
              <a:buNone/>
            </a:pPr>
            <a:endParaRPr lang="en-US" sz="2000" b="1" dirty="0"/>
          </a:p>
          <a:p>
            <a:pPr marL="0" indent="0" algn="just">
              <a:buNone/>
            </a:pPr>
            <a:endParaRPr lang="en-US" sz="2000" b="1" dirty="0"/>
          </a:p>
          <a:p>
            <a:pPr marL="0" indent="0" algn="just">
              <a:buNone/>
            </a:pPr>
            <a:endParaRPr lang="en-US" sz="2000" b="1" dirty="0"/>
          </a:p>
          <a:p>
            <a:pPr marL="0" indent="0" algn="just">
              <a:buNone/>
            </a:pPr>
            <a:r>
              <a:rPr lang="en-US" sz="2000" b="1" dirty="0"/>
              <a:t>12. Path: </a:t>
            </a:r>
            <a:r>
              <a:rPr lang="en-US" sz="2000" dirty="0"/>
              <a:t>The sequence of Nodes and Edges from one node to another node is called as </a:t>
            </a:r>
            <a:r>
              <a:rPr lang="en-US" sz="2000" b="1" dirty="0"/>
              <a:t>PATH</a:t>
            </a:r>
            <a:r>
              <a:rPr lang="en-US" sz="2000" dirty="0"/>
              <a:t> between that two Nodes. </a:t>
            </a:r>
            <a:r>
              <a:rPr lang="en-US" sz="2000" b="1" dirty="0"/>
              <a:t>Length of a Path</a:t>
            </a:r>
            <a:r>
              <a:rPr lang="en-US" sz="2000" dirty="0"/>
              <a:t> is total number of nodes in that path. </a:t>
            </a:r>
          </a:p>
          <a:p>
            <a:pPr marL="0" indent="0" algn="just">
              <a:buNone/>
            </a:pPr>
            <a:r>
              <a:rPr lang="en-US" sz="2000" dirty="0"/>
              <a:t>In below example </a:t>
            </a:r>
            <a:r>
              <a:rPr lang="en-US" sz="2000" b="1" dirty="0"/>
              <a:t>the path A - B - E - J has length 4</a:t>
            </a:r>
            <a:r>
              <a:rPr lang="en-US" sz="2000" dirty="0"/>
              <a:t>.</a:t>
            </a:r>
          </a:p>
          <a:p>
            <a:pPr marL="0" indent="0" algn="just">
              <a:buNone/>
            </a:pPr>
            <a:endParaRPr lang="en-US" sz="2000" dirty="0"/>
          </a:p>
          <a:p>
            <a:pPr marL="0" indent="0">
              <a:buNone/>
            </a:pPr>
            <a:endParaRPr lang="en-US" sz="2000" dirty="0"/>
          </a:p>
        </p:txBody>
      </p:sp>
      <p:pic>
        <p:nvPicPr>
          <p:cNvPr id="4" name="Picture 3"/>
          <p:cNvPicPr>
            <a:picLocks noChangeAspect="1"/>
          </p:cNvPicPr>
          <p:nvPr/>
        </p:nvPicPr>
        <p:blipFill>
          <a:blip r:embed="rId2"/>
          <a:stretch>
            <a:fillRect/>
          </a:stretch>
        </p:blipFill>
        <p:spPr>
          <a:xfrm>
            <a:off x="3643306" y="1857364"/>
            <a:ext cx="5349036" cy="2042021"/>
          </a:xfrm>
          <a:prstGeom prst="rect">
            <a:avLst/>
          </a:prstGeom>
        </p:spPr>
      </p:pic>
      <p:pic>
        <p:nvPicPr>
          <p:cNvPr id="5" name="Picture 4"/>
          <p:cNvPicPr>
            <a:picLocks noChangeAspect="1"/>
          </p:cNvPicPr>
          <p:nvPr/>
        </p:nvPicPr>
        <p:blipFill>
          <a:blip r:embed="rId3"/>
          <a:stretch>
            <a:fillRect/>
          </a:stretch>
        </p:blipFill>
        <p:spPr>
          <a:xfrm>
            <a:off x="4291150" y="5214950"/>
            <a:ext cx="4702628" cy="14079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418011"/>
            <a:ext cx="7886700" cy="5758952"/>
          </a:xfrm>
        </p:spPr>
        <p:txBody>
          <a:bodyPr>
            <a:normAutofit/>
          </a:bodyPr>
          <a:lstStyle/>
          <a:p>
            <a:pPr marL="0" indent="0" algn="just">
              <a:buNone/>
            </a:pPr>
            <a:r>
              <a:rPr lang="en-US" sz="2000" b="1" dirty="0"/>
              <a:t>13. Sub Tree: </a:t>
            </a:r>
            <a:r>
              <a:rPr lang="en-US" sz="2000" dirty="0"/>
              <a:t>Each child from a node forms a subtree recursively. Every child node will form a subtree on its parent node.</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r>
              <a:rPr lang="en-US" sz="2000" b="1" dirty="0"/>
              <a:t>14. An ancestor node </a:t>
            </a:r>
            <a:r>
              <a:rPr lang="en-US" sz="2000" dirty="0"/>
              <a:t>of a node is </a:t>
            </a:r>
            <a:r>
              <a:rPr lang="en-US" sz="2000" b="1" dirty="0"/>
              <a:t>either the parent of the node or the parent of some ancestor of the node</a:t>
            </a:r>
            <a:r>
              <a:rPr lang="en-US" sz="2000" dirty="0"/>
              <a:t>. </a:t>
            </a:r>
          </a:p>
          <a:p>
            <a:pPr marL="0" indent="0" algn="just">
              <a:buNone/>
            </a:pPr>
            <a:r>
              <a:rPr lang="en-US" sz="2000" b="1" dirty="0"/>
              <a:t>15</a:t>
            </a:r>
            <a:r>
              <a:rPr lang="en-US" sz="2000" dirty="0"/>
              <a:t>. </a:t>
            </a:r>
            <a:r>
              <a:rPr lang="en-US" sz="2000" b="1" dirty="0"/>
              <a:t>A descendant of a node </a:t>
            </a:r>
            <a:r>
              <a:rPr lang="en-US" sz="2000" dirty="0"/>
              <a:t>is either a child of the node or a child of some descendant of the node. </a:t>
            </a:r>
          </a:p>
          <a:p>
            <a:pPr marL="0" indent="0">
              <a:buNone/>
            </a:pPr>
            <a:r>
              <a:rPr lang="en-US" sz="2000" b="1" dirty="0"/>
              <a:t>16. </a:t>
            </a:r>
            <a:r>
              <a:rPr lang="en-US" sz="2000" i="1" dirty="0"/>
              <a:t>The neighbors of given node are called </a:t>
            </a:r>
            <a:r>
              <a:rPr lang="en-US" sz="2000" b="1" i="1" dirty="0"/>
              <a:t>Predecessor</a:t>
            </a:r>
            <a:r>
              <a:rPr lang="en-US" sz="2000" i="1" dirty="0"/>
              <a:t>(the node lies behind of given node) and </a:t>
            </a:r>
            <a:r>
              <a:rPr lang="en-US" sz="2000" b="1" i="1" dirty="0"/>
              <a:t>Successor</a:t>
            </a:r>
            <a:r>
              <a:rPr lang="en-US" sz="2000" i="1" dirty="0"/>
              <a:t> (the node lies ahead of given node).</a:t>
            </a:r>
            <a:endParaRPr lang="en-US" sz="2000" dirty="0"/>
          </a:p>
          <a:p>
            <a:pPr marL="0" indent="0" algn="just">
              <a:buNone/>
            </a:pPr>
            <a:endParaRPr lang="en-US" sz="2000" dirty="0"/>
          </a:p>
        </p:txBody>
      </p:sp>
      <p:pic>
        <p:nvPicPr>
          <p:cNvPr id="4" name="Picture 3"/>
          <p:cNvPicPr>
            <a:picLocks noChangeAspect="1"/>
          </p:cNvPicPr>
          <p:nvPr/>
        </p:nvPicPr>
        <p:blipFill>
          <a:blip r:embed="rId2"/>
          <a:stretch>
            <a:fillRect/>
          </a:stretch>
        </p:blipFill>
        <p:spPr>
          <a:xfrm>
            <a:off x="2199969" y="1107485"/>
            <a:ext cx="4744062" cy="26546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582594"/>
          </a:xfrm>
        </p:spPr>
        <p:txBody>
          <a:bodyPr>
            <a:normAutofit fontScale="90000"/>
          </a:bodyPr>
          <a:lstStyle/>
          <a:p>
            <a:r>
              <a:rPr lang="en-IN" dirty="0"/>
              <a:t>Types of tree</a:t>
            </a:r>
            <a:endParaRPr lang="en-US" dirty="0"/>
          </a:p>
        </p:txBody>
      </p:sp>
      <p:sp>
        <p:nvSpPr>
          <p:cNvPr id="3" name="Content Placeholder 2"/>
          <p:cNvSpPr>
            <a:spLocks noGrp="1"/>
          </p:cNvSpPr>
          <p:nvPr>
            <p:ph idx="1"/>
          </p:nvPr>
        </p:nvSpPr>
        <p:spPr>
          <a:xfrm>
            <a:off x="457200" y="785794"/>
            <a:ext cx="8229600" cy="5340369"/>
          </a:xfrm>
        </p:spPr>
        <p:txBody>
          <a:bodyPr>
            <a:noAutofit/>
          </a:bodyPr>
          <a:lstStyle/>
          <a:p>
            <a:pPr>
              <a:buNone/>
            </a:pPr>
            <a:r>
              <a:rPr lang="en-US" sz="1600" b="1" dirty="0"/>
              <a:t>1. General Tree</a:t>
            </a:r>
          </a:p>
          <a:p>
            <a:r>
              <a:rPr lang="en-US" sz="1600" dirty="0"/>
              <a:t>A tree where each node can have </a:t>
            </a:r>
            <a:r>
              <a:rPr lang="en-US" sz="1600" b="1" dirty="0"/>
              <a:t>any number of children</a:t>
            </a:r>
            <a:r>
              <a:rPr lang="en-US" sz="1600" dirty="0"/>
              <a:t>.</a:t>
            </a:r>
          </a:p>
          <a:p>
            <a:r>
              <a:rPr lang="en-US" sz="1600" dirty="0"/>
              <a:t>Most flexible but complex to manage.</a:t>
            </a:r>
          </a:p>
          <a:p>
            <a:r>
              <a:rPr lang="en-US" sz="1600" dirty="0"/>
              <a:t>Used in </a:t>
            </a:r>
            <a:r>
              <a:rPr lang="en-US" sz="1600" b="1" dirty="0"/>
              <a:t>file systems</a:t>
            </a:r>
            <a:r>
              <a:rPr lang="en-US" sz="1600" dirty="0"/>
              <a:t>, </a:t>
            </a:r>
            <a:r>
              <a:rPr lang="en-US" sz="1600" b="1" dirty="0"/>
              <a:t>hierarchical databases</a:t>
            </a:r>
            <a:r>
              <a:rPr lang="en-US" sz="1600" dirty="0"/>
              <a:t>.</a:t>
            </a:r>
          </a:p>
          <a:p>
            <a:pPr>
              <a:buNone/>
            </a:pPr>
            <a:r>
              <a:rPr lang="en-US" sz="1600" b="1" dirty="0"/>
              <a:t>2. Binary Tree</a:t>
            </a:r>
          </a:p>
          <a:p>
            <a:r>
              <a:rPr lang="en-US" sz="1600" dirty="0"/>
              <a:t>Each node has </a:t>
            </a:r>
            <a:r>
              <a:rPr lang="en-US" sz="1600" b="1" dirty="0"/>
              <a:t>at most two children</a:t>
            </a:r>
            <a:r>
              <a:rPr lang="en-US" sz="1600" dirty="0"/>
              <a:t>: left and right.</a:t>
            </a:r>
          </a:p>
          <a:p>
            <a:r>
              <a:rPr lang="en-US" sz="1600" dirty="0"/>
              <a:t>Basis for many advanced trees.</a:t>
            </a:r>
          </a:p>
          <a:p>
            <a:r>
              <a:rPr lang="en-US" sz="1600" b="1" dirty="0"/>
              <a:t>Subtypes:</a:t>
            </a:r>
          </a:p>
          <a:p>
            <a:r>
              <a:rPr lang="en-US" sz="1600" b="1" dirty="0"/>
              <a:t>a. Full Binary Tree</a:t>
            </a:r>
          </a:p>
          <a:p>
            <a:r>
              <a:rPr lang="en-US" sz="1600" dirty="0"/>
              <a:t>Every node has </a:t>
            </a:r>
            <a:r>
              <a:rPr lang="en-US" sz="1600" b="1" dirty="0"/>
              <a:t>0 or 2 children</a:t>
            </a:r>
            <a:r>
              <a:rPr lang="en-US" sz="1600" dirty="0"/>
              <a:t>.</a:t>
            </a:r>
          </a:p>
          <a:p>
            <a:r>
              <a:rPr lang="en-US" sz="1600" dirty="0"/>
              <a:t>No node has only one child.</a:t>
            </a:r>
          </a:p>
          <a:p>
            <a:r>
              <a:rPr lang="en-US" sz="1600" b="1" dirty="0"/>
              <a:t>b. Perfect Binary Tree</a:t>
            </a:r>
          </a:p>
          <a:p>
            <a:r>
              <a:rPr lang="en-US" sz="1600" dirty="0"/>
              <a:t>All internal nodes have 2 children.</a:t>
            </a:r>
          </a:p>
          <a:p>
            <a:r>
              <a:rPr lang="en-US" sz="1600" dirty="0"/>
              <a:t>All leaves are at the </a:t>
            </a:r>
            <a:r>
              <a:rPr lang="en-US" sz="1600" b="1" dirty="0"/>
              <a:t>same level</a:t>
            </a:r>
            <a:r>
              <a:rPr lang="en-US" sz="1600" dirty="0"/>
              <a:t>.</a:t>
            </a:r>
          </a:p>
          <a:p>
            <a:r>
              <a:rPr lang="en-US" sz="1600" b="1" dirty="0"/>
              <a:t>c. Complete Binary Tree</a:t>
            </a:r>
          </a:p>
          <a:p>
            <a:r>
              <a:rPr lang="en-US" sz="1600" dirty="0"/>
              <a:t>All levels are completely filled </a:t>
            </a:r>
            <a:r>
              <a:rPr lang="en-US" sz="1600" b="1" dirty="0"/>
              <a:t>except possibly the last</a:t>
            </a:r>
            <a:r>
              <a:rPr lang="en-US" sz="1600" dirty="0"/>
              <a:t>, which is filled </a:t>
            </a:r>
            <a:r>
              <a:rPr lang="en-US" sz="1600" b="1" dirty="0"/>
              <a:t>from left to right</a:t>
            </a:r>
            <a:r>
              <a:rPr lang="en-US" sz="1600" dirty="0"/>
              <a:t>.</a:t>
            </a:r>
          </a:p>
          <a:p>
            <a:r>
              <a:rPr lang="en-US" sz="1600" b="1" dirty="0"/>
              <a:t>d. Skewed Binary Tree</a:t>
            </a:r>
          </a:p>
          <a:p>
            <a:r>
              <a:rPr lang="en-US" sz="1600" dirty="0"/>
              <a:t>A tree where all nodes have only one child.</a:t>
            </a:r>
          </a:p>
          <a:p>
            <a:pPr lvl="1"/>
            <a:r>
              <a:rPr lang="en-US" sz="1600" b="1" dirty="0"/>
              <a:t>Left-skewed</a:t>
            </a:r>
            <a:r>
              <a:rPr lang="en-US" sz="1600" dirty="0"/>
              <a:t>: all children are to the left.</a:t>
            </a:r>
          </a:p>
          <a:p>
            <a:pPr lvl="1"/>
            <a:r>
              <a:rPr lang="en-US" sz="1600" b="1" dirty="0"/>
              <a:t>Right-skewed</a:t>
            </a:r>
            <a:r>
              <a:rPr lang="en-US" sz="1600" dirty="0"/>
              <a:t>: all children are to the right.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IN" dirty="0"/>
              <a:t>Types of tree</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a:t>3. Binary Search Tree (BST)</a:t>
            </a:r>
          </a:p>
          <a:p>
            <a:r>
              <a:rPr lang="en-US" dirty="0"/>
              <a:t>A binary tree where:</a:t>
            </a:r>
          </a:p>
          <a:p>
            <a:pPr lvl="1"/>
            <a:r>
              <a:rPr lang="en-US" dirty="0"/>
              <a:t>Left child &lt; Root</a:t>
            </a:r>
          </a:p>
          <a:p>
            <a:pPr lvl="1"/>
            <a:r>
              <a:rPr lang="en-US" dirty="0"/>
              <a:t>Right child &gt; Root</a:t>
            </a:r>
          </a:p>
          <a:p>
            <a:r>
              <a:rPr lang="en-US" dirty="0"/>
              <a:t>Great for </a:t>
            </a:r>
            <a:r>
              <a:rPr lang="en-US" b="1" dirty="0"/>
              <a:t>searching</a:t>
            </a:r>
            <a:r>
              <a:rPr lang="en-US" dirty="0"/>
              <a:t>, </a:t>
            </a:r>
            <a:r>
              <a:rPr lang="en-US" b="1" dirty="0"/>
              <a:t>inserting</a:t>
            </a:r>
            <a:r>
              <a:rPr lang="en-US" dirty="0"/>
              <a:t>, and </a:t>
            </a:r>
            <a:r>
              <a:rPr lang="en-US" b="1" dirty="0"/>
              <a:t>deleting</a:t>
            </a:r>
            <a:r>
              <a:rPr lang="en-US" dirty="0"/>
              <a:t> in O(log n) time (if balanced).</a:t>
            </a:r>
          </a:p>
          <a:p>
            <a:pPr>
              <a:buNone/>
            </a:pPr>
            <a:r>
              <a:rPr lang="en-US" b="1" dirty="0"/>
              <a:t>4. AVL Tree</a:t>
            </a:r>
          </a:p>
          <a:p>
            <a:r>
              <a:rPr lang="en-US" dirty="0"/>
              <a:t>A self-balancing binary search tree.</a:t>
            </a:r>
          </a:p>
          <a:p>
            <a:r>
              <a:rPr lang="en-US" dirty="0"/>
              <a:t>For every node, the </a:t>
            </a:r>
            <a:r>
              <a:rPr lang="en-US" b="1" dirty="0"/>
              <a:t>height difference</a:t>
            </a:r>
            <a:r>
              <a:rPr lang="en-US" dirty="0"/>
              <a:t> (balance factor) between left and right </a:t>
            </a:r>
            <a:r>
              <a:rPr lang="en-US" dirty="0" err="1"/>
              <a:t>subtree</a:t>
            </a:r>
            <a:r>
              <a:rPr lang="en-US" dirty="0"/>
              <a:t> is at most 1.</a:t>
            </a:r>
          </a:p>
          <a:p>
            <a:r>
              <a:rPr lang="en-US" dirty="0"/>
              <a:t>Ensures better performance than unbalanced BST.</a:t>
            </a:r>
          </a:p>
          <a:p>
            <a:pPr>
              <a:buNone/>
            </a:pPr>
            <a:r>
              <a:rPr lang="en-US" b="1" dirty="0"/>
              <a:t>5. Red-Black Tree</a:t>
            </a:r>
          </a:p>
          <a:p>
            <a:r>
              <a:rPr lang="en-US" dirty="0"/>
              <a:t>A self-balancing BST where each node has a </a:t>
            </a:r>
            <a:r>
              <a:rPr lang="en-US" b="1" dirty="0"/>
              <a:t>color</a:t>
            </a:r>
            <a:r>
              <a:rPr lang="en-US" dirty="0"/>
              <a:t> (red or black).</a:t>
            </a:r>
          </a:p>
          <a:p>
            <a:r>
              <a:rPr lang="en-US" dirty="0"/>
              <a:t>Ensures balanced height for reliable performance.</a:t>
            </a:r>
          </a:p>
          <a:p>
            <a:r>
              <a:rPr lang="en-US" dirty="0"/>
              <a:t>Used in STL (Standard Template Library) in C++ (e.g., map, set).</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tree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a:t>6. B-Tree</a:t>
            </a:r>
          </a:p>
          <a:p>
            <a:r>
              <a:rPr lang="en-US" dirty="0"/>
              <a:t>A </a:t>
            </a:r>
            <a:r>
              <a:rPr lang="en-US" b="1" dirty="0"/>
              <a:t>self-balancing</a:t>
            </a:r>
            <a:r>
              <a:rPr lang="en-US" dirty="0"/>
              <a:t> tree used in </a:t>
            </a:r>
            <a:r>
              <a:rPr lang="en-US" b="1" dirty="0"/>
              <a:t>databases and file systems</a:t>
            </a:r>
            <a:r>
              <a:rPr lang="en-US" dirty="0"/>
              <a:t>.</a:t>
            </a:r>
          </a:p>
          <a:p>
            <a:r>
              <a:rPr lang="en-US" dirty="0"/>
              <a:t>Designed for systems that read/write large blocks of data.</a:t>
            </a:r>
          </a:p>
          <a:p>
            <a:r>
              <a:rPr lang="en-US" dirty="0"/>
              <a:t>Each node can have more than two children.</a:t>
            </a:r>
          </a:p>
          <a:p>
            <a:pPr>
              <a:buNone/>
            </a:pPr>
            <a:r>
              <a:rPr lang="en-US" b="1" dirty="0"/>
              <a:t>7. B+ Tree</a:t>
            </a:r>
          </a:p>
          <a:p>
            <a:r>
              <a:rPr lang="en-US" dirty="0"/>
              <a:t>Extension of B-Tree.</a:t>
            </a:r>
          </a:p>
          <a:p>
            <a:r>
              <a:rPr lang="en-US" dirty="0"/>
              <a:t>Used in </a:t>
            </a:r>
            <a:r>
              <a:rPr lang="en-US" b="1" dirty="0"/>
              <a:t>database indexing</a:t>
            </a:r>
            <a:r>
              <a:rPr lang="en-US" dirty="0"/>
              <a:t>.</a:t>
            </a:r>
          </a:p>
          <a:p>
            <a:r>
              <a:rPr lang="en-US" dirty="0"/>
              <a:t>All data is stored in </a:t>
            </a:r>
            <a:r>
              <a:rPr lang="en-US" b="1" dirty="0"/>
              <a:t>leaf nodes</a:t>
            </a:r>
            <a:r>
              <a:rPr lang="en-US" dirty="0"/>
              <a:t>, internal nodes only act as guides.</a:t>
            </a:r>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tree</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a:t>8. Heap Tree</a:t>
            </a:r>
          </a:p>
          <a:p>
            <a:r>
              <a:rPr lang="en-US" dirty="0"/>
              <a:t>A complete binary tree used for </a:t>
            </a:r>
            <a:r>
              <a:rPr lang="en-US" b="1" dirty="0"/>
              <a:t>priority queues</a:t>
            </a:r>
            <a:r>
              <a:rPr lang="en-US" dirty="0"/>
              <a:t>.</a:t>
            </a:r>
          </a:p>
          <a:p>
            <a:r>
              <a:rPr lang="en-US" b="1" dirty="0"/>
              <a:t>Types:</a:t>
            </a:r>
          </a:p>
          <a:p>
            <a:r>
              <a:rPr lang="en-US" b="1" dirty="0"/>
              <a:t>Max Heap</a:t>
            </a:r>
            <a:r>
              <a:rPr lang="en-US" dirty="0"/>
              <a:t>: parent ≥ children</a:t>
            </a:r>
          </a:p>
          <a:p>
            <a:r>
              <a:rPr lang="en-US" b="1" dirty="0"/>
              <a:t>Min Heap</a:t>
            </a:r>
            <a:r>
              <a:rPr lang="en-US" dirty="0"/>
              <a:t>: parent ≤ children</a:t>
            </a:r>
          </a:p>
          <a:p>
            <a:pPr>
              <a:buNone/>
            </a:pPr>
            <a:r>
              <a:rPr lang="en-US" b="1" dirty="0"/>
              <a:t>9. </a:t>
            </a:r>
            <a:r>
              <a:rPr lang="en-US" b="1" dirty="0" err="1"/>
              <a:t>Trie</a:t>
            </a:r>
            <a:r>
              <a:rPr lang="en-US" b="1" dirty="0"/>
              <a:t> (Prefix Tree)</a:t>
            </a:r>
          </a:p>
          <a:p>
            <a:r>
              <a:rPr lang="en-US" dirty="0"/>
              <a:t>A special tree used to store </a:t>
            </a:r>
            <a:r>
              <a:rPr lang="en-US" b="1" dirty="0"/>
              <a:t>strings</a:t>
            </a:r>
            <a:r>
              <a:rPr lang="en-US" dirty="0"/>
              <a:t>.</a:t>
            </a:r>
          </a:p>
          <a:p>
            <a:r>
              <a:rPr lang="en-US" dirty="0"/>
              <a:t>Each path from root to leaf represents a word.</a:t>
            </a:r>
          </a:p>
          <a:p>
            <a:r>
              <a:rPr lang="en-US" dirty="0"/>
              <a:t>Efficient for </a:t>
            </a:r>
            <a:r>
              <a:rPr lang="en-US" dirty="0" err="1"/>
              <a:t>autocomplete</a:t>
            </a:r>
            <a:r>
              <a:rPr lang="en-US" dirty="0"/>
              <a:t> and spell checking.</a:t>
            </a:r>
          </a:p>
          <a:p>
            <a:pPr>
              <a:buNone/>
            </a:pPr>
            <a:r>
              <a:rPr lang="en-US" b="1" dirty="0"/>
              <a:t>10. Segment Tree</a:t>
            </a:r>
          </a:p>
          <a:p>
            <a:r>
              <a:rPr lang="en-US" dirty="0"/>
              <a:t>Used for </a:t>
            </a:r>
            <a:r>
              <a:rPr lang="en-US" b="1" dirty="0"/>
              <a:t>range queries and updates</a:t>
            </a:r>
            <a:r>
              <a:rPr lang="en-US" dirty="0"/>
              <a:t> (like sum, min, max in a range).</a:t>
            </a:r>
          </a:p>
          <a:p>
            <a:r>
              <a:rPr lang="en-US" dirty="0"/>
              <a:t>Common in </a:t>
            </a:r>
            <a:r>
              <a:rPr lang="en-US" b="1" dirty="0"/>
              <a:t>competitive programming</a:t>
            </a:r>
            <a:r>
              <a:rPr lang="en-US" dirty="0"/>
              <a:t>.</a:t>
            </a:r>
          </a:p>
          <a:p>
            <a:pPr>
              <a:buNone/>
            </a:pPr>
            <a:r>
              <a:rPr lang="en-US" b="1" dirty="0"/>
              <a:t>11. Fenwick Tree (Binary Indexed Tree)</a:t>
            </a:r>
          </a:p>
          <a:p>
            <a:r>
              <a:rPr lang="en-US" dirty="0"/>
              <a:t>Also used for </a:t>
            </a:r>
            <a:r>
              <a:rPr lang="en-US" b="1" dirty="0"/>
              <a:t>range queries and updates</a:t>
            </a:r>
            <a:r>
              <a:rPr lang="en-US" dirty="0"/>
              <a:t>.</a:t>
            </a:r>
          </a:p>
          <a:p>
            <a:r>
              <a:rPr lang="en-US" dirty="0"/>
              <a:t>More space-efficient and easier to implement than a segment tree (for some cases).</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3057"/>
            <a:ext cx="7886700" cy="627651"/>
          </a:xfrm>
        </p:spPr>
        <p:txBody>
          <a:bodyPr>
            <a:normAutofit fontScale="90000"/>
          </a:bodyPr>
          <a:lstStyle/>
          <a:p>
            <a:pPr algn="ctr"/>
            <a:r>
              <a:rPr lang="en-US" b="1" dirty="0"/>
              <a:t>Binary tree</a:t>
            </a:r>
          </a:p>
        </p:txBody>
      </p:sp>
      <p:sp>
        <p:nvSpPr>
          <p:cNvPr id="3" name="Content Placeholder 2"/>
          <p:cNvSpPr>
            <a:spLocks noGrp="1"/>
          </p:cNvSpPr>
          <p:nvPr>
            <p:ph idx="1"/>
          </p:nvPr>
        </p:nvSpPr>
        <p:spPr>
          <a:xfrm>
            <a:off x="628650" y="770709"/>
            <a:ext cx="7886700" cy="5406255"/>
          </a:xfrm>
        </p:spPr>
        <p:txBody>
          <a:bodyPr>
            <a:normAutofit/>
          </a:bodyPr>
          <a:lstStyle/>
          <a:p>
            <a:pPr algn="just"/>
            <a:r>
              <a:rPr lang="en-US" sz="2000" dirty="0"/>
              <a:t>A binary tree is a data structure in which every node or vertex has at most two children.  </a:t>
            </a:r>
          </a:p>
          <a:p>
            <a:pPr algn="just"/>
            <a:r>
              <a:rPr lang="en-US" sz="2000" dirty="0"/>
              <a:t>A binary tree is a tree data structure in which each node can have a maximum of 2 children.  </a:t>
            </a:r>
          </a:p>
          <a:p>
            <a:pPr algn="just"/>
            <a:r>
              <a:rPr lang="en-US" sz="2000" dirty="0"/>
              <a:t>Each node in a binary tree can have either one, or two or no children. </a:t>
            </a:r>
          </a:p>
          <a:p>
            <a:pPr algn="just"/>
            <a:r>
              <a:rPr lang="en-US" sz="2000" dirty="0"/>
              <a:t>Each node in a binary tree contains data and references to its children. </a:t>
            </a:r>
          </a:p>
          <a:p>
            <a:pPr algn="just"/>
            <a:r>
              <a:rPr lang="en-US" sz="2000" dirty="0"/>
              <a:t>Both the children are named as left child and the right child according to their position. </a:t>
            </a:r>
          </a:p>
          <a:p>
            <a:pPr algn="just"/>
            <a:r>
              <a:rPr lang="en-US" sz="2000" dirty="0"/>
              <a:t>Each node of a binary tree consists of three items: data item, address of left child, address of right child</a:t>
            </a:r>
          </a:p>
          <a:p>
            <a:pPr marL="0" indent="0" algn="just">
              <a:buNone/>
            </a:pP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2571736" y="4276725"/>
            <a:ext cx="4107656" cy="25812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692966"/>
          </a:xfrm>
        </p:spPr>
        <p:txBody>
          <a:bodyPr>
            <a:normAutofit fontScale="90000"/>
          </a:bodyPr>
          <a:lstStyle/>
          <a:p>
            <a:pPr algn="ctr"/>
            <a:r>
              <a:rPr lang="en-US" b="1" dirty="0"/>
              <a:t>Types of Binary tree</a:t>
            </a:r>
          </a:p>
        </p:txBody>
      </p:sp>
      <p:sp>
        <p:nvSpPr>
          <p:cNvPr id="3" name="Content Placeholder 2"/>
          <p:cNvSpPr>
            <a:spLocks noGrp="1"/>
          </p:cNvSpPr>
          <p:nvPr>
            <p:ph idx="1"/>
          </p:nvPr>
        </p:nvSpPr>
        <p:spPr>
          <a:xfrm>
            <a:off x="186145" y="692967"/>
            <a:ext cx="8758646" cy="5693003"/>
          </a:xfrm>
        </p:spPr>
        <p:txBody>
          <a:bodyPr>
            <a:normAutofit/>
          </a:bodyPr>
          <a:lstStyle/>
          <a:p>
            <a:pPr marL="0" indent="0" algn="just">
              <a:buNone/>
            </a:pPr>
            <a:r>
              <a:rPr lang="en-US" sz="2000" b="1" dirty="0"/>
              <a:t>Full Binary Tree: </a:t>
            </a:r>
            <a:r>
              <a:rPr lang="en-US" sz="2000" dirty="0"/>
              <a:t>A full Binary tree is a special type of binary tree in which every parent node/internal node has either two or no children.</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buNone/>
            </a:pPr>
            <a:r>
              <a:rPr lang="en-US" sz="2000" b="1" dirty="0"/>
              <a:t>Perfect Binary Tree: </a:t>
            </a:r>
            <a:r>
              <a:rPr lang="en-US" sz="2000" dirty="0"/>
              <a:t>A perfect binary tree is a type of binary tree in which every internal node has exactly two child nodes and all the leaf nodes are at the same level</a:t>
            </a:r>
            <a:r>
              <a:rPr lang="en-US" dirty="0"/>
              <a:t>.</a:t>
            </a:r>
            <a:r>
              <a:rPr lang="en-US" sz="2000" dirty="0"/>
              <a:t/>
            </a:r>
            <a:br>
              <a:rPr lang="en-US" sz="2000" dirty="0"/>
            </a:br>
            <a:r>
              <a:rPr lang="en-US" sz="2000" dirty="0"/>
              <a:t/>
            </a:r>
            <a:br>
              <a:rPr lang="en-US" sz="2000" dirty="0"/>
            </a:br>
            <a:endParaRPr lang="en-US" sz="2000" dirty="0"/>
          </a:p>
        </p:txBody>
      </p:sp>
      <p:pic>
        <p:nvPicPr>
          <p:cNvPr id="5" name="Picture 4"/>
          <p:cNvPicPr>
            <a:picLocks noChangeAspect="1"/>
          </p:cNvPicPr>
          <p:nvPr/>
        </p:nvPicPr>
        <p:blipFill>
          <a:blip r:embed="rId2"/>
          <a:stretch>
            <a:fillRect/>
          </a:stretch>
        </p:blipFill>
        <p:spPr>
          <a:xfrm>
            <a:off x="3786182" y="1428736"/>
            <a:ext cx="2336006" cy="1894385"/>
          </a:xfrm>
          <a:prstGeom prst="rect">
            <a:avLst/>
          </a:prstGeom>
        </p:spPr>
      </p:pic>
      <p:pic>
        <p:nvPicPr>
          <p:cNvPr id="6" name="Picture 5"/>
          <p:cNvPicPr>
            <a:picLocks noChangeAspect="1"/>
          </p:cNvPicPr>
          <p:nvPr/>
        </p:nvPicPr>
        <p:blipFill>
          <a:blip r:embed="rId3"/>
          <a:stretch>
            <a:fillRect/>
          </a:stretch>
        </p:blipFill>
        <p:spPr>
          <a:xfrm>
            <a:off x="2603284" y="4004038"/>
            <a:ext cx="2350294" cy="25336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755" y="156754"/>
            <a:ext cx="8768443" cy="6400800"/>
          </a:xfrm>
        </p:spPr>
        <p:txBody>
          <a:bodyPr>
            <a:normAutofit/>
          </a:bodyPr>
          <a:lstStyle/>
          <a:p>
            <a:pPr marL="0" indent="0">
              <a:buNone/>
            </a:pPr>
            <a:r>
              <a:rPr lang="en-US" sz="2000" b="1" dirty="0"/>
              <a:t>Complete Binary Tree:</a:t>
            </a:r>
            <a:r>
              <a:rPr lang="en-US" sz="2000" dirty="0"/>
              <a:t> A complete binary tree is just like a full binary tree, but with two major differences</a:t>
            </a:r>
          </a:p>
          <a:p>
            <a:r>
              <a:rPr lang="en-US" sz="2000" dirty="0"/>
              <a:t>Every level must be completely filled</a:t>
            </a:r>
          </a:p>
          <a:p>
            <a:r>
              <a:rPr lang="en-US" sz="2000" dirty="0"/>
              <a:t>All the leaf elements must lean towards the left.</a:t>
            </a:r>
          </a:p>
          <a:p>
            <a:r>
              <a:rPr lang="en-US" sz="2000" dirty="0"/>
              <a:t>The last leaf element might not have a right sibling i.e. a complete binary tree doesn't have to be a full binary tree.</a:t>
            </a:r>
          </a:p>
          <a:p>
            <a:endParaRPr lang="en-US" sz="2000" dirty="0"/>
          </a:p>
          <a:p>
            <a:endParaRPr lang="en-US" sz="2000" dirty="0"/>
          </a:p>
          <a:p>
            <a:endParaRPr lang="en-US" sz="2000" dirty="0"/>
          </a:p>
          <a:p>
            <a:pPr marL="0" indent="0">
              <a:buNone/>
            </a:pPr>
            <a:endParaRPr lang="en-US" b="1" dirty="0"/>
          </a:p>
          <a:p>
            <a:pPr marL="0" indent="0">
              <a:buNone/>
            </a:pPr>
            <a:r>
              <a:rPr lang="en-US" sz="2000" b="1" dirty="0"/>
              <a:t>Degenerate or Pathological Tree: </a:t>
            </a:r>
            <a:r>
              <a:rPr lang="en-US" sz="2000" dirty="0"/>
              <a:t>A degenerate or pathological tree is the tree having a single child either left or right.</a:t>
            </a:r>
          </a:p>
          <a:p>
            <a:pPr marL="0" indent="0">
              <a:buNone/>
            </a:pPr>
            <a:r>
              <a:rPr lang="en-US" sz="2000" dirty="0"/>
              <a:t/>
            </a:r>
            <a:br>
              <a:rPr lang="en-US" sz="2000" dirty="0"/>
            </a:br>
            <a:endParaRPr lang="en-US" sz="2000" b="1" dirty="0"/>
          </a:p>
          <a:p>
            <a:pPr marL="0" indent="0">
              <a:buNone/>
            </a:pP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4857752" y="1928802"/>
            <a:ext cx="2357438" cy="2001066"/>
          </a:xfrm>
          <a:prstGeom prst="rect">
            <a:avLst/>
          </a:prstGeom>
        </p:spPr>
      </p:pic>
      <p:pic>
        <p:nvPicPr>
          <p:cNvPr id="5" name="Picture 4"/>
          <p:cNvPicPr>
            <a:picLocks noChangeAspect="1"/>
          </p:cNvPicPr>
          <p:nvPr/>
        </p:nvPicPr>
        <p:blipFill>
          <a:blip r:embed="rId3"/>
          <a:stretch>
            <a:fillRect/>
          </a:stretch>
        </p:blipFill>
        <p:spPr>
          <a:xfrm>
            <a:off x="4357686" y="4344217"/>
            <a:ext cx="2478881" cy="251378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552" y="222069"/>
            <a:ext cx="8788037" cy="5954894"/>
          </a:xfrm>
        </p:spPr>
        <p:txBody>
          <a:bodyPr>
            <a:normAutofit/>
          </a:bodyPr>
          <a:lstStyle/>
          <a:p>
            <a:pPr marL="0" indent="0" algn="just">
              <a:buNone/>
            </a:pPr>
            <a:r>
              <a:rPr lang="en-US" sz="2000" b="1" dirty="0"/>
              <a:t>Skewed Binary Tree: </a:t>
            </a:r>
            <a:r>
              <a:rPr lang="en-US" sz="2000" dirty="0"/>
              <a:t>A skewed binary tree is a pathological/degenerate tree in which the tree is either dominated by the left nodes or the right nodes. Thus, there are two types of skewed binary tree: </a:t>
            </a:r>
            <a:r>
              <a:rPr lang="en-US" sz="2000" b="1" dirty="0"/>
              <a:t>left-skewed binary tree</a:t>
            </a:r>
            <a:r>
              <a:rPr lang="en-US" sz="2000" dirty="0"/>
              <a:t> and </a:t>
            </a:r>
            <a:r>
              <a:rPr lang="en-US" sz="2000" b="1" dirty="0"/>
              <a:t>right-skewed binary tree</a:t>
            </a:r>
            <a:r>
              <a:rPr lang="en-US" sz="2000" dirty="0"/>
              <a:t>.</a:t>
            </a:r>
          </a:p>
          <a:p>
            <a:pPr marL="0" indent="0">
              <a:buNone/>
            </a:pPr>
            <a:r>
              <a:rPr lang="en-US" sz="2000" dirty="0"/>
              <a:t/>
            </a:r>
            <a:br>
              <a:rPr lang="en-US" sz="2000" dirty="0"/>
            </a:br>
            <a:endParaRPr lang="en-US" sz="2000"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r>
              <a:rPr lang="en-US" sz="2000" b="1" dirty="0"/>
              <a:t>Balanced Binary Tree: </a:t>
            </a:r>
            <a:r>
              <a:rPr lang="en-US" sz="2000" dirty="0"/>
              <a:t>It is a type of binary tree in which the difference between the height of the left and the right subtree for each node is either 0 or 1.</a:t>
            </a:r>
          </a:p>
          <a:p>
            <a:pPr marL="0" indent="0">
              <a:buNone/>
            </a:pPr>
            <a:endParaRPr lang="en-US" sz="2000" dirty="0"/>
          </a:p>
        </p:txBody>
      </p:sp>
      <p:pic>
        <p:nvPicPr>
          <p:cNvPr id="4" name="Picture 3"/>
          <p:cNvPicPr>
            <a:picLocks noChangeAspect="1"/>
          </p:cNvPicPr>
          <p:nvPr/>
        </p:nvPicPr>
        <p:blipFill>
          <a:blip r:embed="rId2"/>
          <a:stretch>
            <a:fillRect/>
          </a:stretch>
        </p:blipFill>
        <p:spPr>
          <a:xfrm>
            <a:off x="4071934" y="1357298"/>
            <a:ext cx="2986904" cy="2357639"/>
          </a:xfrm>
          <a:prstGeom prst="rect">
            <a:avLst/>
          </a:prstGeom>
        </p:spPr>
      </p:pic>
      <p:pic>
        <p:nvPicPr>
          <p:cNvPr id="5" name="Picture 4"/>
          <p:cNvPicPr>
            <a:picLocks noChangeAspect="1"/>
          </p:cNvPicPr>
          <p:nvPr/>
        </p:nvPicPr>
        <p:blipFill>
          <a:blip r:embed="rId3"/>
          <a:stretch>
            <a:fillRect/>
          </a:stretch>
        </p:blipFill>
        <p:spPr>
          <a:xfrm>
            <a:off x="3500430" y="4429132"/>
            <a:ext cx="3207544" cy="24288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b="1" dirty="0"/>
              <a:t>Properties of Binary Trees</a:t>
            </a:r>
            <a:br>
              <a:rPr lang="en-US" b="1" dirty="0"/>
            </a:br>
            <a:endParaRPr lang="en-US" dirty="0"/>
          </a:p>
        </p:txBody>
      </p:sp>
      <p:sp>
        <p:nvSpPr>
          <p:cNvPr id="3" name="Content Placeholder 2"/>
          <p:cNvSpPr>
            <a:spLocks noGrp="1"/>
          </p:cNvSpPr>
          <p:nvPr>
            <p:ph idx="1"/>
          </p:nvPr>
        </p:nvSpPr>
        <p:spPr>
          <a:xfrm>
            <a:off x="457200" y="714356"/>
            <a:ext cx="8229600" cy="5411807"/>
          </a:xfrm>
        </p:spPr>
        <p:txBody>
          <a:bodyPr>
            <a:normAutofit fontScale="55000" lnSpcReduction="20000"/>
          </a:bodyPr>
          <a:lstStyle/>
          <a:p>
            <a:pPr fontAlgn="base">
              <a:buNone/>
            </a:pPr>
            <a:r>
              <a:rPr lang="en-US" b="1" dirty="0"/>
              <a:t>1. Maximum Nodes at Level 'l'</a:t>
            </a:r>
          </a:p>
          <a:p>
            <a:pPr fontAlgn="base"/>
            <a:r>
              <a:rPr lang="en-US" dirty="0"/>
              <a:t>A binary tree can have at most </a:t>
            </a:r>
            <a:r>
              <a:rPr lang="en-US" b="1" dirty="0"/>
              <a:t>2</a:t>
            </a:r>
            <a:r>
              <a:rPr lang="en-US" b="1" baseline="30000" dirty="0"/>
              <a:t>l</a:t>
            </a:r>
            <a:r>
              <a:rPr lang="en-US" b="1" dirty="0"/>
              <a:t> </a:t>
            </a:r>
            <a:r>
              <a:rPr lang="en-US" dirty="0"/>
              <a:t>nodes at level </a:t>
            </a:r>
            <a:r>
              <a:rPr lang="en-US" b="1" dirty="0"/>
              <a:t>l</a:t>
            </a:r>
            <a:r>
              <a:rPr lang="en-US" dirty="0"/>
              <a:t>.</a:t>
            </a:r>
          </a:p>
          <a:p>
            <a:pPr fontAlgn="base"/>
            <a:r>
              <a:rPr lang="en-US" b="1" dirty="0"/>
              <a:t>Level Definition:</a:t>
            </a:r>
            <a:r>
              <a:rPr lang="en-US" dirty="0"/>
              <a:t> The number of edges in the path from the root to a node. The root is at level </a:t>
            </a:r>
            <a:r>
              <a:rPr lang="en-US" b="1" dirty="0"/>
              <a:t>0</a:t>
            </a:r>
            <a:r>
              <a:rPr lang="en-US" dirty="0"/>
              <a:t>.</a:t>
            </a:r>
          </a:p>
          <a:p>
            <a:pPr fontAlgn="base"/>
            <a:r>
              <a:rPr lang="en-US" b="1" dirty="0"/>
              <a:t>Proof by Induction:</a:t>
            </a:r>
            <a:endParaRPr lang="en-US" dirty="0"/>
          </a:p>
          <a:p>
            <a:pPr fontAlgn="base"/>
            <a:r>
              <a:rPr lang="en-US" b="1" dirty="0"/>
              <a:t>Base case:</a:t>
            </a:r>
            <a:r>
              <a:rPr lang="en-US" dirty="0"/>
              <a:t> For root (</a:t>
            </a:r>
            <a:r>
              <a:rPr lang="en-US" b="1" dirty="0"/>
              <a:t>l = 0</a:t>
            </a:r>
            <a:r>
              <a:rPr lang="en-US" dirty="0"/>
              <a:t>), nodes = 2</a:t>
            </a:r>
            <a:r>
              <a:rPr lang="en-US" baseline="30000" dirty="0"/>
              <a:t>0 </a:t>
            </a:r>
            <a:r>
              <a:rPr lang="en-US" dirty="0"/>
              <a:t>= 1.</a:t>
            </a:r>
          </a:p>
          <a:p>
            <a:pPr fontAlgn="base"/>
            <a:r>
              <a:rPr lang="en-US" b="1" dirty="0"/>
              <a:t>Inductive step:</a:t>
            </a:r>
            <a:r>
              <a:rPr lang="en-US" dirty="0"/>
              <a:t> If level </a:t>
            </a:r>
            <a:r>
              <a:rPr lang="en-US" b="1" dirty="0"/>
              <a:t>l</a:t>
            </a:r>
            <a:r>
              <a:rPr lang="en-US" dirty="0"/>
              <a:t> has 2</a:t>
            </a:r>
            <a:r>
              <a:rPr lang="en-US" baseline="30000" dirty="0"/>
              <a:t>l</a:t>
            </a:r>
            <a:r>
              <a:rPr lang="en-US" dirty="0"/>
              <a:t> nodes, then the next level has at most </a:t>
            </a:r>
            <a:r>
              <a:rPr lang="en-US" b="1" dirty="0"/>
              <a:t>twice</a:t>
            </a:r>
            <a:r>
              <a:rPr lang="en-US" dirty="0"/>
              <a:t> as many: </a:t>
            </a:r>
          </a:p>
          <a:p>
            <a:pPr fontAlgn="base"/>
            <a:r>
              <a:rPr lang="en-US" b="1" dirty="0"/>
              <a:t>2×2</a:t>
            </a:r>
            <a:r>
              <a:rPr lang="en-US" b="1" baseline="30000" dirty="0"/>
              <a:t>l </a:t>
            </a:r>
            <a:r>
              <a:rPr lang="en-US" b="1" dirty="0"/>
              <a:t>= 2</a:t>
            </a:r>
            <a:r>
              <a:rPr lang="en-US" b="1" baseline="30000" dirty="0"/>
              <a:t>l+1</a:t>
            </a:r>
            <a:endParaRPr lang="en-US" b="1" dirty="0"/>
          </a:p>
          <a:p>
            <a:pPr fontAlgn="base">
              <a:buNone/>
            </a:pPr>
            <a:r>
              <a:rPr lang="en-US" b="1" dirty="0"/>
              <a:t>2. Maximum Nodes in a Binary Tree of Height 'h'</a:t>
            </a:r>
          </a:p>
          <a:p>
            <a:pPr fontAlgn="base"/>
            <a:r>
              <a:rPr lang="en-US" dirty="0"/>
              <a:t>A binary tree of height </a:t>
            </a:r>
            <a:r>
              <a:rPr lang="en-US" b="1" dirty="0"/>
              <a:t>h</a:t>
            </a:r>
            <a:r>
              <a:rPr lang="en-US" dirty="0"/>
              <a:t> can have at most </a:t>
            </a:r>
            <a:r>
              <a:rPr lang="en-US" b="1" dirty="0"/>
              <a:t>2</a:t>
            </a:r>
            <a:r>
              <a:rPr lang="en-US" b="1" baseline="30000" dirty="0"/>
              <a:t>h+1</a:t>
            </a:r>
            <a:r>
              <a:rPr lang="en-US" b="1" dirty="0"/>
              <a:t> - 1</a:t>
            </a:r>
            <a:r>
              <a:rPr lang="en-US" dirty="0"/>
              <a:t> nodes.</a:t>
            </a:r>
          </a:p>
          <a:p>
            <a:pPr fontAlgn="base"/>
            <a:r>
              <a:rPr lang="en-US" b="1" dirty="0"/>
              <a:t>Height Definition:</a:t>
            </a:r>
            <a:r>
              <a:rPr lang="en-US" dirty="0"/>
              <a:t> The longest path from the root to a leaf node. Please note that a tree with only one root node is considered to have height 0 and an empty tree (or root is NULL) is considered to have height "-1"</a:t>
            </a:r>
          </a:p>
          <a:p>
            <a:pPr fontAlgn="base"/>
            <a:r>
              <a:rPr lang="en-US" b="1" dirty="0"/>
              <a:t>Formula Derivation:</a:t>
            </a:r>
            <a:r>
              <a:rPr lang="en-US" dirty="0"/>
              <a:t> A tree has the </a:t>
            </a:r>
            <a:r>
              <a:rPr lang="en-US" b="1" dirty="0"/>
              <a:t>maximum nodes when all levels are completely filled</a:t>
            </a:r>
            <a:r>
              <a:rPr lang="en-US" dirty="0"/>
              <a:t>. Summing nodes at each level: </a:t>
            </a:r>
          </a:p>
          <a:p>
            <a:pPr fontAlgn="base"/>
            <a:r>
              <a:rPr lang="en-US" b="1" dirty="0"/>
              <a:t>1 + 2 + 4 +...+ 2</a:t>
            </a:r>
            <a:r>
              <a:rPr lang="en-US" b="1" baseline="30000" dirty="0"/>
              <a:t>h</a:t>
            </a:r>
            <a:r>
              <a:rPr lang="en-US" b="1" dirty="0"/>
              <a:t> = 2</a:t>
            </a:r>
            <a:r>
              <a:rPr lang="en-US" b="1" baseline="30000" dirty="0"/>
              <a:t>h+1</a:t>
            </a:r>
            <a:r>
              <a:rPr lang="en-US" b="1" dirty="0"/>
              <a:t> - 1</a:t>
            </a:r>
            <a:endParaRPr lang="en-US" dirty="0"/>
          </a:p>
          <a:p>
            <a:pPr fontAlgn="base"/>
            <a:r>
              <a:rPr lang="en-US" b="1" dirty="0"/>
              <a:t>Alternate Height Convention:</a:t>
            </a:r>
            <a:r>
              <a:rPr lang="en-US" dirty="0"/>
              <a:t> Some books consider a tree with only one root node is considered to have height 1 and an empty tree (or root is NULL) is considered to have height 0. making the formula </a:t>
            </a:r>
            <a:r>
              <a:rPr lang="en-US" b="1" dirty="0"/>
              <a:t>2</a:t>
            </a:r>
            <a:r>
              <a:rPr lang="en-US" b="1" baseline="30000" dirty="0"/>
              <a:t>h</a:t>
            </a:r>
            <a:r>
              <a:rPr lang="en-US" b="1" dirty="0"/>
              <a:t> - 1.</a:t>
            </a:r>
            <a:endParaRPr lang="en-US" dirty="0"/>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Properties of Binary Trees</a:t>
            </a:r>
            <a:br>
              <a:rPr lang="en-US" b="1" dirty="0"/>
            </a:br>
            <a:endParaRPr lang="en-US" dirty="0"/>
          </a:p>
        </p:txBody>
      </p:sp>
      <p:sp>
        <p:nvSpPr>
          <p:cNvPr id="3" name="Content Placeholder 2"/>
          <p:cNvSpPr>
            <a:spLocks noGrp="1"/>
          </p:cNvSpPr>
          <p:nvPr>
            <p:ph idx="1"/>
          </p:nvPr>
        </p:nvSpPr>
        <p:spPr>
          <a:xfrm>
            <a:off x="457200" y="1000108"/>
            <a:ext cx="8229600" cy="5126055"/>
          </a:xfrm>
        </p:spPr>
        <p:txBody>
          <a:bodyPr>
            <a:normAutofit fontScale="55000" lnSpcReduction="20000"/>
          </a:bodyPr>
          <a:lstStyle/>
          <a:p>
            <a:pPr fontAlgn="base">
              <a:buNone/>
            </a:pPr>
            <a:r>
              <a:rPr lang="en-US" b="1" dirty="0"/>
              <a:t>3. Minimum Height for 'N' Nodes</a:t>
            </a:r>
          </a:p>
          <a:p>
            <a:pPr fontAlgn="base"/>
            <a:r>
              <a:rPr lang="en-US" dirty="0"/>
              <a:t>The minimum possible height for </a:t>
            </a:r>
            <a:r>
              <a:rPr lang="en-US" b="1" dirty="0"/>
              <a:t>N</a:t>
            </a:r>
            <a:r>
              <a:rPr lang="en-US" dirty="0"/>
              <a:t> nodes is </a:t>
            </a:r>
            <a:r>
              <a:rPr lang="en-US" b="1" dirty="0"/>
              <a:t>⌊log⁡</a:t>
            </a:r>
            <a:r>
              <a:rPr lang="en-US" b="1" baseline="-25000" dirty="0"/>
              <a:t>2</a:t>
            </a:r>
            <a:r>
              <a:rPr lang="en-US" b="1" dirty="0"/>
              <a:t>N⌋</a:t>
            </a:r>
            <a:r>
              <a:rPr lang="en-US" dirty="0"/>
              <a:t>.</a:t>
            </a:r>
          </a:p>
          <a:p>
            <a:pPr fontAlgn="base"/>
            <a:r>
              <a:rPr lang="en-US" b="1" dirty="0"/>
              <a:t>Explanation:</a:t>
            </a:r>
            <a:r>
              <a:rPr lang="en-US" dirty="0"/>
              <a:t> A binary tree with height </a:t>
            </a:r>
            <a:r>
              <a:rPr lang="en-US" b="1" dirty="0"/>
              <a:t>h</a:t>
            </a:r>
            <a:r>
              <a:rPr lang="en-US" dirty="0"/>
              <a:t> can have at most </a:t>
            </a:r>
            <a:r>
              <a:rPr lang="en-US" b="1" dirty="0"/>
              <a:t>2</a:t>
            </a:r>
            <a:r>
              <a:rPr lang="en-US" b="1" baseline="30000" dirty="0"/>
              <a:t>h+1 </a:t>
            </a:r>
            <a:r>
              <a:rPr lang="en-US" b="1" dirty="0"/>
              <a:t>- 1</a:t>
            </a:r>
            <a:r>
              <a:rPr lang="en-US" dirty="0"/>
              <a:t> nodes.</a:t>
            </a:r>
          </a:p>
          <a:p>
            <a:pPr fontAlgn="base"/>
            <a:r>
              <a:rPr lang="en-US" dirty="0"/>
              <a:t>Rearranging:</a:t>
            </a:r>
          </a:p>
          <a:p>
            <a:pPr fontAlgn="base"/>
            <a:r>
              <a:rPr lang="en-US" dirty="0"/>
              <a:t>N ≤ 2</a:t>
            </a:r>
            <a:r>
              <a:rPr lang="en-US" baseline="30000" dirty="0"/>
              <a:t>h+1 </a:t>
            </a:r>
            <a:r>
              <a:rPr lang="en-US" dirty="0"/>
              <a:t>− 1</a:t>
            </a:r>
            <a:br>
              <a:rPr lang="en-US" dirty="0"/>
            </a:br>
            <a:r>
              <a:rPr lang="en-US" dirty="0"/>
              <a:t>2</a:t>
            </a:r>
            <a:r>
              <a:rPr lang="en-US" baseline="30000" dirty="0"/>
              <a:t>h+1</a:t>
            </a:r>
            <a:r>
              <a:rPr lang="en-US" dirty="0"/>
              <a:t> ≥ N+1</a:t>
            </a:r>
            <a:br>
              <a:rPr lang="en-US" dirty="0"/>
            </a:br>
            <a:r>
              <a:rPr lang="en-US" dirty="0"/>
              <a:t>h ≥ log</a:t>
            </a:r>
            <a:r>
              <a:rPr lang="en-US" baseline="-25000" dirty="0"/>
              <a:t>2​</a:t>
            </a:r>
            <a:r>
              <a:rPr lang="en-US" dirty="0"/>
              <a:t>(N+1) - 1 </a:t>
            </a:r>
            <a:r>
              <a:rPr lang="en-US" i="1" dirty="0"/>
              <a:t>(Taking log</a:t>
            </a:r>
            <a:r>
              <a:rPr lang="en-US" i="1" baseline="-25000" dirty="0"/>
              <a:t>2</a:t>
            </a:r>
            <a:r>
              <a:rPr lang="en-US" i="1" dirty="0"/>
              <a:t> both sides)</a:t>
            </a:r>
            <a:r>
              <a:rPr lang="en-US" dirty="0"/>
              <a:t/>
            </a:r>
            <a:br>
              <a:rPr lang="en-US" dirty="0"/>
            </a:br>
            <a:r>
              <a:rPr lang="en-US" dirty="0"/>
              <a:t>h ≥ ⌊log</a:t>
            </a:r>
            <a:r>
              <a:rPr lang="en-US" baseline="-25000" dirty="0"/>
              <a:t>2</a:t>
            </a:r>
            <a:r>
              <a:rPr lang="en-US" dirty="0"/>
              <a:t>​N⌋</a:t>
            </a:r>
          </a:p>
          <a:p>
            <a:pPr fontAlgn="base"/>
            <a:r>
              <a:rPr lang="en-US" dirty="0"/>
              <a:t>This means a binary tree with </a:t>
            </a:r>
            <a:r>
              <a:rPr lang="en-US" b="1" dirty="0"/>
              <a:t>N nodes must have at least ⌊log⁡</a:t>
            </a:r>
            <a:r>
              <a:rPr lang="en-US" b="1" baseline="-25000" dirty="0"/>
              <a:t>2</a:t>
            </a:r>
            <a:r>
              <a:rPr lang="en-US" b="1" dirty="0"/>
              <a:t>N⌋ levels</a:t>
            </a:r>
            <a:r>
              <a:rPr lang="en-US" dirty="0"/>
              <a:t>.</a:t>
            </a:r>
          </a:p>
          <a:p>
            <a:pPr fontAlgn="base">
              <a:buNone/>
            </a:pPr>
            <a:r>
              <a:rPr lang="en-US" b="1" dirty="0"/>
              <a:t>4. Minimum Levels for 'L' Leaves</a:t>
            </a:r>
          </a:p>
          <a:p>
            <a:pPr fontAlgn="base"/>
            <a:r>
              <a:rPr lang="en-US" dirty="0"/>
              <a:t>A binary tree with </a:t>
            </a:r>
            <a:r>
              <a:rPr lang="en-US" b="1" dirty="0"/>
              <a:t>L</a:t>
            </a:r>
            <a:r>
              <a:rPr lang="en-US" dirty="0"/>
              <a:t> leaves must have at least </a:t>
            </a:r>
            <a:r>
              <a:rPr lang="en-US" b="1" dirty="0"/>
              <a:t>⌊log⁡</a:t>
            </a:r>
            <a:r>
              <a:rPr lang="en-US" b="1" baseline="-25000" dirty="0"/>
              <a:t>2</a:t>
            </a:r>
            <a:r>
              <a:rPr lang="en-US" b="1" dirty="0"/>
              <a:t>L⌋</a:t>
            </a:r>
            <a:r>
              <a:rPr lang="en-US" dirty="0"/>
              <a:t> levels.</a:t>
            </a:r>
          </a:p>
          <a:p>
            <a:pPr fontAlgn="base"/>
            <a:r>
              <a:rPr lang="en-US" b="1" dirty="0"/>
              <a:t>Why?</a:t>
            </a:r>
            <a:r>
              <a:rPr lang="en-US" dirty="0"/>
              <a:t> A tree has the </a:t>
            </a:r>
            <a:r>
              <a:rPr lang="en-US" b="1" dirty="0"/>
              <a:t>maximum number of leaves when all levels are fully filled</a:t>
            </a:r>
            <a:r>
              <a:rPr lang="en-US" dirty="0"/>
              <a:t>.</a:t>
            </a:r>
          </a:p>
          <a:p>
            <a:pPr fontAlgn="base"/>
            <a:r>
              <a:rPr lang="en-US" b="1" dirty="0"/>
              <a:t>From Property 1:</a:t>
            </a:r>
            <a:r>
              <a:rPr lang="en-US" dirty="0"/>
              <a:t/>
            </a:r>
            <a:br>
              <a:rPr lang="en-US" dirty="0"/>
            </a:br>
            <a:r>
              <a:rPr lang="en-US" dirty="0"/>
              <a:t>L ≤ 2</a:t>
            </a:r>
            <a:r>
              <a:rPr lang="en-US" baseline="30000" dirty="0"/>
              <a:t>l</a:t>
            </a:r>
            <a:r>
              <a:rPr lang="en-US" dirty="0"/>
              <a:t> ( </a:t>
            </a:r>
            <a:r>
              <a:rPr lang="en-US" b="1" dirty="0"/>
              <a:t>l</a:t>
            </a:r>
            <a:r>
              <a:rPr lang="en-US" dirty="0"/>
              <a:t> is the level where leaves appear)</a:t>
            </a:r>
          </a:p>
          <a:p>
            <a:pPr fontAlgn="base"/>
            <a:r>
              <a:rPr lang="en-US" dirty="0"/>
              <a:t>Solving for </a:t>
            </a:r>
            <a:r>
              <a:rPr lang="en-US" b="1" dirty="0"/>
              <a:t>l</a:t>
            </a:r>
            <a:r>
              <a:rPr lang="en-US" dirty="0"/>
              <a:t>:</a:t>
            </a:r>
            <a:br>
              <a:rPr lang="en-US" dirty="0"/>
            </a:br>
            <a:r>
              <a:rPr lang="en-US" dirty="0" err="1"/>
              <a:t>l</a:t>
            </a:r>
            <a:r>
              <a:rPr lang="en-US" baseline="-25000" dirty="0" err="1"/>
              <a:t>min</a:t>
            </a:r>
            <a:r>
              <a:rPr lang="en-US" dirty="0"/>
              <a:t> = ⌊log⁡</a:t>
            </a:r>
            <a:r>
              <a:rPr lang="en-US" baseline="-25000" dirty="0"/>
              <a:t>2</a:t>
            </a:r>
            <a:r>
              <a:rPr lang="en-US" dirty="0"/>
              <a:t>L⌋</a:t>
            </a:r>
          </a:p>
          <a:p>
            <a:pPr fontAlgn="base"/>
            <a:r>
              <a:rPr lang="en-US" dirty="0"/>
              <a:t>This gives the </a:t>
            </a:r>
            <a:r>
              <a:rPr lang="en-US" b="1" dirty="0"/>
              <a:t>minimum levels needed to accommodate L leaves</a:t>
            </a:r>
            <a:r>
              <a:rPr lang="en-US" dirty="0"/>
              <a:t>.</a:t>
            </a: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a:t>Properties of Binary Trees</a:t>
            </a:r>
            <a:br>
              <a:rPr lang="en-US" b="1" dirty="0"/>
            </a:br>
            <a:endParaRPr lang="en-US" dirty="0"/>
          </a:p>
        </p:txBody>
      </p:sp>
      <p:sp>
        <p:nvSpPr>
          <p:cNvPr id="3" name="Content Placeholder 2"/>
          <p:cNvSpPr>
            <a:spLocks noGrp="1"/>
          </p:cNvSpPr>
          <p:nvPr>
            <p:ph idx="1"/>
          </p:nvPr>
        </p:nvSpPr>
        <p:spPr>
          <a:xfrm>
            <a:off x="457200" y="785794"/>
            <a:ext cx="8229600" cy="5340369"/>
          </a:xfrm>
        </p:spPr>
        <p:txBody>
          <a:bodyPr>
            <a:normAutofit fontScale="70000" lnSpcReduction="20000"/>
          </a:bodyPr>
          <a:lstStyle/>
          <a:p>
            <a:pPr fontAlgn="base">
              <a:buNone/>
            </a:pPr>
            <a:r>
              <a:rPr lang="en-US" b="1" dirty="0"/>
              <a:t>5. Nodes with Two Children vs. Leaf Nodes</a:t>
            </a:r>
          </a:p>
          <a:p>
            <a:pPr fontAlgn="base"/>
            <a:r>
              <a:rPr lang="en-US" dirty="0"/>
              <a:t>In a </a:t>
            </a:r>
            <a:r>
              <a:rPr lang="en-US" b="1" dirty="0"/>
              <a:t>full binary tree</a:t>
            </a:r>
            <a:r>
              <a:rPr lang="en-US" dirty="0"/>
              <a:t> (where every node has either 0 or 2 children), the number of </a:t>
            </a:r>
            <a:r>
              <a:rPr lang="en-US" b="1" dirty="0"/>
              <a:t>leaf nodes (L) is always one more than the internal nodes (T) with two children</a:t>
            </a:r>
            <a:r>
              <a:rPr lang="en-US" dirty="0"/>
              <a:t>:</a:t>
            </a:r>
          </a:p>
          <a:p>
            <a:pPr fontAlgn="base"/>
            <a:r>
              <a:rPr lang="en-US" dirty="0"/>
              <a:t>L=T+1</a:t>
            </a:r>
          </a:p>
          <a:p>
            <a:pPr fontAlgn="base"/>
            <a:r>
              <a:rPr lang="en-US" b="1" dirty="0"/>
              <a:t>Proof:</a:t>
            </a:r>
            <a:endParaRPr lang="en-US" dirty="0"/>
          </a:p>
          <a:p>
            <a:pPr fontAlgn="base"/>
            <a:r>
              <a:rPr lang="en-US" dirty="0"/>
              <a:t>A full binary tree has a total of 2</a:t>
            </a:r>
            <a:r>
              <a:rPr lang="en-US" baseline="30000" dirty="0"/>
              <a:t>h+1</a:t>
            </a:r>
            <a:r>
              <a:rPr lang="en-US" dirty="0"/>
              <a:t> - 1 nodes.</a:t>
            </a:r>
          </a:p>
          <a:p>
            <a:pPr fontAlgn="base"/>
            <a:r>
              <a:rPr lang="en-US" dirty="0"/>
              <a:t>Leaves are at the last level: L = 2</a:t>
            </a:r>
            <a:r>
              <a:rPr lang="en-US" baseline="30000" dirty="0"/>
              <a:t>h</a:t>
            </a:r>
            <a:r>
              <a:rPr lang="en-US" dirty="0"/>
              <a:t>.</a:t>
            </a:r>
          </a:p>
          <a:p>
            <a:pPr fontAlgn="base"/>
            <a:r>
              <a:rPr lang="en-US" dirty="0"/>
              <a:t>Internal nodes: T =2</a:t>
            </a:r>
            <a:r>
              <a:rPr lang="en-US" baseline="30000" dirty="0"/>
              <a:t>h </a:t>
            </a:r>
            <a:r>
              <a:rPr lang="en-US" dirty="0"/>
              <a:t>(2−1) − 1= 2</a:t>
            </a:r>
            <a:r>
              <a:rPr lang="en-US" baseline="30000" dirty="0"/>
              <a:t>h </a:t>
            </a:r>
            <a:r>
              <a:rPr lang="en-US" dirty="0"/>
              <a:t>- 1.</a:t>
            </a:r>
          </a:p>
          <a:p>
            <a:pPr fontAlgn="base"/>
            <a:r>
              <a:rPr lang="en-US" dirty="0"/>
              <a:t>Simplifies to </a:t>
            </a:r>
            <a:r>
              <a:rPr lang="en-US" b="1" dirty="0"/>
              <a:t>L=T+1</a:t>
            </a:r>
            <a:endParaRPr lang="en-US" dirty="0"/>
          </a:p>
          <a:p>
            <a:pPr fontAlgn="base">
              <a:buNone/>
            </a:pPr>
            <a:r>
              <a:rPr lang="en-US" b="1" dirty="0"/>
              <a:t>6. Total Edges in a Binary Tree</a:t>
            </a:r>
          </a:p>
          <a:p>
            <a:pPr fontAlgn="base"/>
            <a:r>
              <a:rPr lang="en-US" dirty="0"/>
              <a:t>In any </a:t>
            </a:r>
            <a:r>
              <a:rPr lang="en-US" b="1" dirty="0"/>
              <a:t>non-empty binary tree</a:t>
            </a:r>
            <a:r>
              <a:rPr lang="en-US" dirty="0"/>
              <a:t> with </a:t>
            </a:r>
            <a:r>
              <a:rPr lang="en-US" b="1" dirty="0"/>
              <a:t>n</a:t>
            </a:r>
            <a:r>
              <a:rPr lang="en-US" dirty="0"/>
              <a:t> nodes, the total number of edges is </a:t>
            </a:r>
            <a:r>
              <a:rPr lang="en-US" b="1" dirty="0"/>
              <a:t>n - 1</a:t>
            </a:r>
            <a:r>
              <a:rPr lang="en-US" dirty="0"/>
              <a:t>.</a:t>
            </a:r>
          </a:p>
          <a:p>
            <a:pPr fontAlgn="base"/>
            <a:r>
              <a:rPr lang="en-US" dirty="0"/>
              <a:t>Every node (except the root) has exactly </a:t>
            </a:r>
            <a:r>
              <a:rPr lang="en-US" b="1" dirty="0"/>
              <a:t>one parent</a:t>
            </a:r>
            <a:r>
              <a:rPr lang="en-US" dirty="0"/>
              <a:t>, and each parent-child connection represents an </a:t>
            </a:r>
            <a:r>
              <a:rPr lang="en-US" b="1" dirty="0"/>
              <a:t>edge</a:t>
            </a:r>
            <a:r>
              <a:rPr lang="en-US" dirty="0"/>
              <a:t>.</a:t>
            </a:r>
          </a:p>
          <a:p>
            <a:pPr fontAlgn="base"/>
            <a:r>
              <a:rPr lang="en-US" dirty="0"/>
              <a:t>Since there are </a:t>
            </a:r>
            <a:r>
              <a:rPr lang="en-US" b="1" dirty="0"/>
              <a:t>n nodes</a:t>
            </a:r>
            <a:r>
              <a:rPr lang="en-US" dirty="0"/>
              <a:t>, there must be </a:t>
            </a:r>
            <a:r>
              <a:rPr lang="en-US" b="1" dirty="0"/>
              <a:t>n - 1 edges</a:t>
            </a:r>
            <a:r>
              <a:rPr lang="en-US" dirty="0"/>
              <a:t>.</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Binary Tree Properties-</a:t>
            </a:r>
            <a:r>
              <a:rPr lang="en-US" b="1" dirty="0"/>
              <a:t/>
            </a:r>
            <a:br>
              <a:rPr lang="en-US" b="1" dirty="0"/>
            </a:br>
            <a:endParaRPr lang="en-US" dirty="0"/>
          </a:p>
        </p:txBody>
      </p:sp>
      <p:sp>
        <p:nvSpPr>
          <p:cNvPr id="3" name="Content Placeholder 2"/>
          <p:cNvSpPr>
            <a:spLocks noGrp="1"/>
          </p:cNvSpPr>
          <p:nvPr>
            <p:ph idx="1"/>
          </p:nvPr>
        </p:nvSpPr>
        <p:spPr>
          <a:xfrm>
            <a:off x="628650" y="1332411"/>
            <a:ext cx="7886700" cy="4844552"/>
          </a:xfrm>
        </p:spPr>
        <p:txBody>
          <a:bodyPr/>
          <a:lstStyle/>
          <a:p>
            <a:pPr fontAlgn="base"/>
            <a:r>
              <a:rPr lang="en-US" dirty="0"/>
              <a:t>Minimum number of nodes in a binary tree of height H = H + 1</a:t>
            </a:r>
          </a:p>
          <a:p>
            <a:pPr fontAlgn="base"/>
            <a:r>
              <a:rPr lang="en-US" dirty="0"/>
              <a:t>Maximum number of nodes in a binary tree of height H = 2</a:t>
            </a:r>
            <a:r>
              <a:rPr lang="en-US" baseline="30000" dirty="0"/>
              <a:t>H+1</a:t>
            </a:r>
            <a:r>
              <a:rPr lang="en-US" dirty="0"/>
              <a:t> – 1</a:t>
            </a:r>
          </a:p>
          <a:p>
            <a:pPr fontAlgn="base"/>
            <a:r>
              <a:rPr lang="en-US" dirty="0"/>
              <a:t>Total Number of leaf nodes in a Binary Tree = Total Number of nodes with 2 children + 1</a:t>
            </a:r>
          </a:p>
          <a:p>
            <a:pPr fontAlgn="base"/>
            <a:r>
              <a:rPr lang="en-US" dirty="0"/>
              <a:t>Maximum number of nodes at any level ‘L’ in a binary tree = 2</a:t>
            </a:r>
            <a:r>
              <a:rPr lang="en-US" baseline="30000" dirty="0"/>
              <a:t>L</a:t>
            </a:r>
            <a:endParaRPr lang="en-US" dirty="0"/>
          </a:p>
          <a:p>
            <a:pPr fontAlgn="base"/>
            <a:endParaRPr lang="en-US" dirty="0"/>
          </a:p>
          <a:p>
            <a:pPr fontAlgn="base"/>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914E38-94B5-C47C-3558-09828BF32A7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2DD01830-9FF8-A147-FE18-74BE8FCAB45A}"/>
              </a:ext>
            </a:extLst>
          </p:cNvPr>
          <p:cNvPicPr>
            <a:picLocks noGrp="1" noChangeAspect="1"/>
          </p:cNvPicPr>
          <p:nvPr>
            <p:ph idx="1"/>
          </p:nvPr>
        </p:nvPicPr>
        <p:blipFill>
          <a:blip r:embed="rId2"/>
          <a:stretch>
            <a:fillRect/>
          </a:stretch>
        </p:blipFill>
        <p:spPr>
          <a:xfrm>
            <a:off x="1040859" y="274638"/>
            <a:ext cx="7062282" cy="6308724"/>
          </a:xfrm>
          <a:prstGeom prst="rect">
            <a:avLst/>
          </a:prstGeom>
        </p:spPr>
      </p:pic>
    </p:spTree>
    <p:extLst>
      <p:ext uri="{BB962C8B-B14F-4D97-AF65-F5344CB8AC3E}">
        <p14:creationId xmlns:p14="http://schemas.microsoft.com/office/powerpoint/2010/main" xmlns="" val="3288227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246"/>
            <a:ext cx="7886700" cy="862784"/>
          </a:xfrm>
        </p:spPr>
        <p:txBody>
          <a:bodyPr/>
          <a:lstStyle/>
          <a:p>
            <a:pPr algn="ctr"/>
            <a:r>
              <a:rPr lang="en-US" b="1" dirty="0"/>
              <a:t>Tree Traversal</a:t>
            </a:r>
          </a:p>
        </p:txBody>
      </p:sp>
      <p:sp>
        <p:nvSpPr>
          <p:cNvPr id="3" name="Content Placeholder 2"/>
          <p:cNvSpPr>
            <a:spLocks noGrp="1"/>
          </p:cNvSpPr>
          <p:nvPr>
            <p:ph idx="1"/>
          </p:nvPr>
        </p:nvSpPr>
        <p:spPr>
          <a:xfrm>
            <a:off x="313508" y="914400"/>
            <a:ext cx="8729255" cy="5695406"/>
          </a:xfrm>
        </p:spPr>
        <p:txBody>
          <a:bodyPr>
            <a:normAutofit fontScale="92500" lnSpcReduction="20000"/>
          </a:bodyPr>
          <a:lstStyle/>
          <a:p>
            <a:pPr marL="0" indent="0" algn="just">
              <a:buNone/>
            </a:pPr>
            <a:r>
              <a:rPr lang="en-US" sz="2000" dirty="0"/>
              <a:t>Traversal is a process to visit all the nodes of a tree and may print their values too. Because, all nodes are connected via edges (links) we always start from the root (head) node. That is, we cannot randomly access a node in a tree. There are three ways which we use to traverse a tree −</a:t>
            </a:r>
          </a:p>
          <a:p>
            <a:pPr marL="0" indent="0">
              <a:buNone/>
            </a:pPr>
            <a:r>
              <a:rPr lang="en-US" sz="2000" b="1" dirty="0"/>
              <a:t>Preorder traversal</a:t>
            </a:r>
          </a:p>
          <a:p>
            <a:pPr marL="0" indent="0">
              <a:buNone/>
            </a:pPr>
            <a:r>
              <a:rPr lang="en-US" sz="2000" dirty="0"/>
              <a:t>This technique follows the 'root left right' policy. It means that, first root node is visited after that the left subtree is traversed recursively, and finally, right subtree is recursively traversed. As the root node is traversed before (or pre) the left and right subtree, it is called preorder traversal.</a:t>
            </a:r>
          </a:p>
          <a:p>
            <a:pPr marL="0" indent="0">
              <a:buNone/>
            </a:pPr>
            <a:r>
              <a:rPr lang="en-US" sz="2000" b="1" dirty="0"/>
              <a:t>The applications of preorder traversal include </a:t>
            </a:r>
            <a:r>
              <a:rPr lang="en-US" sz="2000" dirty="0"/>
              <a:t>-</a:t>
            </a:r>
          </a:p>
          <a:p>
            <a:r>
              <a:rPr lang="en-US" sz="2000" dirty="0"/>
              <a:t>It is used to create a copy of the tree.</a:t>
            </a:r>
          </a:p>
          <a:p>
            <a:r>
              <a:rPr lang="en-US" sz="2000" dirty="0"/>
              <a:t>It can also be used to get the prefix expression of an expression tree.</a:t>
            </a:r>
          </a:p>
          <a:p>
            <a:pPr marL="0" indent="0">
              <a:buNone/>
            </a:pPr>
            <a:r>
              <a:rPr lang="en-US" sz="2000" b="1" dirty="0"/>
              <a:t>Algorithm</a:t>
            </a:r>
            <a:endParaRPr lang="en-US" sz="2000" dirty="0"/>
          </a:p>
          <a:p>
            <a:r>
              <a:rPr lang="en-US" sz="2000" dirty="0"/>
              <a:t>Step 1 - Visit the root node  </a:t>
            </a:r>
          </a:p>
          <a:p>
            <a:r>
              <a:rPr lang="en-US" sz="2000" dirty="0"/>
              <a:t>Step 2 - Traverse the left subtree recursively.  </a:t>
            </a:r>
          </a:p>
          <a:p>
            <a:r>
              <a:rPr lang="en-US" sz="2000" dirty="0"/>
              <a:t>Step 3 - Traverse the right subtree recursively.   </a:t>
            </a:r>
          </a:p>
          <a:p>
            <a:pPr marL="0" indent="0">
              <a:buNone/>
            </a:pPr>
            <a:r>
              <a:rPr lang="en-US" b="1" dirty="0"/>
              <a:t>                                                                                    A → B → D → E → C → F → G</a:t>
            </a:r>
            <a:endParaRPr lang="en-US" sz="2000" dirty="0"/>
          </a:p>
        </p:txBody>
      </p:sp>
      <p:pic>
        <p:nvPicPr>
          <p:cNvPr id="4" name="Picture 3"/>
          <p:cNvPicPr>
            <a:picLocks noChangeAspect="1"/>
          </p:cNvPicPr>
          <p:nvPr/>
        </p:nvPicPr>
        <p:blipFill>
          <a:blip r:embed="rId2"/>
          <a:stretch>
            <a:fillRect/>
          </a:stretch>
        </p:blipFill>
        <p:spPr>
          <a:xfrm>
            <a:off x="5976257" y="2964724"/>
            <a:ext cx="3066506" cy="295275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A02769-C277-E98F-840A-E71F8883478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0252D340-C1D6-2535-DBC0-F96162C4D00E}"/>
              </a:ext>
            </a:extLst>
          </p:cNvPr>
          <p:cNvPicPr>
            <a:picLocks noGrp="1" noChangeAspect="1"/>
          </p:cNvPicPr>
          <p:nvPr>
            <p:ph idx="1"/>
          </p:nvPr>
        </p:nvPicPr>
        <p:blipFill>
          <a:blip r:embed="rId2"/>
          <a:stretch>
            <a:fillRect/>
          </a:stretch>
        </p:blipFill>
        <p:spPr>
          <a:xfrm>
            <a:off x="1649476" y="908720"/>
            <a:ext cx="5845047" cy="4680520"/>
          </a:xfrm>
          <a:prstGeom prst="rect">
            <a:avLst/>
          </a:prstGeom>
        </p:spPr>
      </p:pic>
    </p:spTree>
    <p:extLst>
      <p:ext uri="{BB962C8B-B14F-4D97-AF65-F5344CB8AC3E}">
        <p14:creationId xmlns:p14="http://schemas.microsoft.com/office/powerpoint/2010/main" xmlns="" val="3070551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768" y="195943"/>
            <a:ext cx="8837024" cy="5981020"/>
          </a:xfrm>
        </p:spPr>
        <p:txBody>
          <a:bodyPr>
            <a:normAutofit/>
          </a:bodyPr>
          <a:lstStyle/>
          <a:p>
            <a:pPr marL="0" indent="0">
              <a:buNone/>
            </a:pPr>
            <a:r>
              <a:rPr lang="en-US" sz="2000" b="1" dirty="0" err="1"/>
              <a:t>Postorder</a:t>
            </a:r>
            <a:r>
              <a:rPr lang="en-US" sz="2000" b="1" dirty="0"/>
              <a:t> traversal</a:t>
            </a:r>
          </a:p>
          <a:p>
            <a:pPr marL="0" indent="0">
              <a:buNone/>
            </a:pPr>
            <a:r>
              <a:rPr lang="en-US" sz="2000" dirty="0"/>
              <a:t>This technique follows the 'left-right root' policy. It means that the first left subtree of the root node is traversed, after that recursively traverses the right subtree, and finally, the root node is traversed. As the root node is traversed after (or post) the left and right subtree, it is called </a:t>
            </a:r>
            <a:r>
              <a:rPr lang="en-US" sz="2000" dirty="0" err="1"/>
              <a:t>postorder</a:t>
            </a:r>
            <a:r>
              <a:rPr lang="en-US" sz="2000" dirty="0"/>
              <a:t> traversal.</a:t>
            </a:r>
          </a:p>
          <a:p>
            <a:pPr marL="0" indent="0">
              <a:buNone/>
            </a:pPr>
            <a:r>
              <a:rPr lang="en-US" sz="2000" b="1" dirty="0"/>
              <a:t>The applications of </a:t>
            </a:r>
            <a:r>
              <a:rPr lang="en-US" sz="2000" b="1" dirty="0" err="1"/>
              <a:t>postorder</a:t>
            </a:r>
            <a:r>
              <a:rPr lang="en-US" sz="2000" b="1" dirty="0"/>
              <a:t> traversal include –</a:t>
            </a:r>
          </a:p>
          <a:p>
            <a:r>
              <a:rPr lang="en-US" sz="2000" dirty="0"/>
              <a:t>It is used to delete the tree.</a:t>
            </a:r>
          </a:p>
          <a:p>
            <a:r>
              <a:rPr lang="en-US" sz="2000" dirty="0"/>
              <a:t>It can also be used to get the postfix expression of an expression tree.</a:t>
            </a:r>
          </a:p>
          <a:p>
            <a:pPr marL="0" indent="0">
              <a:buNone/>
            </a:pPr>
            <a:r>
              <a:rPr lang="en-US" sz="2000" b="1" dirty="0"/>
              <a:t>Algorithm</a:t>
            </a:r>
            <a:endParaRPr lang="en-US" sz="2000" dirty="0"/>
          </a:p>
          <a:p>
            <a:r>
              <a:rPr lang="en-US" sz="2000" dirty="0"/>
              <a:t>Step 1 - Traverse the left subtree recursively.  </a:t>
            </a:r>
          </a:p>
          <a:p>
            <a:r>
              <a:rPr lang="en-US" sz="2000" dirty="0"/>
              <a:t>Step 2 - Traverse the right subtree recursively.  </a:t>
            </a:r>
          </a:p>
          <a:p>
            <a:r>
              <a:rPr lang="en-US" sz="2000" dirty="0"/>
              <a:t>Step 3 - Visit the root node.  </a:t>
            </a:r>
          </a:p>
          <a:p>
            <a:pPr marL="0" indent="0">
              <a:buNone/>
            </a:pPr>
            <a:endParaRPr lang="en-US" sz="2000" dirty="0"/>
          </a:p>
          <a:p>
            <a:endParaRPr lang="en-US" sz="2000" dirty="0"/>
          </a:p>
        </p:txBody>
      </p:sp>
      <p:pic>
        <p:nvPicPr>
          <p:cNvPr id="4" name="Picture 3"/>
          <p:cNvPicPr>
            <a:picLocks noChangeAspect="1"/>
          </p:cNvPicPr>
          <p:nvPr/>
        </p:nvPicPr>
        <p:blipFill>
          <a:blip r:embed="rId2"/>
          <a:stretch>
            <a:fillRect/>
          </a:stretch>
        </p:blipFill>
        <p:spPr>
          <a:xfrm>
            <a:off x="5851548" y="1478961"/>
            <a:ext cx="3161824" cy="2828925"/>
          </a:xfrm>
          <a:prstGeom prst="rect">
            <a:avLst/>
          </a:prstGeom>
        </p:spPr>
      </p:pic>
      <p:sp>
        <p:nvSpPr>
          <p:cNvPr id="5" name="Rectangle 4"/>
          <p:cNvSpPr/>
          <p:nvPr/>
        </p:nvSpPr>
        <p:spPr>
          <a:xfrm>
            <a:off x="5851548" y="4307885"/>
            <a:ext cx="3471848" cy="369332"/>
          </a:xfrm>
          <a:prstGeom prst="rect">
            <a:avLst/>
          </a:prstGeom>
        </p:spPr>
        <p:txBody>
          <a:bodyPr wrap="none">
            <a:spAutoFit/>
          </a:bodyPr>
          <a:lstStyle/>
          <a:p>
            <a:r>
              <a:rPr lang="en-US" b="1" dirty="0">
                <a:solidFill>
                  <a:srgbClr val="333333"/>
                </a:solidFill>
                <a:latin typeface="inter-bold"/>
              </a:rPr>
              <a:t>D → E → B → F → G → C → A</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09D9BF-E71D-BD56-75A9-EBC36BFBF9D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60B42A28-11B2-271F-ECF4-6908CBD9E5A0}"/>
              </a:ext>
            </a:extLst>
          </p:cNvPr>
          <p:cNvPicPr>
            <a:picLocks noGrp="1" noChangeAspect="1"/>
          </p:cNvPicPr>
          <p:nvPr>
            <p:ph idx="1"/>
          </p:nvPr>
        </p:nvPicPr>
        <p:blipFill>
          <a:blip r:embed="rId2"/>
          <a:stretch>
            <a:fillRect/>
          </a:stretch>
        </p:blipFill>
        <p:spPr>
          <a:xfrm>
            <a:off x="1115617" y="548680"/>
            <a:ext cx="6298890" cy="4811961"/>
          </a:xfrm>
          <a:prstGeom prst="rect">
            <a:avLst/>
          </a:prstGeom>
        </p:spPr>
      </p:pic>
    </p:spTree>
    <p:extLst>
      <p:ext uri="{BB962C8B-B14F-4D97-AF65-F5344CB8AC3E}">
        <p14:creationId xmlns:p14="http://schemas.microsoft.com/office/powerpoint/2010/main" xmlns="" val="3954627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 y="156754"/>
            <a:ext cx="8837023" cy="5889580"/>
          </a:xfrm>
        </p:spPr>
        <p:txBody>
          <a:bodyPr>
            <a:normAutofit/>
          </a:bodyPr>
          <a:lstStyle/>
          <a:p>
            <a:pPr marL="0" indent="0">
              <a:buNone/>
            </a:pPr>
            <a:r>
              <a:rPr lang="en-US" b="1" dirty="0" err="1"/>
              <a:t>Inorder</a:t>
            </a:r>
            <a:r>
              <a:rPr lang="en-US" b="1" dirty="0"/>
              <a:t> traversal</a:t>
            </a:r>
          </a:p>
          <a:p>
            <a:pPr marL="0" indent="0">
              <a:buNone/>
            </a:pPr>
            <a:r>
              <a:rPr lang="en-US" sz="2000" dirty="0"/>
              <a:t>This technique follows the 'left root right' policy. It means that first left subtree is visited after that root node is traversed, and finally, the right subtree is traversed. As the root node is traversed between the left and right subtree, it is named </a:t>
            </a:r>
            <a:r>
              <a:rPr lang="en-US" sz="2000" dirty="0" err="1"/>
              <a:t>inorder</a:t>
            </a:r>
            <a:r>
              <a:rPr lang="en-US" sz="2000" dirty="0"/>
              <a:t> traversal.</a:t>
            </a:r>
          </a:p>
          <a:p>
            <a:pPr marL="0" indent="0">
              <a:buNone/>
            </a:pPr>
            <a:r>
              <a:rPr lang="en-US" sz="2000" b="1" dirty="0"/>
              <a:t>The applications of </a:t>
            </a:r>
            <a:r>
              <a:rPr lang="en-US" sz="2000" b="1" dirty="0" err="1"/>
              <a:t>Inorder</a:t>
            </a:r>
            <a:r>
              <a:rPr lang="en-US" sz="2000" b="1" dirty="0"/>
              <a:t> traversal includes -</a:t>
            </a:r>
          </a:p>
          <a:p>
            <a:r>
              <a:rPr lang="en-US" sz="2000" dirty="0"/>
              <a:t>It is used to get the BST nodes in increasing order.</a:t>
            </a:r>
          </a:p>
          <a:p>
            <a:r>
              <a:rPr lang="en-US" sz="2000" dirty="0"/>
              <a:t>It can also be used to get the prefix expression of an expression tree.</a:t>
            </a:r>
          </a:p>
          <a:p>
            <a:pPr marL="0" indent="0">
              <a:buNone/>
            </a:pPr>
            <a:r>
              <a:rPr lang="en-US" sz="2000" b="1" dirty="0"/>
              <a:t>Algorithm</a:t>
            </a:r>
            <a:endParaRPr lang="en-US" sz="2000" dirty="0"/>
          </a:p>
          <a:p>
            <a:r>
              <a:rPr lang="en-US" sz="2000" dirty="0"/>
              <a:t>Step 1 - Traverse the left subtree recursively.  </a:t>
            </a:r>
          </a:p>
          <a:p>
            <a:r>
              <a:rPr lang="en-US" sz="2000" dirty="0"/>
              <a:t>Step 2 - Visit the root node.  </a:t>
            </a:r>
          </a:p>
          <a:p>
            <a:r>
              <a:rPr lang="en-US" sz="2000" dirty="0"/>
              <a:t>Step 3 - Traverse the right subtree recursively.   </a:t>
            </a:r>
          </a:p>
          <a:p>
            <a:pPr marL="0" indent="0">
              <a:buNone/>
            </a:pPr>
            <a:endParaRPr lang="en-US" sz="2000" dirty="0"/>
          </a:p>
        </p:txBody>
      </p:sp>
      <p:pic>
        <p:nvPicPr>
          <p:cNvPr id="4" name="Picture 3"/>
          <p:cNvPicPr>
            <a:picLocks noChangeAspect="1"/>
          </p:cNvPicPr>
          <p:nvPr/>
        </p:nvPicPr>
        <p:blipFill>
          <a:blip r:embed="rId2"/>
          <a:stretch>
            <a:fillRect/>
          </a:stretch>
        </p:blipFill>
        <p:spPr>
          <a:xfrm>
            <a:off x="5701938" y="1518149"/>
            <a:ext cx="3272245" cy="2828925"/>
          </a:xfrm>
          <a:prstGeom prst="rect">
            <a:avLst/>
          </a:prstGeom>
        </p:spPr>
      </p:pic>
      <p:sp>
        <p:nvSpPr>
          <p:cNvPr id="5" name="Rectangle 4"/>
          <p:cNvSpPr/>
          <p:nvPr/>
        </p:nvSpPr>
        <p:spPr>
          <a:xfrm>
            <a:off x="5701937" y="4459179"/>
            <a:ext cx="3463256" cy="369332"/>
          </a:xfrm>
          <a:prstGeom prst="rect">
            <a:avLst/>
          </a:prstGeom>
        </p:spPr>
        <p:txBody>
          <a:bodyPr wrap="none">
            <a:spAutoFit/>
          </a:bodyPr>
          <a:lstStyle/>
          <a:p>
            <a:r>
              <a:rPr lang="en-US" b="1" dirty="0">
                <a:solidFill>
                  <a:srgbClr val="333333"/>
                </a:solidFill>
                <a:latin typeface="inter-bold"/>
              </a:rPr>
              <a:t>D → B → E → A → F → C → G</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4B57A3-0F70-D01A-7AA8-BAB5FA8D116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660DEF09-BC54-AE55-0A15-9AFDFF9CE198}"/>
              </a:ext>
            </a:extLst>
          </p:cNvPr>
          <p:cNvPicPr>
            <a:picLocks noGrp="1" noChangeAspect="1"/>
          </p:cNvPicPr>
          <p:nvPr>
            <p:ph idx="1"/>
          </p:nvPr>
        </p:nvPicPr>
        <p:blipFill>
          <a:blip r:embed="rId2"/>
          <a:stretch>
            <a:fillRect/>
          </a:stretch>
        </p:blipFill>
        <p:spPr>
          <a:xfrm>
            <a:off x="971600" y="1268761"/>
            <a:ext cx="7344815" cy="4145226"/>
          </a:xfrm>
          <a:prstGeom prst="rect">
            <a:avLst/>
          </a:prstGeom>
        </p:spPr>
      </p:pic>
    </p:spTree>
    <p:extLst>
      <p:ext uri="{BB962C8B-B14F-4D97-AF65-F5344CB8AC3E}">
        <p14:creationId xmlns:p14="http://schemas.microsoft.com/office/powerpoint/2010/main" xmlns="" val="1473188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256" y="189761"/>
            <a:ext cx="7886700" cy="874952"/>
          </a:xfrm>
        </p:spPr>
        <p:txBody>
          <a:bodyPr/>
          <a:lstStyle/>
          <a:p>
            <a:pPr algn="ctr"/>
            <a:r>
              <a:rPr lang="en-IN" b="1" dirty="0"/>
              <a:t>Binary search tree</a:t>
            </a:r>
            <a:endParaRPr lang="en-US" b="1" dirty="0"/>
          </a:p>
        </p:txBody>
      </p:sp>
      <p:sp>
        <p:nvSpPr>
          <p:cNvPr id="3" name="Content Placeholder 2"/>
          <p:cNvSpPr>
            <a:spLocks noGrp="1"/>
          </p:cNvSpPr>
          <p:nvPr>
            <p:ph idx="1"/>
          </p:nvPr>
        </p:nvSpPr>
        <p:spPr>
          <a:xfrm>
            <a:off x="628650" y="1052186"/>
            <a:ext cx="7886700" cy="5124777"/>
          </a:xfrm>
        </p:spPr>
        <p:txBody>
          <a:bodyPr>
            <a:normAutofit fontScale="77500" lnSpcReduction="20000"/>
          </a:bodyPr>
          <a:lstStyle/>
          <a:p>
            <a:pPr>
              <a:buNone/>
            </a:pPr>
            <a:r>
              <a:rPr lang="en-US" b="1" dirty="0"/>
              <a:t>What is a Binary Search Tree?</a:t>
            </a:r>
          </a:p>
          <a:p>
            <a:r>
              <a:rPr lang="en-US" dirty="0"/>
              <a:t>A </a:t>
            </a:r>
            <a:r>
              <a:rPr lang="en-US" b="1" dirty="0"/>
              <a:t>Binary Search Tree (BST)</a:t>
            </a:r>
            <a:r>
              <a:rPr lang="en-US" dirty="0"/>
              <a:t> is a binary tree with the following properties:</a:t>
            </a:r>
          </a:p>
          <a:p>
            <a:pPr lvl="1"/>
            <a:r>
              <a:rPr lang="en-US" dirty="0"/>
              <a:t>Each node has </a:t>
            </a:r>
            <a:r>
              <a:rPr lang="en-US" b="1" dirty="0"/>
              <a:t>at most two children</a:t>
            </a:r>
            <a:endParaRPr lang="en-US" dirty="0"/>
          </a:p>
          <a:p>
            <a:pPr lvl="1"/>
            <a:r>
              <a:rPr lang="en-US" dirty="0"/>
              <a:t>The </a:t>
            </a:r>
            <a:r>
              <a:rPr lang="en-US" b="1" dirty="0"/>
              <a:t>left child</a:t>
            </a:r>
            <a:r>
              <a:rPr lang="en-US" dirty="0"/>
              <a:t> contains values </a:t>
            </a:r>
            <a:r>
              <a:rPr lang="en-US" b="1" dirty="0"/>
              <a:t>less than</a:t>
            </a:r>
            <a:r>
              <a:rPr lang="en-US" dirty="0"/>
              <a:t> the parent</a:t>
            </a:r>
          </a:p>
          <a:p>
            <a:pPr lvl="1"/>
            <a:r>
              <a:rPr lang="en-US" dirty="0"/>
              <a:t>The </a:t>
            </a:r>
            <a:r>
              <a:rPr lang="en-US" b="1" dirty="0"/>
              <a:t>right child</a:t>
            </a:r>
            <a:r>
              <a:rPr lang="en-US" dirty="0"/>
              <a:t> contains values </a:t>
            </a:r>
            <a:r>
              <a:rPr lang="en-US" b="1" dirty="0"/>
              <a:t>greater than</a:t>
            </a:r>
            <a:r>
              <a:rPr lang="en-US" dirty="0"/>
              <a:t> the parent</a:t>
            </a:r>
          </a:p>
          <a:p>
            <a:r>
              <a:rPr lang="en-US" dirty="0"/>
              <a:t>BSTs allow </a:t>
            </a:r>
            <a:r>
              <a:rPr lang="en-US" b="1" dirty="0"/>
              <a:t>efficient search, insertion, and deletion</a:t>
            </a:r>
            <a:endParaRPr lang="en-US" dirty="0"/>
          </a:p>
          <a:p>
            <a:pPr>
              <a:buNone/>
            </a:pPr>
            <a:r>
              <a:rPr lang="en-US" b="1" dirty="0"/>
              <a:t>Why Use BSTs?</a:t>
            </a:r>
          </a:p>
          <a:p>
            <a:r>
              <a:rPr lang="en-US" dirty="0"/>
              <a:t>Efficient </a:t>
            </a:r>
            <a:r>
              <a:rPr lang="en-US" b="1" dirty="0"/>
              <a:t>search operations</a:t>
            </a:r>
            <a:r>
              <a:rPr lang="en-US" dirty="0"/>
              <a:t>: O(log n) on average</a:t>
            </a:r>
          </a:p>
          <a:p>
            <a:r>
              <a:rPr lang="en-US" dirty="0"/>
              <a:t>Maintains </a:t>
            </a:r>
            <a:r>
              <a:rPr lang="en-US" b="1" dirty="0"/>
              <a:t>sorted data</a:t>
            </a:r>
            <a:endParaRPr lang="en-US" dirty="0"/>
          </a:p>
          <a:p>
            <a:r>
              <a:rPr lang="en-US" dirty="0"/>
              <a:t>Useful in implementing:</a:t>
            </a:r>
          </a:p>
          <a:p>
            <a:pPr lvl="1"/>
            <a:r>
              <a:rPr lang="en-US" dirty="0"/>
              <a:t>Maps and Sets</a:t>
            </a:r>
          </a:p>
          <a:p>
            <a:pPr lvl="1"/>
            <a:r>
              <a:rPr lang="en-US" dirty="0"/>
              <a:t>Database indices</a:t>
            </a:r>
          </a:p>
          <a:p>
            <a:pPr lvl="1"/>
            <a:r>
              <a:rPr lang="en-US" dirty="0"/>
              <a:t>Memory management</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
            <a:ext cx="7886700" cy="690943"/>
          </a:xfrm>
        </p:spPr>
        <p:txBody>
          <a:bodyPr>
            <a:normAutofit fontScale="90000"/>
          </a:bodyPr>
          <a:lstStyle/>
          <a:p>
            <a:pPr algn="ctr"/>
            <a:r>
              <a:rPr lang="en-US" b="1" dirty="0"/>
              <a:t>Binary Search Tree</a:t>
            </a:r>
          </a:p>
        </p:txBody>
      </p:sp>
      <p:sp>
        <p:nvSpPr>
          <p:cNvPr id="3" name="Content Placeholder 2"/>
          <p:cNvSpPr>
            <a:spLocks noGrp="1"/>
          </p:cNvSpPr>
          <p:nvPr>
            <p:ph idx="1"/>
          </p:nvPr>
        </p:nvSpPr>
        <p:spPr>
          <a:xfrm>
            <a:off x="222161" y="690943"/>
            <a:ext cx="8809149" cy="6057587"/>
          </a:xfrm>
        </p:spPr>
        <p:txBody>
          <a:bodyPr/>
          <a:lstStyle/>
          <a:p>
            <a:pPr marL="0" indent="0">
              <a:buNone/>
            </a:pPr>
            <a:r>
              <a:rPr lang="en-US" sz="2400" dirty="0"/>
              <a:t>A Binary Search Tree (BST) is a tree in which all the nodes follow the below mentioned properties −</a:t>
            </a:r>
          </a:p>
          <a:p>
            <a:r>
              <a:rPr lang="en-US" sz="2400" dirty="0"/>
              <a:t>The value of the key of the left sub-tree is less than the value of its parent (root) node's key.</a:t>
            </a:r>
          </a:p>
          <a:p>
            <a:r>
              <a:rPr lang="en-US" sz="2400" dirty="0"/>
              <a:t>The value of the key of the right sub-tree is greater than or equal to the value of its parent (root) node's key.</a:t>
            </a:r>
          </a:p>
          <a:p>
            <a:r>
              <a:rPr lang="en-US" sz="2400" dirty="0"/>
              <a:t>BST divides all its sub-trees into two segments; the left sub-tree and the right sub-tree and can be defined as −</a:t>
            </a:r>
          </a:p>
          <a:p>
            <a:pPr marL="0" indent="0">
              <a:buNone/>
            </a:pPr>
            <a:endParaRPr lang="en-US" dirty="0"/>
          </a:p>
        </p:txBody>
      </p:sp>
      <p:pic>
        <p:nvPicPr>
          <p:cNvPr id="6" name="Picture 5"/>
          <p:cNvPicPr>
            <a:picLocks noChangeAspect="1"/>
          </p:cNvPicPr>
          <p:nvPr/>
        </p:nvPicPr>
        <p:blipFill>
          <a:blip r:embed="rId2"/>
          <a:stretch>
            <a:fillRect/>
          </a:stretch>
        </p:blipFill>
        <p:spPr>
          <a:xfrm>
            <a:off x="1743477" y="3329020"/>
            <a:ext cx="5766516" cy="781433"/>
          </a:xfrm>
          <a:prstGeom prst="rect">
            <a:avLst/>
          </a:prstGeom>
        </p:spPr>
      </p:pic>
      <p:pic>
        <p:nvPicPr>
          <p:cNvPr id="7" name="Picture 6"/>
          <p:cNvPicPr>
            <a:picLocks noChangeAspect="1"/>
          </p:cNvPicPr>
          <p:nvPr/>
        </p:nvPicPr>
        <p:blipFill>
          <a:blip r:embed="rId3"/>
          <a:stretch>
            <a:fillRect/>
          </a:stretch>
        </p:blipFill>
        <p:spPr>
          <a:xfrm>
            <a:off x="2443767" y="4398739"/>
            <a:ext cx="3680138" cy="234979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4813"/>
            <a:ext cx="7886700" cy="812322"/>
          </a:xfrm>
        </p:spPr>
        <p:txBody>
          <a:bodyPr>
            <a:normAutofit fontScale="90000"/>
          </a:bodyPr>
          <a:lstStyle/>
          <a:p>
            <a:pPr algn="ctr"/>
            <a:r>
              <a:rPr lang="en-US" b="1" dirty="0"/>
              <a:t>BST Node Structure in C</a:t>
            </a:r>
            <a:br>
              <a:rPr lang="en-US" b="1" dirty="0"/>
            </a:br>
            <a:endParaRPr lang="en-US" dirty="0"/>
          </a:p>
        </p:txBody>
      </p:sp>
      <p:sp>
        <p:nvSpPr>
          <p:cNvPr id="3" name="Content Placeholder 2"/>
          <p:cNvSpPr>
            <a:spLocks noGrp="1"/>
          </p:cNvSpPr>
          <p:nvPr>
            <p:ph idx="1"/>
          </p:nvPr>
        </p:nvSpPr>
        <p:spPr>
          <a:xfrm>
            <a:off x="628650" y="826719"/>
            <a:ext cx="7886700" cy="5350245"/>
          </a:xfrm>
        </p:spPr>
        <p:txBody>
          <a:bodyPr/>
          <a:lstStyle/>
          <a:p>
            <a:pPr>
              <a:buNone/>
            </a:pPr>
            <a:r>
              <a:rPr lang="en-US" dirty="0" err="1"/>
              <a:t>struct</a:t>
            </a:r>
            <a:r>
              <a:rPr lang="en-US" dirty="0"/>
              <a:t> Node { </a:t>
            </a:r>
          </a:p>
          <a:p>
            <a:pPr>
              <a:buNone/>
            </a:pPr>
            <a:r>
              <a:rPr lang="en-US" dirty="0" err="1"/>
              <a:t>int</a:t>
            </a:r>
            <a:r>
              <a:rPr lang="en-US" dirty="0"/>
              <a:t> data; </a:t>
            </a:r>
          </a:p>
          <a:p>
            <a:pPr>
              <a:buNone/>
            </a:pPr>
            <a:r>
              <a:rPr lang="en-US" dirty="0" err="1"/>
              <a:t>struct</a:t>
            </a:r>
            <a:r>
              <a:rPr lang="en-US" dirty="0"/>
              <a:t> Node* left; </a:t>
            </a:r>
            <a:r>
              <a:rPr lang="en-US" dirty="0" err="1"/>
              <a:t>struct</a:t>
            </a:r>
            <a:r>
              <a:rPr lang="en-US" dirty="0"/>
              <a:t> Node* right; </a:t>
            </a:r>
          </a:p>
          <a:p>
            <a:pPr>
              <a:buNone/>
            </a:pPr>
            <a:r>
              <a:rPr lang="en-US" dirty="0"/>
              <a:t>}; </a:t>
            </a:r>
          </a:p>
          <a:p>
            <a:r>
              <a:rPr lang="en-US" dirty="0"/>
              <a:t>Each node contains:</a:t>
            </a:r>
          </a:p>
          <a:p>
            <a:pPr lvl="1"/>
            <a:r>
              <a:rPr lang="en-US" dirty="0"/>
              <a:t>An integer value</a:t>
            </a:r>
          </a:p>
          <a:p>
            <a:pPr lvl="1"/>
            <a:r>
              <a:rPr lang="en-US" dirty="0"/>
              <a:t>Pointer to the left child</a:t>
            </a:r>
          </a:p>
          <a:p>
            <a:pPr lvl="1"/>
            <a:r>
              <a:rPr lang="en-US" dirty="0"/>
              <a:t>Pointer to the right child</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557" y="390883"/>
            <a:ext cx="7886700" cy="446244"/>
          </a:xfrm>
        </p:spPr>
        <p:txBody>
          <a:bodyPr>
            <a:normAutofit fontScale="90000"/>
          </a:bodyPr>
          <a:lstStyle/>
          <a:p>
            <a:r>
              <a:rPr lang="en-US" b="1" dirty="0"/>
              <a:t>Basic Operations</a:t>
            </a:r>
            <a:r>
              <a:rPr lang="en-US" dirty="0"/>
              <a:t/>
            </a:r>
            <a:br>
              <a:rPr lang="en-US" dirty="0"/>
            </a:br>
            <a:endParaRPr lang="en-US" dirty="0"/>
          </a:p>
        </p:txBody>
      </p:sp>
      <p:sp>
        <p:nvSpPr>
          <p:cNvPr id="3" name="Content Placeholder 2"/>
          <p:cNvSpPr>
            <a:spLocks noGrp="1"/>
          </p:cNvSpPr>
          <p:nvPr>
            <p:ph idx="1"/>
          </p:nvPr>
        </p:nvSpPr>
        <p:spPr>
          <a:xfrm>
            <a:off x="319557" y="721217"/>
            <a:ext cx="7886700" cy="5679583"/>
          </a:xfrm>
        </p:spPr>
        <p:txBody>
          <a:bodyPr>
            <a:normAutofit fontScale="92500"/>
          </a:bodyPr>
          <a:lstStyle/>
          <a:p>
            <a:pPr marL="0" indent="0">
              <a:buNone/>
            </a:pPr>
            <a:r>
              <a:rPr lang="en-US" sz="2400" dirty="0"/>
              <a:t>Following are the basic operations of a tree −</a:t>
            </a:r>
          </a:p>
          <a:p>
            <a:r>
              <a:rPr lang="en-US" sz="2400" b="1" dirty="0"/>
              <a:t>Search</a:t>
            </a:r>
            <a:r>
              <a:rPr lang="en-US" sz="2400" dirty="0"/>
              <a:t> − Searches an element in a tree.</a:t>
            </a:r>
          </a:p>
          <a:p>
            <a:r>
              <a:rPr lang="en-US" sz="2400" b="1" dirty="0"/>
              <a:t>Insert</a:t>
            </a:r>
            <a:r>
              <a:rPr lang="en-US" sz="2400" dirty="0"/>
              <a:t> − Inserts an element in a tree.</a:t>
            </a:r>
          </a:p>
          <a:p>
            <a:r>
              <a:rPr lang="en-US" sz="2400" b="1" dirty="0"/>
              <a:t>Delete </a:t>
            </a:r>
            <a:r>
              <a:rPr lang="en-US" sz="2400" dirty="0"/>
              <a:t>– remove a element from tree</a:t>
            </a:r>
          </a:p>
          <a:p>
            <a:r>
              <a:rPr lang="en-US" sz="2400" b="1" dirty="0"/>
              <a:t>Pre-order Traversal</a:t>
            </a:r>
            <a:r>
              <a:rPr lang="en-US" sz="2400" dirty="0"/>
              <a:t> − Traverses a tree in a pre-order manner.</a:t>
            </a:r>
          </a:p>
          <a:p>
            <a:r>
              <a:rPr lang="en-US" sz="2400" b="1" dirty="0"/>
              <a:t>In-order Traversal</a:t>
            </a:r>
            <a:r>
              <a:rPr lang="en-US" sz="2400" dirty="0"/>
              <a:t> − Traverses a tree in an in-order manner.</a:t>
            </a:r>
          </a:p>
          <a:p>
            <a:r>
              <a:rPr lang="en-US" sz="2400" b="1" dirty="0"/>
              <a:t>Post-order Traversal</a:t>
            </a:r>
            <a:r>
              <a:rPr lang="en-US" sz="2400" dirty="0"/>
              <a:t> − Traverses a tree in a post-order manner.</a:t>
            </a:r>
          </a:p>
          <a:p>
            <a:pPr marL="0" indent="0">
              <a:buNone/>
            </a:pPr>
            <a:endParaRPr lang="en-US" sz="2400" dirty="0"/>
          </a:p>
          <a:p>
            <a:pPr marL="0" indent="0">
              <a:buNone/>
            </a:pPr>
            <a:r>
              <a:rPr lang="en-US" sz="2400" b="1" dirty="0"/>
              <a:t>Advantages of Binary search tree</a:t>
            </a:r>
          </a:p>
          <a:p>
            <a:r>
              <a:rPr lang="en-US" sz="2400" dirty="0"/>
              <a:t>Searching an element in the Binary search tree is easy as we always have a hint that which sub tree has the desired element.</a:t>
            </a:r>
          </a:p>
          <a:p>
            <a:r>
              <a:rPr lang="en-US" sz="2400" dirty="0"/>
              <a:t>As compared to array and linked lists, insertion and deletion operations are faster in BST.</a:t>
            </a:r>
          </a:p>
          <a:p>
            <a:pPr marL="0" indent="0">
              <a:buNone/>
            </a:pP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830" y="236337"/>
            <a:ext cx="7886700" cy="536396"/>
          </a:xfrm>
        </p:spPr>
        <p:txBody>
          <a:bodyPr>
            <a:normAutofit fontScale="90000"/>
          </a:bodyPr>
          <a:lstStyle/>
          <a:p>
            <a:pPr algn="ctr"/>
            <a:r>
              <a:rPr lang="en-US" b="1" dirty="0"/>
              <a:t>Example</a:t>
            </a:r>
          </a:p>
        </p:txBody>
      </p:sp>
      <p:sp>
        <p:nvSpPr>
          <p:cNvPr id="3" name="Content Placeholder 2"/>
          <p:cNvSpPr>
            <a:spLocks noGrp="1"/>
          </p:cNvSpPr>
          <p:nvPr>
            <p:ph idx="1"/>
          </p:nvPr>
        </p:nvSpPr>
        <p:spPr>
          <a:xfrm>
            <a:off x="193183" y="875763"/>
            <a:ext cx="8809150" cy="5301200"/>
          </a:xfrm>
        </p:spPr>
        <p:txBody>
          <a:bodyPr/>
          <a:lstStyle/>
          <a:p>
            <a:pPr marL="0" indent="0">
              <a:buNone/>
            </a:pPr>
            <a:r>
              <a:rPr lang="en-US" sz="2400" dirty="0"/>
              <a:t>Suppose the data elements are </a:t>
            </a:r>
            <a:r>
              <a:rPr lang="en-US" sz="2400" b="1" dirty="0"/>
              <a:t>- 45, 15, 79, 90, 10, 55, 12, 20, 50</a:t>
            </a:r>
          </a:p>
          <a:p>
            <a:r>
              <a:rPr lang="en-US" sz="2400" dirty="0"/>
              <a:t>First, we have to insert </a:t>
            </a:r>
            <a:r>
              <a:rPr lang="en-US" sz="2400" b="1" dirty="0"/>
              <a:t>45</a:t>
            </a:r>
            <a:r>
              <a:rPr lang="en-US" sz="2400" dirty="0"/>
              <a:t> into the tree as the root of the tree.</a:t>
            </a:r>
          </a:p>
          <a:p>
            <a:r>
              <a:rPr lang="en-US" sz="2400" dirty="0"/>
              <a:t>Then, read the next element; if it is smaller than the root node, insert it as the root of the left </a:t>
            </a:r>
            <a:r>
              <a:rPr lang="en-US" sz="2400" dirty="0" err="1"/>
              <a:t>subtree</a:t>
            </a:r>
            <a:r>
              <a:rPr lang="en-US" sz="2400" dirty="0"/>
              <a:t>, and move to the next element.</a:t>
            </a:r>
          </a:p>
          <a:p>
            <a:r>
              <a:rPr lang="en-US" sz="2400" dirty="0"/>
              <a:t>Otherwise, if the element is larger than the root node, then insert it as the root of the right </a:t>
            </a:r>
            <a:r>
              <a:rPr lang="en-US" sz="2400" dirty="0" err="1"/>
              <a:t>subtree</a:t>
            </a:r>
            <a:r>
              <a:rPr lang="en-US" sz="2400" dirty="0"/>
              <a:t>.</a:t>
            </a:r>
          </a:p>
          <a:p>
            <a:pPr marL="0" indent="0">
              <a:buNone/>
            </a:pPr>
            <a:endParaRPr lang="en-US" dirty="0"/>
          </a:p>
        </p:txBody>
      </p:sp>
      <p:pic>
        <p:nvPicPr>
          <p:cNvPr id="8" name="Picture 7"/>
          <p:cNvPicPr>
            <a:picLocks noChangeAspect="1"/>
          </p:cNvPicPr>
          <p:nvPr/>
        </p:nvPicPr>
        <p:blipFill>
          <a:blip r:embed="rId2"/>
          <a:stretch>
            <a:fillRect/>
          </a:stretch>
        </p:blipFill>
        <p:spPr>
          <a:xfrm>
            <a:off x="396831" y="3816507"/>
            <a:ext cx="1873876" cy="1749246"/>
          </a:xfrm>
          <a:prstGeom prst="rect">
            <a:avLst/>
          </a:prstGeom>
        </p:spPr>
      </p:pic>
      <p:pic>
        <p:nvPicPr>
          <p:cNvPr id="9" name="Picture 8"/>
          <p:cNvPicPr>
            <a:picLocks noChangeAspect="1"/>
          </p:cNvPicPr>
          <p:nvPr/>
        </p:nvPicPr>
        <p:blipFill>
          <a:blip r:embed="rId3"/>
          <a:stretch>
            <a:fillRect/>
          </a:stretch>
        </p:blipFill>
        <p:spPr>
          <a:xfrm>
            <a:off x="2732887" y="3395663"/>
            <a:ext cx="2078831" cy="2781300"/>
          </a:xfrm>
          <a:prstGeom prst="rect">
            <a:avLst/>
          </a:prstGeom>
        </p:spPr>
      </p:pic>
      <p:pic>
        <p:nvPicPr>
          <p:cNvPr id="10" name="Picture 9"/>
          <p:cNvPicPr>
            <a:picLocks noChangeAspect="1"/>
          </p:cNvPicPr>
          <p:nvPr/>
        </p:nvPicPr>
        <p:blipFill>
          <a:blip r:embed="rId4"/>
          <a:stretch>
            <a:fillRect/>
          </a:stretch>
        </p:blipFill>
        <p:spPr>
          <a:xfrm>
            <a:off x="5273899" y="3300480"/>
            <a:ext cx="3009632" cy="267531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93314" y="310055"/>
            <a:ext cx="3666941" cy="2806633"/>
          </a:xfrm>
          <a:prstGeom prst="rect">
            <a:avLst/>
          </a:prstGeom>
        </p:spPr>
      </p:pic>
      <p:pic>
        <p:nvPicPr>
          <p:cNvPr id="7" name="Picture 6"/>
          <p:cNvPicPr>
            <a:picLocks noChangeAspect="1"/>
          </p:cNvPicPr>
          <p:nvPr/>
        </p:nvPicPr>
        <p:blipFill>
          <a:blip r:embed="rId3"/>
          <a:stretch>
            <a:fillRect/>
          </a:stretch>
        </p:blipFill>
        <p:spPr>
          <a:xfrm>
            <a:off x="4317642" y="219903"/>
            <a:ext cx="3657600" cy="2896785"/>
          </a:xfrm>
          <a:prstGeom prst="rect">
            <a:avLst/>
          </a:prstGeom>
        </p:spPr>
      </p:pic>
      <p:pic>
        <p:nvPicPr>
          <p:cNvPr id="8" name="Picture 7"/>
          <p:cNvPicPr>
            <a:picLocks noChangeAspect="1"/>
          </p:cNvPicPr>
          <p:nvPr/>
        </p:nvPicPr>
        <p:blipFill>
          <a:blip r:embed="rId4"/>
          <a:stretch>
            <a:fillRect/>
          </a:stretch>
        </p:blipFill>
        <p:spPr>
          <a:xfrm>
            <a:off x="409366" y="3406462"/>
            <a:ext cx="3357563" cy="2924175"/>
          </a:xfrm>
          <a:prstGeom prst="rect">
            <a:avLst/>
          </a:prstGeom>
        </p:spPr>
      </p:pic>
      <p:pic>
        <p:nvPicPr>
          <p:cNvPr id="9" name="Picture 8"/>
          <p:cNvPicPr>
            <a:picLocks noChangeAspect="1"/>
          </p:cNvPicPr>
          <p:nvPr/>
        </p:nvPicPr>
        <p:blipFill>
          <a:blip r:embed="rId5"/>
          <a:stretch>
            <a:fillRect/>
          </a:stretch>
        </p:blipFill>
        <p:spPr>
          <a:xfrm>
            <a:off x="4124317" y="2977836"/>
            <a:ext cx="3500438" cy="33528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91350" y="1227707"/>
            <a:ext cx="3643313" cy="3600450"/>
          </a:xfrm>
          <a:prstGeom prst="rect">
            <a:avLst/>
          </a:prstGeom>
        </p:spPr>
      </p:pic>
      <p:pic>
        <p:nvPicPr>
          <p:cNvPr id="5" name="Picture 4"/>
          <p:cNvPicPr>
            <a:picLocks noChangeAspect="1"/>
          </p:cNvPicPr>
          <p:nvPr/>
        </p:nvPicPr>
        <p:blipFill>
          <a:blip r:embed="rId3"/>
          <a:stretch>
            <a:fillRect/>
          </a:stretch>
        </p:blipFill>
        <p:spPr>
          <a:xfrm>
            <a:off x="4581459" y="1227707"/>
            <a:ext cx="3400425" cy="37528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283" y="189761"/>
            <a:ext cx="7886700" cy="687061"/>
          </a:xfrm>
        </p:spPr>
        <p:txBody>
          <a:bodyPr>
            <a:normAutofit fontScale="90000"/>
          </a:bodyPr>
          <a:lstStyle/>
          <a:p>
            <a:pPr algn="ctr"/>
            <a:r>
              <a:rPr lang="en-IN" b="1" dirty="0"/>
              <a:t>INSERTION ON BST</a:t>
            </a:r>
            <a:endParaRPr lang="en-US" b="1" dirty="0"/>
          </a:p>
        </p:txBody>
      </p:sp>
      <p:sp>
        <p:nvSpPr>
          <p:cNvPr id="5" name="Content Placeholder 4"/>
          <p:cNvSpPr>
            <a:spLocks noGrp="1"/>
          </p:cNvSpPr>
          <p:nvPr>
            <p:ph idx="1"/>
          </p:nvPr>
        </p:nvSpPr>
        <p:spPr>
          <a:xfrm>
            <a:off x="628650" y="1177447"/>
            <a:ext cx="7886700" cy="4999516"/>
          </a:xfrm>
        </p:spPr>
        <p:txBody>
          <a:bodyPr/>
          <a:lstStyle/>
          <a:p>
            <a:r>
              <a:rPr lang="en-US" dirty="0"/>
              <a:t>Start from the root</a:t>
            </a:r>
          </a:p>
          <a:p>
            <a:r>
              <a:rPr lang="en-US" dirty="0"/>
              <a:t>If the new value is smaller, go left</a:t>
            </a:r>
          </a:p>
          <a:p>
            <a:r>
              <a:rPr lang="en-US" dirty="0"/>
              <a:t>If larger, go right</a:t>
            </a:r>
          </a:p>
          <a:p>
            <a:r>
              <a:rPr lang="en-US" dirty="0"/>
              <a:t>Repeat until a NULL child is found</a:t>
            </a:r>
          </a:p>
          <a:p>
            <a:pPr>
              <a:buNone/>
            </a:pPr>
            <a:endParaRPr lang="en-US" dirty="0"/>
          </a:p>
        </p:txBody>
      </p:sp>
      <p:pic>
        <p:nvPicPr>
          <p:cNvPr id="1027" name="Picture 3"/>
          <p:cNvPicPr>
            <a:picLocks noChangeAspect="1" noChangeArrowheads="1"/>
          </p:cNvPicPr>
          <p:nvPr/>
        </p:nvPicPr>
        <p:blipFill>
          <a:blip r:embed="rId2"/>
          <a:srcRect/>
          <a:stretch>
            <a:fillRect/>
          </a:stretch>
        </p:blipFill>
        <p:spPr bwMode="auto">
          <a:xfrm>
            <a:off x="4700554" y="1102943"/>
            <a:ext cx="4271213" cy="465903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6062"/>
            <a:ext cx="7886700" cy="759854"/>
          </a:xfrm>
        </p:spPr>
        <p:txBody>
          <a:bodyPr>
            <a:normAutofit fontScale="90000"/>
          </a:bodyPr>
          <a:lstStyle/>
          <a:p>
            <a:pPr algn="ctr"/>
            <a:r>
              <a:rPr lang="en-US" b="1" dirty="0"/>
              <a:t>Searching in Binary search tree</a:t>
            </a:r>
            <a:br>
              <a:rPr lang="en-US" b="1" dirty="0"/>
            </a:br>
            <a:endParaRPr lang="en-US" b="1" dirty="0"/>
          </a:p>
        </p:txBody>
      </p:sp>
      <p:sp>
        <p:nvSpPr>
          <p:cNvPr id="3" name="Content Placeholder 2"/>
          <p:cNvSpPr>
            <a:spLocks noGrp="1"/>
          </p:cNvSpPr>
          <p:nvPr>
            <p:ph idx="1"/>
          </p:nvPr>
        </p:nvSpPr>
        <p:spPr>
          <a:xfrm>
            <a:off x="270456" y="669701"/>
            <a:ext cx="8567671" cy="5950040"/>
          </a:xfrm>
        </p:spPr>
        <p:txBody>
          <a:bodyPr>
            <a:normAutofit/>
          </a:bodyPr>
          <a:lstStyle/>
          <a:p>
            <a:r>
              <a:rPr lang="en-US" sz="2000" dirty="0"/>
              <a:t>First, compare the element to be searched with the root element of the tree.</a:t>
            </a:r>
          </a:p>
          <a:p>
            <a:r>
              <a:rPr lang="en-US" sz="2000" dirty="0"/>
              <a:t>If root is matched with the target element, then return the node's location.</a:t>
            </a:r>
          </a:p>
          <a:p>
            <a:r>
              <a:rPr lang="en-US" sz="2000" dirty="0"/>
              <a:t>If it is not matched, then check whether the item is less than the root element, if it is smaller than the root element, then move to the left </a:t>
            </a:r>
            <a:r>
              <a:rPr lang="en-US" sz="2000" dirty="0" err="1"/>
              <a:t>subtree</a:t>
            </a:r>
            <a:r>
              <a:rPr lang="en-US" sz="2000" dirty="0"/>
              <a:t>.</a:t>
            </a:r>
          </a:p>
          <a:p>
            <a:r>
              <a:rPr lang="en-US" sz="2000" dirty="0"/>
              <a:t>If it is larger than the root element, then move to the right </a:t>
            </a:r>
            <a:r>
              <a:rPr lang="en-US" sz="2000" dirty="0" err="1"/>
              <a:t>subtree</a:t>
            </a:r>
            <a:r>
              <a:rPr lang="en-US" sz="2000" dirty="0"/>
              <a:t>.</a:t>
            </a:r>
          </a:p>
          <a:p>
            <a:r>
              <a:rPr lang="en-US" sz="2000" dirty="0"/>
              <a:t>Repeat the above procedure recursively until the match is found.</a:t>
            </a:r>
          </a:p>
          <a:p>
            <a:r>
              <a:rPr lang="en-US" sz="2000" dirty="0"/>
              <a:t>If the element is not found or not present in the tree, then return NULL.</a:t>
            </a:r>
          </a:p>
          <a:p>
            <a:pPr marL="0" indent="0">
              <a:buNone/>
            </a:pPr>
            <a:endParaRPr lang="en-US" sz="2000" dirty="0"/>
          </a:p>
        </p:txBody>
      </p:sp>
      <p:pic>
        <p:nvPicPr>
          <p:cNvPr id="4" name="Picture 3"/>
          <p:cNvPicPr>
            <a:picLocks noChangeAspect="1"/>
          </p:cNvPicPr>
          <p:nvPr/>
        </p:nvPicPr>
        <p:blipFill>
          <a:blip r:embed="rId2"/>
          <a:stretch>
            <a:fillRect/>
          </a:stretch>
        </p:blipFill>
        <p:spPr>
          <a:xfrm>
            <a:off x="0" y="3394588"/>
            <a:ext cx="3085044" cy="3167198"/>
          </a:xfrm>
          <a:prstGeom prst="rect">
            <a:avLst/>
          </a:prstGeom>
        </p:spPr>
      </p:pic>
      <p:pic>
        <p:nvPicPr>
          <p:cNvPr id="5" name="Picture 4"/>
          <p:cNvPicPr>
            <a:picLocks noChangeAspect="1"/>
          </p:cNvPicPr>
          <p:nvPr/>
        </p:nvPicPr>
        <p:blipFill>
          <a:blip r:embed="rId3"/>
          <a:stretch>
            <a:fillRect/>
          </a:stretch>
        </p:blipFill>
        <p:spPr>
          <a:xfrm>
            <a:off x="2530699" y="3568956"/>
            <a:ext cx="3212675" cy="2819468"/>
          </a:xfrm>
          <a:prstGeom prst="rect">
            <a:avLst/>
          </a:prstGeom>
        </p:spPr>
      </p:pic>
      <p:pic>
        <p:nvPicPr>
          <p:cNvPr id="6" name="Picture 5"/>
          <p:cNvPicPr>
            <a:picLocks noChangeAspect="1"/>
          </p:cNvPicPr>
          <p:nvPr/>
        </p:nvPicPr>
        <p:blipFill>
          <a:blip r:embed="rId4"/>
          <a:stretch>
            <a:fillRect/>
          </a:stretch>
        </p:blipFill>
        <p:spPr>
          <a:xfrm>
            <a:off x="5510975" y="3684615"/>
            <a:ext cx="3559550" cy="281946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37582"/>
          </a:xfrm>
        </p:spPr>
        <p:txBody>
          <a:bodyPr/>
          <a:lstStyle/>
          <a:p>
            <a:pPr algn="ctr"/>
            <a:r>
              <a:rPr lang="en-IN" b="1" dirty="0"/>
              <a:t>SEARCH IN BST</a:t>
            </a:r>
            <a:endParaRPr lang="en-US" b="1" dirty="0"/>
          </a:p>
        </p:txBody>
      </p:sp>
      <p:pic>
        <p:nvPicPr>
          <p:cNvPr id="2050" name="Picture 2"/>
          <p:cNvPicPr>
            <a:picLocks noGrp="1" noChangeAspect="1" noChangeArrowheads="1"/>
          </p:cNvPicPr>
          <p:nvPr>
            <p:ph idx="1"/>
          </p:nvPr>
        </p:nvPicPr>
        <p:blipFill>
          <a:blip r:embed="rId2"/>
          <a:srcRect/>
          <a:stretch>
            <a:fillRect/>
          </a:stretch>
        </p:blipFill>
        <p:spPr bwMode="auto">
          <a:xfrm>
            <a:off x="1634647" y="1803748"/>
            <a:ext cx="5777630" cy="478494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97760"/>
          </a:xfrm>
        </p:spPr>
        <p:txBody>
          <a:bodyPr>
            <a:normAutofit fontScale="90000"/>
          </a:bodyPr>
          <a:lstStyle/>
          <a:p>
            <a:pPr algn="ctr"/>
            <a:r>
              <a:rPr lang="en-US" b="1" dirty="0"/>
              <a:t>Deletion in Binary Search tree</a:t>
            </a:r>
            <a:r>
              <a:rPr lang="en-US" dirty="0"/>
              <a:t/>
            </a:r>
            <a:br>
              <a:rPr lang="en-US" dirty="0"/>
            </a:br>
            <a:endParaRPr lang="en-US" dirty="0"/>
          </a:p>
        </p:txBody>
      </p:sp>
      <p:sp>
        <p:nvSpPr>
          <p:cNvPr id="3" name="Content Placeholder 2"/>
          <p:cNvSpPr>
            <a:spLocks noGrp="1"/>
          </p:cNvSpPr>
          <p:nvPr>
            <p:ph idx="1"/>
          </p:nvPr>
        </p:nvSpPr>
        <p:spPr>
          <a:xfrm>
            <a:off x="193184" y="734096"/>
            <a:ext cx="8818809" cy="5808372"/>
          </a:xfrm>
        </p:spPr>
        <p:txBody>
          <a:bodyPr>
            <a:normAutofit/>
          </a:bodyPr>
          <a:lstStyle/>
          <a:p>
            <a:pPr marL="0" indent="0">
              <a:buNone/>
            </a:pPr>
            <a:r>
              <a:rPr lang="en-US" sz="2400" dirty="0"/>
              <a:t>In a binary search tree, we must delete a node from the tree by keeping in mind that the property of BST is not violated. To delete a node from BST, there are three possible situations occur -</a:t>
            </a:r>
          </a:p>
          <a:p>
            <a:r>
              <a:rPr lang="en-US" sz="2400" dirty="0"/>
              <a:t>The node to be deleted is the leaf node, or,</a:t>
            </a:r>
          </a:p>
          <a:p>
            <a:r>
              <a:rPr lang="en-US" sz="2400" dirty="0"/>
              <a:t>The node to be deleted has only one child, and,</a:t>
            </a:r>
          </a:p>
          <a:p>
            <a:r>
              <a:rPr lang="en-US" sz="2400" dirty="0"/>
              <a:t>The node to be deleted has two children</a:t>
            </a:r>
          </a:p>
          <a:p>
            <a:pPr marL="0" indent="0">
              <a:buNone/>
            </a:pPr>
            <a:r>
              <a:rPr lang="en-US" sz="2400" b="1" dirty="0"/>
              <a:t>When the node to be deleted is the leaf node, to replace the leaf node with NULL and simply free the allocated space.</a:t>
            </a:r>
          </a:p>
          <a:p>
            <a:pPr marL="0" indent="0">
              <a:buNone/>
            </a:pPr>
            <a:endParaRPr lang="en-US" sz="2400" b="1" dirty="0"/>
          </a:p>
        </p:txBody>
      </p:sp>
      <p:pic>
        <p:nvPicPr>
          <p:cNvPr id="4" name="Picture 3"/>
          <p:cNvPicPr>
            <a:picLocks noChangeAspect="1"/>
          </p:cNvPicPr>
          <p:nvPr/>
        </p:nvPicPr>
        <p:blipFill>
          <a:blip r:embed="rId2"/>
          <a:stretch>
            <a:fillRect/>
          </a:stretch>
        </p:blipFill>
        <p:spPr>
          <a:xfrm>
            <a:off x="1052848" y="3948782"/>
            <a:ext cx="6539248" cy="259368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139" y="257577"/>
            <a:ext cx="8538692" cy="6259133"/>
          </a:xfrm>
        </p:spPr>
        <p:txBody>
          <a:bodyPr/>
          <a:lstStyle/>
          <a:p>
            <a:pPr marL="0" indent="0">
              <a:buNone/>
            </a:pPr>
            <a:endParaRPr lang="en-US" sz="2400" b="1" dirty="0"/>
          </a:p>
          <a:p>
            <a:pPr marL="0" indent="0">
              <a:buNone/>
            </a:pPr>
            <a:endParaRPr lang="en-US" sz="2400" b="1" dirty="0"/>
          </a:p>
          <a:p>
            <a:pPr marL="0" indent="0">
              <a:buNone/>
            </a:pPr>
            <a:r>
              <a:rPr lang="en-US" sz="2400" b="1" dirty="0"/>
              <a:t>When the node to be deleted has only one child, to replace the target node with its child, and then delete the child node.</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dirty="0"/>
          </a:p>
        </p:txBody>
      </p:sp>
      <p:pic>
        <p:nvPicPr>
          <p:cNvPr id="4" name="Picture 3"/>
          <p:cNvPicPr>
            <a:picLocks noChangeAspect="1"/>
          </p:cNvPicPr>
          <p:nvPr/>
        </p:nvPicPr>
        <p:blipFill>
          <a:blip r:embed="rId2"/>
          <a:stretch>
            <a:fillRect/>
          </a:stretch>
        </p:blipFill>
        <p:spPr>
          <a:xfrm>
            <a:off x="714779" y="2398686"/>
            <a:ext cx="6713112" cy="244376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3524" y="257577"/>
            <a:ext cx="8770512" cy="6310648"/>
          </a:xfrm>
        </p:spPr>
        <p:txBody>
          <a:bodyPr>
            <a:normAutofit/>
          </a:bodyPr>
          <a:lstStyle/>
          <a:p>
            <a:pPr marL="0" indent="0">
              <a:buNone/>
            </a:pPr>
            <a:r>
              <a:rPr lang="en-US" sz="2400" b="1" dirty="0"/>
              <a:t>When the node to be deleted has two children</a:t>
            </a:r>
            <a:endParaRPr lang="en-US" sz="2400" dirty="0"/>
          </a:p>
          <a:p>
            <a:pPr marL="0" indent="0">
              <a:buNone/>
            </a:pPr>
            <a:r>
              <a:rPr lang="en-US" sz="2400" dirty="0"/>
              <a:t>This case of deleting a node in BST is a bit complex among other two cases. In such a case, the steps to be followed are listed as follows -</a:t>
            </a:r>
          </a:p>
          <a:p>
            <a:r>
              <a:rPr lang="en-US" sz="2400" dirty="0"/>
              <a:t>First, find the </a:t>
            </a:r>
            <a:r>
              <a:rPr lang="en-US" sz="2400" dirty="0" err="1"/>
              <a:t>inorder</a:t>
            </a:r>
            <a:r>
              <a:rPr lang="en-US" sz="2400" dirty="0"/>
              <a:t> successor of the node to be deleted.</a:t>
            </a:r>
          </a:p>
          <a:p>
            <a:r>
              <a:rPr lang="en-US" sz="2400" dirty="0"/>
              <a:t>After that, replace that node with the </a:t>
            </a:r>
            <a:r>
              <a:rPr lang="en-US" sz="2400" dirty="0" err="1"/>
              <a:t>inorder</a:t>
            </a:r>
            <a:r>
              <a:rPr lang="en-US" sz="2400" dirty="0"/>
              <a:t> successor until the target node is placed at the leaf of tree.</a:t>
            </a:r>
          </a:p>
          <a:p>
            <a:r>
              <a:rPr lang="en-US" sz="2400" dirty="0"/>
              <a:t>And at last, replace the node with NULL and free up the allocated space.</a:t>
            </a:r>
          </a:p>
          <a:p>
            <a:pPr marL="0" indent="0">
              <a:buNone/>
            </a:pPr>
            <a:endParaRPr lang="en-US" sz="2400" dirty="0"/>
          </a:p>
        </p:txBody>
      </p:sp>
      <p:pic>
        <p:nvPicPr>
          <p:cNvPr id="6" name="Picture 5"/>
          <p:cNvPicPr>
            <a:picLocks noChangeAspect="1"/>
          </p:cNvPicPr>
          <p:nvPr/>
        </p:nvPicPr>
        <p:blipFill>
          <a:blip r:embed="rId2"/>
          <a:stretch>
            <a:fillRect/>
          </a:stretch>
        </p:blipFill>
        <p:spPr>
          <a:xfrm>
            <a:off x="956257" y="3412901"/>
            <a:ext cx="6838682" cy="282047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B57624-EBD4-BED0-D14F-F0CCF40C6B2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B1321BF7-804D-739F-181C-CEF2C95DBFEC}"/>
              </a:ext>
            </a:extLst>
          </p:cNvPr>
          <p:cNvPicPr>
            <a:picLocks noGrp="1" noChangeAspect="1"/>
          </p:cNvPicPr>
          <p:nvPr>
            <p:ph idx="1"/>
          </p:nvPr>
        </p:nvPicPr>
        <p:blipFill>
          <a:blip r:embed="rId2"/>
          <a:stretch>
            <a:fillRect/>
          </a:stretch>
        </p:blipFill>
        <p:spPr>
          <a:xfrm>
            <a:off x="899592" y="332656"/>
            <a:ext cx="6876431" cy="6250706"/>
          </a:xfrm>
          <a:prstGeom prst="rect">
            <a:avLst/>
          </a:prstGeom>
        </p:spPr>
      </p:pic>
    </p:spTree>
    <p:extLst>
      <p:ext uri="{BB962C8B-B14F-4D97-AF65-F5344CB8AC3E}">
        <p14:creationId xmlns:p14="http://schemas.microsoft.com/office/powerpoint/2010/main" xmlns="" val="29653160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4FF0CB92-DF4B-8BC6-A68F-CE7813BE2F7F}"/>
              </a:ext>
            </a:extLst>
          </p:cNvPr>
          <p:cNvPicPr>
            <a:picLocks noGrp="1" noChangeAspect="1"/>
          </p:cNvPicPr>
          <p:nvPr>
            <p:ph idx="1"/>
          </p:nvPr>
        </p:nvPicPr>
        <p:blipFill>
          <a:blip r:embed="rId2"/>
          <a:stretch>
            <a:fillRect/>
          </a:stretch>
        </p:blipFill>
        <p:spPr>
          <a:xfrm>
            <a:off x="1245581" y="332656"/>
            <a:ext cx="6652837" cy="3137819"/>
          </a:xfrm>
          <a:prstGeom prst="rect">
            <a:avLst/>
          </a:prstGeom>
        </p:spPr>
      </p:pic>
      <p:pic>
        <p:nvPicPr>
          <p:cNvPr id="7" name="Picture 6">
            <a:extLst>
              <a:ext uri="{FF2B5EF4-FFF2-40B4-BE49-F238E27FC236}">
                <a16:creationId xmlns:a16="http://schemas.microsoft.com/office/drawing/2014/main" xmlns="" id="{7F0D49E5-378B-90F0-825A-5E5BA37C0BFB}"/>
              </a:ext>
            </a:extLst>
          </p:cNvPr>
          <p:cNvPicPr>
            <a:picLocks noChangeAspect="1"/>
          </p:cNvPicPr>
          <p:nvPr/>
        </p:nvPicPr>
        <p:blipFill>
          <a:blip r:embed="rId3"/>
          <a:stretch>
            <a:fillRect/>
          </a:stretch>
        </p:blipFill>
        <p:spPr>
          <a:xfrm>
            <a:off x="1277974" y="3933056"/>
            <a:ext cx="7026249" cy="2448272"/>
          </a:xfrm>
          <a:prstGeom prst="rect">
            <a:avLst/>
          </a:prstGeom>
        </p:spPr>
      </p:pic>
    </p:spTree>
    <p:extLst>
      <p:ext uri="{BB962C8B-B14F-4D97-AF65-F5344CB8AC3E}">
        <p14:creationId xmlns:p14="http://schemas.microsoft.com/office/powerpoint/2010/main" xmlns="" val="2792829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71943"/>
            <a:ext cx="7886700" cy="575033"/>
          </a:xfrm>
        </p:spPr>
        <p:txBody>
          <a:bodyPr>
            <a:normAutofit fontScale="90000"/>
          </a:bodyPr>
          <a:lstStyle/>
          <a:p>
            <a:pPr algn="ctr"/>
            <a:r>
              <a:rPr lang="en-US" b="1" dirty="0"/>
              <a:t>AVL tree</a:t>
            </a:r>
          </a:p>
        </p:txBody>
      </p:sp>
      <p:sp>
        <p:nvSpPr>
          <p:cNvPr id="3" name="Content Placeholder 2"/>
          <p:cNvSpPr>
            <a:spLocks noGrp="1"/>
          </p:cNvSpPr>
          <p:nvPr>
            <p:ph idx="1"/>
          </p:nvPr>
        </p:nvSpPr>
        <p:spPr>
          <a:xfrm>
            <a:off x="119539" y="746760"/>
            <a:ext cx="8904923" cy="5911850"/>
          </a:xfrm>
        </p:spPr>
        <p:txBody>
          <a:bodyPr>
            <a:noAutofit/>
          </a:bodyPr>
          <a:lstStyle/>
          <a:p>
            <a:pPr marL="0" indent="0">
              <a:buNone/>
            </a:pPr>
            <a:r>
              <a:rPr lang="en-US" sz="2300" dirty="0" smtClean="0"/>
              <a:t>AVL </a:t>
            </a:r>
            <a:r>
              <a:rPr lang="en-US" sz="2300" dirty="0"/>
              <a:t>tree is a binary search tree in which the difference of heights of left and right </a:t>
            </a:r>
            <a:r>
              <a:rPr lang="en-US" sz="2300" dirty="0" err="1"/>
              <a:t>subtrees</a:t>
            </a:r>
            <a:r>
              <a:rPr lang="en-US" sz="2300" dirty="0"/>
              <a:t> of any node is less than or equal to one. </a:t>
            </a:r>
            <a:r>
              <a:rPr lang="en-US" sz="2300" dirty="0" smtClean="0"/>
              <a:t>The </a:t>
            </a:r>
            <a:r>
              <a:rPr lang="en-US" sz="2300" dirty="0"/>
              <a:t>technique of balancing the height of binary trees was developed by </a:t>
            </a:r>
            <a:r>
              <a:rPr lang="en-US" sz="2300" dirty="0" err="1"/>
              <a:t>Adelson</a:t>
            </a:r>
            <a:r>
              <a:rPr lang="en-US" sz="2300" dirty="0"/>
              <a:t>, </a:t>
            </a:r>
            <a:r>
              <a:rPr lang="en-US" sz="2300" dirty="0" err="1"/>
              <a:t>Velskii</a:t>
            </a:r>
            <a:r>
              <a:rPr lang="en-US" sz="2300" dirty="0"/>
              <a:t>, and </a:t>
            </a:r>
            <a:r>
              <a:rPr lang="en-US" sz="2300" dirty="0" err="1"/>
              <a:t>Landi</a:t>
            </a:r>
            <a:r>
              <a:rPr lang="en-US" sz="2300" dirty="0"/>
              <a:t> and hence given the short form as AVL tree or Balanced Binary Tree</a:t>
            </a:r>
            <a:r>
              <a:rPr lang="en-US" sz="2300" dirty="0" smtClean="0"/>
              <a:t>.</a:t>
            </a:r>
            <a:endParaRPr lang="en-US" sz="2300" dirty="0"/>
          </a:p>
          <a:p>
            <a:pPr marL="0" indent="0">
              <a:buNone/>
            </a:pPr>
            <a:r>
              <a:rPr lang="en-US" sz="2300" u="sng" dirty="0"/>
              <a:t>An AVL tree can be defined as follows:</a:t>
            </a:r>
            <a:endParaRPr lang="en-US" sz="2300" dirty="0"/>
          </a:p>
          <a:p>
            <a:r>
              <a:rPr lang="en-US" sz="2300" dirty="0"/>
              <a:t>Let T be a non-empty binary tree with T</a:t>
            </a:r>
            <a:r>
              <a:rPr lang="en-US" sz="2300" baseline="-25000" dirty="0"/>
              <a:t>L</a:t>
            </a:r>
            <a:r>
              <a:rPr lang="en-US" sz="2300" dirty="0"/>
              <a:t> and T</a:t>
            </a:r>
            <a:r>
              <a:rPr lang="en-US" sz="2300" baseline="-25000" dirty="0"/>
              <a:t>R</a:t>
            </a:r>
            <a:r>
              <a:rPr lang="en-US" sz="2300" dirty="0"/>
              <a:t> as its left and right </a:t>
            </a:r>
            <a:r>
              <a:rPr lang="en-US" sz="2300" dirty="0" err="1"/>
              <a:t>subtrees</a:t>
            </a:r>
            <a:r>
              <a:rPr lang="en-US" sz="2300" dirty="0"/>
              <a:t>. The tree is height balanced if:</a:t>
            </a:r>
          </a:p>
          <a:p>
            <a:r>
              <a:rPr lang="en-US" sz="2300" dirty="0"/>
              <a:t>T</a:t>
            </a:r>
            <a:r>
              <a:rPr lang="en-US" sz="2300" baseline="-25000" dirty="0"/>
              <a:t>L</a:t>
            </a:r>
            <a:r>
              <a:rPr lang="en-US" sz="2300" dirty="0"/>
              <a:t> and T</a:t>
            </a:r>
            <a:r>
              <a:rPr lang="en-US" sz="2300" baseline="-25000" dirty="0"/>
              <a:t>R</a:t>
            </a:r>
            <a:r>
              <a:rPr lang="en-US" sz="2300" dirty="0"/>
              <a:t> are height balanced</a:t>
            </a:r>
          </a:p>
          <a:p>
            <a:r>
              <a:rPr lang="en-US" sz="2300" dirty="0" err="1"/>
              <a:t>h</a:t>
            </a:r>
            <a:r>
              <a:rPr lang="en-US" sz="2300" baseline="-25000" dirty="0" err="1"/>
              <a:t>L</a:t>
            </a:r>
            <a:r>
              <a:rPr lang="en-US" sz="2300" dirty="0"/>
              <a:t> - </a:t>
            </a:r>
            <a:r>
              <a:rPr lang="en-US" sz="2300" dirty="0" err="1"/>
              <a:t>h</a:t>
            </a:r>
            <a:r>
              <a:rPr lang="en-US" sz="2300" baseline="-25000" dirty="0" err="1"/>
              <a:t>R</a:t>
            </a:r>
            <a:r>
              <a:rPr lang="en-US" sz="2300" dirty="0"/>
              <a:t> &lt;= 1, where </a:t>
            </a:r>
            <a:r>
              <a:rPr lang="en-US" sz="2300" dirty="0" err="1"/>
              <a:t>h</a:t>
            </a:r>
            <a:r>
              <a:rPr lang="en-US" sz="2300" baseline="-25000" dirty="0" err="1"/>
              <a:t>L</a:t>
            </a:r>
            <a:r>
              <a:rPr lang="en-US" sz="2300" dirty="0"/>
              <a:t> - </a:t>
            </a:r>
            <a:r>
              <a:rPr lang="en-US" sz="2300" dirty="0" err="1"/>
              <a:t>h</a:t>
            </a:r>
            <a:r>
              <a:rPr lang="en-US" sz="2300" baseline="-25000" dirty="0" err="1"/>
              <a:t>R</a:t>
            </a:r>
            <a:r>
              <a:rPr lang="en-US" sz="2300" dirty="0"/>
              <a:t> are the heights of T</a:t>
            </a:r>
            <a:r>
              <a:rPr lang="en-US" sz="2300" baseline="-25000" dirty="0"/>
              <a:t>L</a:t>
            </a:r>
            <a:r>
              <a:rPr lang="en-US" sz="2300" dirty="0"/>
              <a:t> and T</a:t>
            </a:r>
            <a:r>
              <a:rPr lang="en-US" sz="2300" baseline="-25000" dirty="0"/>
              <a:t>R</a:t>
            </a:r>
            <a:endParaRPr lang="en-US" sz="2300" dirty="0"/>
          </a:p>
          <a:p>
            <a:pPr marL="0" indent="0">
              <a:buNone/>
            </a:pPr>
            <a:r>
              <a:rPr lang="en-US" sz="2300" dirty="0"/>
              <a:t>The Balance factor of a node in a binary tree can have value 1, -1, 0, depending on whether the height of its left </a:t>
            </a:r>
            <a:r>
              <a:rPr lang="en-US" sz="2300" dirty="0" err="1"/>
              <a:t>subtree</a:t>
            </a:r>
            <a:r>
              <a:rPr lang="en-US" sz="2300" dirty="0"/>
              <a:t> is greater, less than or equal to the height of the right </a:t>
            </a:r>
            <a:r>
              <a:rPr lang="en-US" sz="2300" dirty="0" err="1"/>
              <a:t>subtree</a:t>
            </a:r>
            <a:r>
              <a:rPr lang="en-US" sz="2300" dirty="0"/>
              <a:t>.</a:t>
            </a:r>
          </a:p>
          <a:p>
            <a:pPr marL="0" indent="0">
              <a:buNone/>
            </a:pPr>
            <a:r>
              <a:rPr lang="en-US" sz="2300" b="1">
                <a:sym typeface="+mn-ea"/>
              </a:rPr>
              <a:t>Why AVL Tree?</a:t>
            </a:r>
            <a:endParaRPr lang="en-US" sz="2300" b="1"/>
          </a:p>
          <a:p>
            <a:pPr marL="0" indent="0" algn="just">
              <a:buNone/>
            </a:pPr>
            <a:r>
              <a:rPr lang="en-US" sz="2300">
                <a:sym typeface="+mn-ea"/>
              </a:rPr>
              <a:t>AVL tree controls the height of the binary search tree by not letting it to be skewed. The time taken for all operations in a binary search tree of height h is O(h). However, it can be extended to O(n) if the BST becomes skewed (i.e. worst case). By limiting this height to log n, AVL tree imposes an upper bound on each operation to be O(log n) where n is the number of nodes.</a:t>
            </a:r>
            <a:endParaRPr lang="en-US" sz="2300"/>
          </a:p>
          <a:p>
            <a:pPr marL="0" indent="0">
              <a:buNone/>
            </a:pPr>
            <a:endParaRPr lang="en-US" sz="2300" dirty="0"/>
          </a:p>
          <a:p>
            <a:pPr marL="0" indent="0">
              <a:buNone/>
            </a:pPr>
            <a:r>
              <a:rPr lang="en-US" sz="2300" dirty="0"/>
              <a:t/>
            </a:r>
            <a:br>
              <a:rPr lang="en-US" sz="2300" dirty="0"/>
            </a:br>
            <a:endParaRPr lang="en-US" sz="2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23825"/>
            <a:ext cx="7886700" cy="541020"/>
          </a:xfrm>
        </p:spPr>
        <p:txBody>
          <a:bodyPr>
            <a:normAutofit fontScale="90000"/>
          </a:bodyPr>
          <a:lstStyle/>
          <a:p>
            <a:r>
              <a:rPr lang="en-US"/>
              <a:t>Operations on AVL tree</a:t>
            </a:r>
          </a:p>
        </p:txBody>
      </p:sp>
      <p:pic>
        <p:nvPicPr>
          <p:cNvPr id="4" name="Content Placeholder 3"/>
          <p:cNvPicPr>
            <a:picLocks noGrp="1" noChangeAspect="1"/>
          </p:cNvPicPr>
          <p:nvPr>
            <p:ph sz="half" idx="1"/>
          </p:nvPr>
        </p:nvPicPr>
        <p:blipFill>
          <a:blip r:embed="rId3"/>
          <a:stretch>
            <a:fillRect/>
          </a:stretch>
        </p:blipFill>
        <p:spPr>
          <a:xfrm>
            <a:off x="-477" y="664845"/>
            <a:ext cx="9144953" cy="3388360"/>
          </a:xfrm>
          <a:prstGeom prst="rect">
            <a:avLst/>
          </a:prstGeom>
        </p:spPr>
      </p:pic>
      <p:pic>
        <p:nvPicPr>
          <p:cNvPr id="5" name="Content Placeholder 4"/>
          <p:cNvPicPr>
            <a:picLocks noGrp="1" noChangeAspect="1"/>
          </p:cNvPicPr>
          <p:nvPr>
            <p:ph sz="half" idx="2"/>
          </p:nvPr>
        </p:nvPicPr>
        <p:blipFill>
          <a:blip r:embed="rId4"/>
          <a:stretch>
            <a:fillRect/>
          </a:stretch>
        </p:blipFill>
        <p:spPr>
          <a:xfrm>
            <a:off x="1" y="4083686"/>
            <a:ext cx="9144476" cy="278828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136207" y="167006"/>
            <a:ext cx="8798243" cy="6010275"/>
          </a:xfrm>
        </p:spPr>
        <p:txBody>
          <a:bodyPr>
            <a:normAutofit fontScale="92500" lnSpcReduction="10000"/>
          </a:bodyPr>
          <a:lstStyle/>
          <a:p>
            <a:pPr marL="0" indent="0">
              <a:buNone/>
            </a:pPr>
            <a:r>
              <a:rPr lang="en-US" b="1"/>
              <a:t>AVL Rotations</a:t>
            </a:r>
          </a:p>
          <a:p>
            <a:pPr marL="0" indent="0">
              <a:buNone/>
            </a:pPr>
            <a:endParaRPr lang="en-US" b="1"/>
          </a:p>
          <a:p>
            <a:pPr marL="0" indent="0" algn="just">
              <a:buNone/>
            </a:pPr>
            <a:r>
              <a:rPr lang="en-US"/>
              <a:t>We perform rotation in AVL tree only in case if Balance Factor is other than -1, 0, and 1. </a:t>
            </a:r>
          </a:p>
          <a:p>
            <a:pPr marL="0" indent="0" algn="just">
              <a:buNone/>
            </a:pPr>
            <a:endParaRPr lang="en-US"/>
          </a:p>
          <a:p>
            <a:pPr marL="0" indent="0" algn="just">
              <a:buNone/>
            </a:pPr>
            <a:r>
              <a:rPr lang="en-US"/>
              <a:t>There are basically four types of rotations which are as follows:</a:t>
            </a:r>
          </a:p>
          <a:p>
            <a:pPr marL="0" indent="0" algn="just">
              <a:buNone/>
            </a:pPr>
            <a:r>
              <a:rPr lang="en-US" b="1"/>
              <a:t>L L rotation: Inserted node is in the left subtree of left subtree of A</a:t>
            </a:r>
          </a:p>
          <a:p>
            <a:pPr marL="0" indent="0" algn="just">
              <a:buNone/>
            </a:pPr>
            <a:r>
              <a:rPr lang="en-US" b="1"/>
              <a:t>R R rotation : Inserted node is in the right subtree of right subtree of A</a:t>
            </a:r>
          </a:p>
          <a:p>
            <a:pPr marL="0" indent="0" algn="just">
              <a:buNone/>
            </a:pPr>
            <a:r>
              <a:rPr lang="en-US" b="1"/>
              <a:t>L R rotation : Inserted node is in the right subtree of left subtree of A</a:t>
            </a:r>
          </a:p>
          <a:p>
            <a:pPr marL="0" indent="0" algn="just">
              <a:buNone/>
            </a:pPr>
            <a:r>
              <a:rPr lang="en-US" b="1"/>
              <a:t>R L rotation : Inserted node is in the left subtree of right subtree of 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53352" y="317500"/>
            <a:ext cx="8910638" cy="6311900"/>
          </a:xfrm>
        </p:spPr>
        <p:txBody>
          <a:bodyPr/>
          <a:lstStyle/>
          <a:p>
            <a:pPr marL="0" indent="0">
              <a:buNone/>
            </a:pPr>
            <a:r>
              <a:rPr lang="en-US"/>
              <a:t>1. RR Rotation</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a:t>2. LL Rotation</a:t>
            </a:r>
          </a:p>
          <a:p>
            <a:pPr marL="0" indent="0">
              <a:buNone/>
            </a:pPr>
            <a:endParaRPr lang="en-US"/>
          </a:p>
        </p:txBody>
      </p:sp>
      <p:pic>
        <p:nvPicPr>
          <p:cNvPr id="5" name="Content Placeholder 4"/>
          <p:cNvPicPr>
            <a:picLocks noGrp="1" noChangeAspect="1"/>
          </p:cNvPicPr>
          <p:nvPr>
            <p:ph sz="half" idx="2"/>
          </p:nvPr>
        </p:nvPicPr>
        <p:blipFill>
          <a:blip r:embed="rId2"/>
          <a:stretch>
            <a:fillRect/>
          </a:stretch>
        </p:blipFill>
        <p:spPr>
          <a:xfrm>
            <a:off x="221457" y="922655"/>
            <a:ext cx="6601301" cy="2551430"/>
          </a:xfrm>
          <a:prstGeom prst="rect">
            <a:avLst/>
          </a:prstGeom>
        </p:spPr>
      </p:pic>
      <p:pic>
        <p:nvPicPr>
          <p:cNvPr id="7" name="Picture 6"/>
          <p:cNvPicPr>
            <a:picLocks noChangeAspect="1"/>
          </p:cNvPicPr>
          <p:nvPr/>
        </p:nvPicPr>
        <p:blipFill>
          <a:blip r:embed="rId3"/>
          <a:stretch>
            <a:fillRect/>
          </a:stretch>
        </p:blipFill>
        <p:spPr>
          <a:xfrm>
            <a:off x="374333" y="3867150"/>
            <a:ext cx="6346031" cy="249809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8109" y="241300"/>
            <a:ext cx="8922068" cy="5935980"/>
          </a:xfrm>
        </p:spPr>
        <p:txBody>
          <a:bodyPr/>
          <a:lstStyle/>
          <a:p>
            <a:pPr marL="0" indent="0">
              <a:buNone/>
            </a:pPr>
            <a:r>
              <a:rPr lang="en-US"/>
              <a:t>3. LR rotation</a:t>
            </a:r>
          </a:p>
          <a:p>
            <a:pPr marL="0" indent="0">
              <a:buNone/>
            </a:pPr>
            <a:endParaRPr lang="en-US"/>
          </a:p>
          <a:p>
            <a:pPr marL="0" indent="0">
              <a:buNone/>
            </a:pPr>
            <a:endParaRPr lang="en-US"/>
          </a:p>
        </p:txBody>
      </p:sp>
      <p:pic>
        <p:nvPicPr>
          <p:cNvPr id="8" name="Content Placeholder 7"/>
          <p:cNvPicPr>
            <a:picLocks noGrp="1" noChangeAspect="1"/>
          </p:cNvPicPr>
          <p:nvPr>
            <p:ph sz="half" idx="2"/>
          </p:nvPr>
        </p:nvPicPr>
        <p:blipFill>
          <a:blip r:embed="rId2"/>
          <a:stretch>
            <a:fillRect/>
          </a:stretch>
        </p:blipFill>
        <p:spPr>
          <a:xfrm>
            <a:off x="108109" y="681990"/>
            <a:ext cx="8922544" cy="2849880"/>
          </a:xfrm>
          <a:prstGeom prst="rect">
            <a:avLst/>
          </a:prstGeom>
        </p:spPr>
      </p:pic>
      <p:pic>
        <p:nvPicPr>
          <p:cNvPr id="9" name="Picture 8"/>
          <p:cNvPicPr>
            <a:picLocks noChangeAspect="1"/>
          </p:cNvPicPr>
          <p:nvPr/>
        </p:nvPicPr>
        <p:blipFill>
          <a:blip r:embed="rId3"/>
          <a:stretch>
            <a:fillRect/>
          </a:stretch>
        </p:blipFill>
        <p:spPr>
          <a:xfrm>
            <a:off x="196216" y="3441701"/>
            <a:ext cx="8833961" cy="36925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6" y="91440"/>
            <a:ext cx="9063038" cy="6085840"/>
          </a:xfrm>
        </p:spPr>
        <p:txBody>
          <a:bodyPr/>
          <a:lstStyle/>
          <a:p>
            <a:pPr marL="0" indent="0">
              <a:buNone/>
            </a:pPr>
            <a:r>
              <a:rPr lang="en-US"/>
              <a:t>4. RL Rotation</a:t>
            </a:r>
          </a:p>
          <a:p>
            <a:pPr marL="0" indent="0">
              <a:buNone/>
            </a:pPr>
            <a:endParaRPr lang="en-US"/>
          </a:p>
        </p:txBody>
      </p:sp>
      <p:pic>
        <p:nvPicPr>
          <p:cNvPr id="5" name="Content Placeholder 4"/>
          <p:cNvPicPr>
            <a:picLocks noGrp="1" noChangeAspect="1"/>
          </p:cNvPicPr>
          <p:nvPr>
            <p:ph sz="half" idx="2"/>
          </p:nvPr>
        </p:nvPicPr>
        <p:blipFill>
          <a:blip r:embed="rId2"/>
          <a:stretch>
            <a:fillRect/>
          </a:stretch>
        </p:blipFill>
        <p:spPr>
          <a:xfrm>
            <a:off x="1" y="525145"/>
            <a:ext cx="9062561" cy="3027680"/>
          </a:xfrm>
          <a:prstGeom prst="rect">
            <a:avLst/>
          </a:prstGeom>
        </p:spPr>
      </p:pic>
      <p:pic>
        <p:nvPicPr>
          <p:cNvPr id="7" name="Picture 6"/>
          <p:cNvPicPr>
            <a:picLocks noChangeAspect="1"/>
          </p:cNvPicPr>
          <p:nvPr/>
        </p:nvPicPr>
        <p:blipFill>
          <a:blip r:embed="rId3"/>
          <a:stretch>
            <a:fillRect/>
          </a:stretch>
        </p:blipFill>
        <p:spPr>
          <a:xfrm>
            <a:off x="86201" y="3552826"/>
            <a:ext cx="8976360" cy="33051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Insert 14, 17, 11, 7, 53, 4, 13 into an empty AVL tree</a:t>
            </a:r>
          </a:p>
        </p:txBody>
      </p:sp>
      <p:sp>
        <p:nvSpPr>
          <p:cNvPr id="4099"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4100"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4101"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4102" name="AutoShape 6"/>
          <p:cNvCxnSpPr>
            <a:cxnSpLocks noChangeShapeType="1"/>
            <a:stCxn id="4099" idx="2"/>
            <a:endCxn id="4101"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4103" name="AutoShape 7"/>
          <p:cNvCxnSpPr>
            <a:cxnSpLocks noChangeShapeType="1"/>
            <a:stCxn id="4099" idx="2"/>
            <a:endCxn id="4100"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4104"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4105" name="AutoShape 9"/>
          <p:cNvCxnSpPr>
            <a:cxnSpLocks noChangeShapeType="1"/>
            <a:stCxn id="4101" idx="2"/>
            <a:endCxn id="4104"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4106"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4107" name="AutoShape 11"/>
          <p:cNvCxnSpPr>
            <a:cxnSpLocks noChangeShapeType="1"/>
            <a:stCxn id="4100" idx="2"/>
            <a:endCxn id="4106"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4108" name="Oval 12"/>
          <p:cNvSpPr>
            <a:spLocks noChangeArrowheads="1"/>
          </p:cNvSpPr>
          <p:nvPr/>
        </p:nvSpPr>
        <p:spPr bwMode="auto">
          <a:xfrm>
            <a:off x="1905000" y="2057400"/>
            <a:ext cx="2133600" cy="2819400"/>
          </a:xfrm>
          <a:prstGeom prst="ellipse">
            <a:avLst/>
          </a:prstGeom>
          <a:noFill/>
          <a:ln w="9525">
            <a:solidFill>
              <a:srgbClr val="FF0000"/>
            </a:solidFill>
            <a:round/>
            <a:headEnd/>
            <a:tailEnd/>
          </a:ln>
          <a:effectLst/>
        </p:spPr>
        <p:txBody>
          <a:bodyPr wrap="none" anchor="ctr"/>
          <a:lstStyle/>
          <a:p>
            <a:endParaRPr lang="en-IN"/>
          </a:p>
        </p:txBody>
      </p:sp>
      <p:sp>
        <p:nvSpPr>
          <p:cNvPr id="4109" name="Rectangle 13"/>
          <p:cNvSpPr>
            <a:spLocks noChangeArrowheads="1"/>
          </p:cNvSpPr>
          <p:nvPr/>
        </p:nvSpPr>
        <p:spPr bwMode="auto">
          <a:xfrm>
            <a:off x="20574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4110" name="AutoShape 14"/>
          <p:cNvCxnSpPr>
            <a:cxnSpLocks noChangeShapeType="1"/>
            <a:endCxn id="4109" idx="0"/>
          </p:cNvCxnSpPr>
          <p:nvPr/>
        </p:nvCxnSpPr>
        <p:spPr bwMode="auto">
          <a:xfrm flipH="1">
            <a:off x="2324100" y="3581400"/>
            <a:ext cx="6096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0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0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0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0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0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0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1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nimBg="1"/>
      <p:bldP spid="4100" grpId="0" animBg="1"/>
      <p:bldP spid="4101" grpId="0" animBg="1"/>
      <p:bldP spid="4104" grpId="0" animBg="1"/>
      <p:bldP spid="4106" grpId="0" animBg="1"/>
      <p:bldP spid="4108" grpId="0" animBg="1"/>
      <p:bldP spid="410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Insert 14, 17, 11, 7, 53, 4, 13 into an empty AVL tree</a:t>
            </a:r>
          </a:p>
        </p:txBody>
      </p:sp>
      <p:sp>
        <p:nvSpPr>
          <p:cNvPr id="3075"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3076"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3077"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3078" name="AutoShape 6"/>
          <p:cNvCxnSpPr>
            <a:cxnSpLocks noChangeShapeType="1"/>
            <a:stCxn id="3075" idx="2"/>
            <a:endCxn id="3077"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3079" name="AutoShape 7"/>
          <p:cNvCxnSpPr>
            <a:cxnSpLocks noChangeShapeType="1"/>
            <a:stCxn id="3075" idx="2"/>
            <a:endCxn id="3076"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3080"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3081" name="AutoShape 9"/>
          <p:cNvCxnSpPr>
            <a:cxnSpLocks noChangeShapeType="1"/>
            <a:stCxn id="3077" idx="2"/>
            <a:endCxn id="3080"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3082"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3083" name="AutoShape 11"/>
          <p:cNvCxnSpPr>
            <a:cxnSpLocks noChangeShapeType="1"/>
            <a:stCxn id="3076" idx="2"/>
            <a:endCxn id="3082"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3084" name="Rectangle 12"/>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3085" name="AutoShape 13"/>
          <p:cNvCxnSpPr>
            <a:cxnSpLocks noChangeShapeType="1"/>
            <a:stCxn id="3077" idx="2"/>
            <a:endCxn id="3084"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5134" name="Rectangle 14"/>
          <p:cNvSpPr>
            <a:spLocks noChangeArrowheads="1"/>
          </p:cNvSpPr>
          <p:nvPr/>
        </p:nvSpPr>
        <p:spPr bwMode="auto">
          <a:xfrm>
            <a:off x="42672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5135" name="AutoShape 15"/>
          <p:cNvCxnSpPr>
            <a:cxnSpLocks noChangeShapeType="1"/>
            <a:endCxn id="5134" idx="0"/>
          </p:cNvCxnSpPr>
          <p:nvPr/>
        </p:nvCxnSpPr>
        <p:spPr bwMode="auto">
          <a:xfrm>
            <a:off x="4076700" y="3581400"/>
            <a:ext cx="4572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insert 12</a:t>
            </a:r>
          </a:p>
        </p:txBody>
      </p:sp>
      <p:sp>
        <p:nvSpPr>
          <p:cNvPr id="4099"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4100"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4101"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4102" name="AutoShape 6"/>
          <p:cNvCxnSpPr>
            <a:cxnSpLocks noChangeShapeType="1"/>
            <a:stCxn id="4099" idx="2"/>
            <a:endCxn id="4101"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4103" name="AutoShape 7"/>
          <p:cNvCxnSpPr>
            <a:cxnSpLocks noChangeShapeType="1"/>
            <a:stCxn id="4099" idx="2"/>
            <a:endCxn id="4100"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4104"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4105" name="AutoShape 9"/>
          <p:cNvCxnSpPr>
            <a:cxnSpLocks noChangeShapeType="1"/>
            <a:stCxn id="4101" idx="2"/>
            <a:endCxn id="4104"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4106"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4107" name="AutoShape 11"/>
          <p:cNvCxnSpPr>
            <a:cxnSpLocks noChangeShapeType="1"/>
            <a:stCxn id="4100" idx="2"/>
            <a:endCxn id="4106"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4108" name="Rectangle 12"/>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4109" name="AutoShape 13"/>
          <p:cNvCxnSpPr>
            <a:cxnSpLocks noChangeShapeType="1"/>
            <a:stCxn id="4101" idx="2"/>
            <a:endCxn id="4108"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4110" name="Rectangle 14"/>
          <p:cNvSpPr>
            <a:spLocks noChangeArrowheads="1"/>
          </p:cNvSpPr>
          <p:nvPr/>
        </p:nvSpPr>
        <p:spPr bwMode="auto">
          <a:xfrm>
            <a:off x="42672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4111" name="AutoShape 15"/>
          <p:cNvCxnSpPr>
            <a:cxnSpLocks noChangeShapeType="1"/>
            <a:stCxn id="4108" idx="2"/>
            <a:endCxn id="4110" idx="0"/>
          </p:cNvCxnSpPr>
          <p:nvPr/>
        </p:nvCxnSpPr>
        <p:spPr bwMode="auto">
          <a:xfrm>
            <a:off x="4076700" y="3581400"/>
            <a:ext cx="457200" cy="457200"/>
          </a:xfrm>
          <a:prstGeom prst="straightConnector1">
            <a:avLst/>
          </a:prstGeom>
          <a:noFill/>
          <a:ln w="9525">
            <a:solidFill>
              <a:schemeClr val="tx1"/>
            </a:solidFill>
            <a:round/>
            <a:headEnd/>
            <a:tailEnd/>
          </a:ln>
          <a:effectLst/>
        </p:spPr>
      </p:cxnSp>
      <p:sp>
        <p:nvSpPr>
          <p:cNvPr id="6160" name="Rectangle 16"/>
          <p:cNvSpPr>
            <a:spLocks noChangeArrowheads="1"/>
          </p:cNvSpPr>
          <p:nvPr/>
        </p:nvSpPr>
        <p:spPr bwMode="auto">
          <a:xfrm>
            <a:off x="3810000" y="4876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6161" name="AutoShape 17"/>
          <p:cNvCxnSpPr>
            <a:cxnSpLocks noChangeShapeType="1"/>
            <a:endCxn id="6160" idx="0"/>
          </p:cNvCxnSpPr>
          <p:nvPr/>
        </p:nvCxnSpPr>
        <p:spPr bwMode="auto">
          <a:xfrm flipH="1">
            <a:off x="4076700" y="4419600"/>
            <a:ext cx="457200" cy="457200"/>
          </a:xfrm>
          <a:prstGeom prst="straightConnector1">
            <a:avLst/>
          </a:prstGeom>
          <a:noFill/>
          <a:ln w="9525">
            <a:solidFill>
              <a:schemeClr val="tx1"/>
            </a:solidFill>
            <a:round/>
            <a:headEnd/>
            <a:tailEnd/>
          </a:ln>
          <a:effectLst/>
        </p:spPr>
      </p:cxnSp>
      <p:sp>
        <p:nvSpPr>
          <p:cNvPr id="6162" name="Oval 18"/>
          <p:cNvSpPr>
            <a:spLocks noChangeArrowheads="1"/>
          </p:cNvSpPr>
          <p:nvPr/>
        </p:nvSpPr>
        <p:spPr bwMode="auto">
          <a:xfrm>
            <a:off x="3124200" y="2971800"/>
            <a:ext cx="2133600" cy="28194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6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0" grpId="0" animBg="1"/>
      <p:bldP spid="616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insert 12</a:t>
            </a:r>
          </a:p>
        </p:txBody>
      </p:sp>
      <p:sp>
        <p:nvSpPr>
          <p:cNvPr id="5123"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5124"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5125"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5126" name="AutoShape 6"/>
          <p:cNvCxnSpPr>
            <a:cxnSpLocks noChangeShapeType="1"/>
            <a:stCxn id="5123" idx="2"/>
            <a:endCxn id="5125"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5127" name="AutoShape 7"/>
          <p:cNvCxnSpPr>
            <a:cxnSpLocks noChangeShapeType="1"/>
            <a:stCxn id="5123" idx="2"/>
            <a:endCxn id="5124"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5128"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5129" name="AutoShape 9"/>
          <p:cNvCxnSpPr>
            <a:cxnSpLocks noChangeShapeType="1"/>
            <a:stCxn id="5125" idx="2"/>
            <a:endCxn id="5128"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5130"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5131" name="AutoShape 11"/>
          <p:cNvCxnSpPr>
            <a:cxnSpLocks noChangeShapeType="1"/>
            <a:stCxn id="5124" idx="2"/>
            <a:endCxn id="5130"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5132" name="Rectangle 12"/>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5133" name="AutoShape 13"/>
          <p:cNvCxnSpPr>
            <a:cxnSpLocks noChangeShapeType="1"/>
            <a:stCxn id="5125" idx="2"/>
            <a:endCxn id="5132"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5134" name="Rectangle 14"/>
          <p:cNvSpPr>
            <a:spLocks noChangeArrowheads="1"/>
          </p:cNvSpPr>
          <p:nvPr/>
        </p:nvSpPr>
        <p:spPr bwMode="auto">
          <a:xfrm>
            <a:off x="4114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5135" name="AutoShape 15"/>
          <p:cNvCxnSpPr>
            <a:cxnSpLocks noChangeShapeType="1"/>
            <a:stCxn id="5132" idx="2"/>
            <a:endCxn id="5134" idx="0"/>
          </p:cNvCxnSpPr>
          <p:nvPr/>
        </p:nvCxnSpPr>
        <p:spPr bwMode="auto">
          <a:xfrm>
            <a:off x="4076700" y="3581400"/>
            <a:ext cx="304800" cy="457200"/>
          </a:xfrm>
          <a:prstGeom prst="straightConnector1">
            <a:avLst/>
          </a:prstGeom>
          <a:noFill/>
          <a:ln w="9525">
            <a:solidFill>
              <a:schemeClr val="tx1"/>
            </a:solidFill>
            <a:round/>
            <a:headEnd/>
            <a:tailEnd/>
          </a:ln>
          <a:effectLst/>
        </p:spPr>
      </p:cxnSp>
      <p:sp>
        <p:nvSpPr>
          <p:cNvPr id="5136" name="Rectangle 16"/>
          <p:cNvSpPr>
            <a:spLocks noChangeArrowheads="1"/>
          </p:cNvSpPr>
          <p:nvPr/>
        </p:nvSpPr>
        <p:spPr bwMode="auto">
          <a:xfrm>
            <a:off x="4419600" y="4876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5137" name="AutoShape 17"/>
          <p:cNvCxnSpPr>
            <a:cxnSpLocks noChangeShapeType="1"/>
            <a:stCxn id="5134" idx="2"/>
            <a:endCxn id="5136" idx="0"/>
          </p:cNvCxnSpPr>
          <p:nvPr/>
        </p:nvCxnSpPr>
        <p:spPr bwMode="auto">
          <a:xfrm>
            <a:off x="4381500" y="4419600"/>
            <a:ext cx="304800" cy="457200"/>
          </a:xfrm>
          <a:prstGeom prst="straightConnector1">
            <a:avLst/>
          </a:prstGeom>
          <a:noFill/>
          <a:ln w="9525">
            <a:solidFill>
              <a:schemeClr val="tx1"/>
            </a:solidFill>
            <a:round/>
            <a:headEnd/>
            <a:tailEnd/>
          </a:ln>
          <a:effectLst/>
        </p:spPr>
      </p:cxnSp>
      <p:sp>
        <p:nvSpPr>
          <p:cNvPr id="7186" name="Oval 18"/>
          <p:cNvSpPr>
            <a:spLocks noChangeArrowheads="1"/>
          </p:cNvSpPr>
          <p:nvPr/>
        </p:nvSpPr>
        <p:spPr bwMode="auto">
          <a:xfrm>
            <a:off x="3124200" y="2971800"/>
            <a:ext cx="2133600" cy="28194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the AVL tree is balanced.</a:t>
            </a:r>
          </a:p>
        </p:txBody>
      </p:sp>
      <p:sp>
        <p:nvSpPr>
          <p:cNvPr id="6147"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6148"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6149"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6150" name="AutoShape 6"/>
          <p:cNvCxnSpPr>
            <a:cxnSpLocks noChangeShapeType="1"/>
            <a:stCxn id="6147" idx="2"/>
            <a:endCxn id="6149"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6151" name="AutoShape 7"/>
          <p:cNvCxnSpPr>
            <a:cxnSpLocks noChangeShapeType="1"/>
            <a:stCxn id="6147" idx="2"/>
            <a:endCxn id="6148"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6152"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6153" name="AutoShape 9"/>
          <p:cNvCxnSpPr>
            <a:cxnSpLocks noChangeShapeType="1"/>
            <a:stCxn id="6149" idx="2"/>
            <a:endCxn id="6152"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6154"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6155" name="AutoShape 11"/>
          <p:cNvCxnSpPr>
            <a:cxnSpLocks noChangeShapeType="1"/>
            <a:stCxn id="6148" idx="2"/>
            <a:endCxn id="6154"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6156" name="Rectangle 12"/>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6157" name="AutoShape 13"/>
          <p:cNvCxnSpPr>
            <a:cxnSpLocks noChangeShapeType="1"/>
            <a:stCxn id="6149" idx="2"/>
            <a:endCxn id="6156"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6158" name="Rectangle 14"/>
          <p:cNvSpPr>
            <a:spLocks noChangeArrowheads="1"/>
          </p:cNvSpPr>
          <p:nvPr/>
        </p:nvSpPr>
        <p:spPr bwMode="auto">
          <a:xfrm>
            <a:off x="42672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6159" name="AutoShape 15"/>
          <p:cNvCxnSpPr>
            <a:cxnSpLocks noChangeShapeType="1"/>
            <a:stCxn id="6156" idx="2"/>
            <a:endCxn id="6158" idx="0"/>
          </p:cNvCxnSpPr>
          <p:nvPr/>
        </p:nvCxnSpPr>
        <p:spPr bwMode="auto">
          <a:xfrm>
            <a:off x="4076700" y="3581400"/>
            <a:ext cx="457200" cy="457200"/>
          </a:xfrm>
          <a:prstGeom prst="straightConnector1">
            <a:avLst/>
          </a:prstGeom>
          <a:noFill/>
          <a:ln w="9525">
            <a:solidFill>
              <a:schemeClr val="tx1"/>
            </a:solidFill>
            <a:round/>
            <a:headEnd/>
            <a:tailEnd/>
          </a:ln>
          <a:effectLst/>
        </p:spPr>
      </p:cxnSp>
      <p:sp>
        <p:nvSpPr>
          <p:cNvPr id="6160" name="Rectangle 16"/>
          <p:cNvSpPr>
            <a:spLocks noChangeArrowheads="1"/>
          </p:cNvSpPr>
          <p:nvPr/>
        </p:nvSpPr>
        <p:spPr bwMode="auto">
          <a:xfrm>
            <a:off x="3352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6161" name="AutoShape 17"/>
          <p:cNvCxnSpPr>
            <a:cxnSpLocks noChangeShapeType="1"/>
            <a:stCxn id="6156" idx="2"/>
            <a:endCxn id="6160" idx="0"/>
          </p:cNvCxnSpPr>
          <p:nvPr/>
        </p:nvCxnSpPr>
        <p:spPr bwMode="auto">
          <a:xfrm flipH="1">
            <a:off x="3619500" y="3581400"/>
            <a:ext cx="4572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insert 8</a:t>
            </a:r>
          </a:p>
        </p:txBody>
      </p:sp>
      <p:sp>
        <p:nvSpPr>
          <p:cNvPr id="7171"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7172"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7173"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7174" name="AutoShape 6"/>
          <p:cNvCxnSpPr>
            <a:cxnSpLocks noChangeShapeType="1"/>
            <a:stCxn id="7171" idx="2"/>
            <a:endCxn id="7173"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7175" name="AutoShape 7"/>
          <p:cNvCxnSpPr>
            <a:cxnSpLocks noChangeShapeType="1"/>
            <a:stCxn id="7171" idx="2"/>
            <a:endCxn id="7172"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7176"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7177" name="AutoShape 9"/>
          <p:cNvCxnSpPr>
            <a:cxnSpLocks noChangeShapeType="1"/>
            <a:stCxn id="7173" idx="2"/>
            <a:endCxn id="7176"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7178"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7179" name="AutoShape 11"/>
          <p:cNvCxnSpPr>
            <a:cxnSpLocks noChangeShapeType="1"/>
            <a:stCxn id="7172" idx="2"/>
            <a:endCxn id="7178"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7180" name="Rectangle 12"/>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7181" name="AutoShape 13"/>
          <p:cNvCxnSpPr>
            <a:cxnSpLocks noChangeShapeType="1"/>
            <a:stCxn id="7173" idx="2"/>
            <a:endCxn id="7180"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7182" name="Rectangle 14"/>
          <p:cNvSpPr>
            <a:spLocks noChangeArrowheads="1"/>
          </p:cNvSpPr>
          <p:nvPr/>
        </p:nvSpPr>
        <p:spPr bwMode="auto">
          <a:xfrm>
            <a:off x="42672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7183" name="AutoShape 15"/>
          <p:cNvCxnSpPr>
            <a:cxnSpLocks noChangeShapeType="1"/>
            <a:stCxn id="7180" idx="2"/>
            <a:endCxn id="7182" idx="0"/>
          </p:cNvCxnSpPr>
          <p:nvPr/>
        </p:nvCxnSpPr>
        <p:spPr bwMode="auto">
          <a:xfrm>
            <a:off x="4076700" y="3581400"/>
            <a:ext cx="457200" cy="457200"/>
          </a:xfrm>
          <a:prstGeom prst="straightConnector1">
            <a:avLst/>
          </a:prstGeom>
          <a:noFill/>
          <a:ln w="9525">
            <a:solidFill>
              <a:schemeClr val="tx1"/>
            </a:solidFill>
            <a:round/>
            <a:headEnd/>
            <a:tailEnd/>
          </a:ln>
          <a:effectLst/>
        </p:spPr>
      </p:cxnSp>
      <p:sp>
        <p:nvSpPr>
          <p:cNvPr id="7184" name="Rectangle 16"/>
          <p:cNvSpPr>
            <a:spLocks noChangeArrowheads="1"/>
          </p:cNvSpPr>
          <p:nvPr/>
        </p:nvSpPr>
        <p:spPr bwMode="auto">
          <a:xfrm>
            <a:off x="3352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7185" name="AutoShape 17"/>
          <p:cNvCxnSpPr>
            <a:cxnSpLocks noChangeShapeType="1"/>
            <a:stCxn id="7180" idx="2"/>
            <a:endCxn id="7184" idx="0"/>
          </p:cNvCxnSpPr>
          <p:nvPr/>
        </p:nvCxnSpPr>
        <p:spPr bwMode="auto">
          <a:xfrm flipH="1">
            <a:off x="3619500" y="3581400"/>
            <a:ext cx="457200" cy="457200"/>
          </a:xfrm>
          <a:prstGeom prst="straightConnector1">
            <a:avLst/>
          </a:prstGeom>
          <a:noFill/>
          <a:ln w="9525">
            <a:solidFill>
              <a:schemeClr val="tx1"/>
            </a:solidFill>
            <a:round/>
            <a:headEnd/>
            <a:tailEnd/>
          </a:ln>
          <a:effectLst/>
        </p:spPr>
      </p:cxnSp>
      <p:sp>
        <p:nvSpPr>
          <p:cNvPr id="9234" name="Rectangle 18"/>
          <p:cNvSpPr>
            <a:spLocks noChangeArrowheads="1"/>
          </p:cNvSpPr>
          <p:nvPr/>
        </p:nvSpPr>
        <p:spPr bwMode="auto">
          <a:xfrm>
            <a:off x="2971800" y="4800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cxnSp>
        <p:nvCxnSpPr>
          <p:cNvPr id="9235" name="AutoShape 19"/>
          <p:cNvCxnSpPr>
            <a:cxnSpLocks noChangeShapeType="1"/>
            <a:stCxn id="7184" idx="2"/>
            <a:endCxn id="9234" idx="0"/>
          </p:cNvCxnSpPr>
          <p:nvPr/>
        </p:nvCxnSpPr>
        <p:spPr bwMode="auto">
          <a:xfrm flipH="1">
            <a:off x="3238500" y="4419600"/>
            <a:ext cx="381000" cy="381000"/>
          </a:xfrm>
          <a:prstGeom prst="straightConnector1">
            <a:avLst/>
          </a:prstGeom>
          <a:noFill/>
          <a:ln w="9525">
            <a:solidFill>
              <a:schemeClr val="tx1"/>
            </a:solidFill>
            <a:round/>
            <a:headEnd/>
            <a:tailEnd/>
          </a:ln>
          <a:effectLst/>
        </p:spPr>
      </p:cxnSp>
      <p:sp>
        <p:nvSpPr>
          <p:cNvPr id="9236" name="Oval 20"/>
          <p:cNvSpPr>
            <a:spLocks noChangeArrowheads="1"/>
          </p:cNvSpPr>
          <p:nvPr/>
        </p:nvSpPr>
        <p:spPr bwMode="auto">
          <a:xfrm>
            <a:off x="2514600" y="2209800"/>
            <a:ext cx="2362200" cy="34290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3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4" grpId="0" animBg="1"/>
      <p:bldP spid="923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insert 8</a:t>
            </a:r>
          </a:p>
        </p:txBody>
      </p:sp>
      <p:sp>
        <p:nvSpPr>
          <p:cNvPr id="8195"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8196"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8197" name="Rectangle 5"/>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8198" name="AutoShape 6"/>
          <p:cNvCxnSpPr>
            <a:cxnSpLocks noChangeShapeType="1"/>
            <a:stCxn id="8195" idx="2"/>
            <a:endCxn id="8197"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8199" name="AutoShape 7"/>
          <p:cNvCxnSpPr>
            <a:cxnSpLocks noChangeShapeType="1"/>
            <a:stCxn id="8195" idx="2"/>
            <a:endCxn id="8196"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8200" name="Rectangle 8"/>
          <p:cNvSpPr>
            <a:spLocks noChangeArrowheads="1"/>
          </p:cNvSpPr>
          <p:nvPr/>
        </p:nvSpPr>
        <p:spPr bwMode="auto">
          <a:xfrm>
            <a:off x="2667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8201" name="AutoShape 9"/>
          <p:cNvCxnSpPr>
            <a:cxnSpLocks noChangeShapeType="1"/>
            <a:stCxn id="8197" idx="2"/>
            <a:endCxn id="8200" idx="0"/>
          </p:cNvCxnSpPr>
          <p:nvPr/>
        </p:nvCxnSpPr>
        <p:spPr bwMode="auto">
          <a:xfrm flipH="1">
            <a:off x="2933700" y="2743200"/>
            <a:ext cx="609600" cy="457200"/>
          </a:xfrm>
          <a:prstGeom prst="straightConnector1">
            <a:avLst/>
          </a:prstGeom>
          <a:noFill/>
          <a:ln w="9525">
            <a:solidFill>
              <a:schemeClr val="tx1"/>
            </a:solidFill>
            <a:round/>
            <a:headEnd/>
            <a:tailEnd/>
          </a:ln>
          <a:effectLst/>
        </p:spPr>
      </p:cxnSp>
      <p:sp>
        <p:nvSpPr>
          <p:cNvPr id="8202" name="Rectangle 10"/>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8203" name="AutoShape 11"/>
          <p:cNvCxnSpPr>
            <a:cxnSpLocks noChangeShapeType="1"/>
            <a:stCxn id="8196" idx="2"/>
            <a:endCxn id="8202"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8204" name="Rectangle 12"/>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cxnSp>
        <p:nvCxnSpPr>
          <p:cNvPr id="8205" name="AutoShape 13"/>
          <p:cNvCxnSpPr>
            <a:cxnSpLocks noChangeShapeType="1"/>
            <a:stCxn id="8197" idx="2"/>
            <a:endCxn id="8204"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8206" name="Rectangle 14"/>
          <p:cNvSpPr>
            <a:spLocks noChangeArrowheads="1"/>
          </p:cNvSpPr>
          <p:nvPr/>
        </p:nvSpPr>
        <p:spPr bwMode="auto">
          <a:xfrm>
            <a:off x="42672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8207" name="AutoShape 15"/>
          <p:cNvCxnSpPr>
            <a:cxnSpLocks noChangeShapeType="1"/>
            <a:stCxn id="8204" idx="2"/>
            <a:endCxn id="8206" idx="0"/>
          </p:cNvCxnSpPr>
          <p:nvPr/>
        </p:nvCxnSpPr>
        <p:spPr bwMode="auto">
          <a:xfrm>
            <a:off x="4076700" y="3581400"/>
            <a:ext cx="457200" cy="457200"/>
          </a:xfrm>
          <a:prstGeom prst="straightConnector1">
            <a:avLst/>
          </a:prstGeom>
          <a:noFill/>
          <a:ln w="9525">
            <a:solidFill>
              <a:schemeClr val="tx1"/>
            </a:solidFill>
            <a:round/>
            <a:headEnd/>
            <a:tailEnd/>
          </a:ln>
          <a:effectLst/>
        </p:spPr>
      </p:cxnSp>
      <p:sp>
        <p:nvSpPr>
          <p:cNvPr id="8208" name="Rectangle 16"/>
          <p:cNvSpPr>
            <a:spLocks noChangeArrowheads="1"/>
          </p:cNvSpPr>
          <p:nvPr/>
        </p:nvSpPr>
        <p:spPr bwMode="auto">
          <a:xfrm>
            <a:off x="3352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cxnSp>
        <p:nvCxnSpPr>
          <p:cNvPr id="8209" name="AutoShape 17"/>
          <p:cNvCxnSpPr>
            <a:cxnSpLocks noChangeShapeType="1"/>
            <a:stCxn id="8204" idx="2"/>
            <a:endCxn id="8208" idx="0"/>
          </p:cNvCxnSpPr>
          <p:nvPr/>
        </p:nvCxnSpPr>
        <p:spPr bwMode="auto">
          <a:xfrm flipH="1">
            <a:off x="3619500" y="3581400"/>
            <a:ext cx="457200" cy="457200"/>
          </a:xfrm>
          <a:prstGeom prst="straightConnector1">
            <a:avLst/>
          </a:prstGeom>
          <a:noFill/>
          <a:ln w="9525">
            <a:solidFill>
              <a:schemeClr val="tx1"/>
            </a:solidFill>
            <a:round/>
            <a:headEnd/>
            <a:tailEnd/>
          </a:ln>
          <a:effectLst/>
        </p:spPr>
      </p:cxnSp>
      <p:sp>
        <p:nvSpPr>
          <p:cNvPr id="8210" name="Rectangle 18"/>
          <p:cNvSpPr>
            <a:spLocks noChangeArrowheads="1"/>
          </p:cNvSpPr>
          <p:nvPr/>
        </p:nvSpPr>
        <p:spPr bwMode="auto">
          <a:xfrm>
            <a:off x="4648200" y="4800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8211" name="AutoShape 19"/>
          <p:cNvCxnSpPr>
            <a:cxnSpLocks noChangeShapeType="1"/>
            <a:stCxn id="8206" idx="2"/>
            <a:endCxn id="8210" idx="0"/>
          </p:cNvCxnSpPr>
          <p:nvPr/>
        </p:nvCxnSpPr>
        <p:spPr bwMode="auto">
          <a:xfrm>
            <a:off x="4533900" y="4419600"/>
            <a:ext cx="381000" cy="381000"/>
          </a:xfrm>
          <a:prstGeom prst="straightConnector1">
            <a:avLst/>
          </a:prstGeom>
          <a:noFill/>
          <a:ln w="9525">
            <a:solidFill>
              <a:schemeClr val="tx1"/>
            </a:solidFill>
            <a:round/>
            <a:headEnd/>
            <a:tailEnd/>
          </a:ln>
          <a:effectLst/>
        </p:spPr>
      </p:cxnSp>
      <p:sp>
        <p:nvSpPr>
          <p:cNvPr id="10260" name="Oval 20"/>
          <p:cNvSpPr>
            <a:spLocks noChangeArrowheads="1"/>
          </p:cNvSpPr>
          <p:nvPr/>
        </p:nvSpPr>
        <p:spPr bwMode="auto">
          <a:xfrm>
            <a:off x="2514600" y="2209800"/>
            <a:ext cx="2743200" cy="35814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the AVL tree is balanced.</a:t>
            </a:r>
          </a:p>
        </p:txBody>
      </p:sp>
      <p:sp>
        <p:nvSpPr>
          <p:cNvPr id="9219"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9220"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9221" name="Rectangle 5"/>
          <p:cNvSpPr>
            <a:spLocks noChangeArrowheads="1"/>
          </p:cNvSpPr>
          <p:nvPr/>
        </p:nvSpPr>
        <p:spPr bwMode="auto">
          <a:xfrm>
            <a:off x="2590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9222" name="AutoShape 6"/>
          <p:cNvCxnSpPr>
            <a:cxnSpLocks noChangeShapeType="1"/>
            <a:stCxn id="9219" idx="2"/>
            <a:endCxn id="9220"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9223" name="Rectangle 7"/>
          <p:cNvSpPr>
            <a:spLocks noChangeArrowheads="1"/>
          </p:cNvSpPr>
          <p:nvPr/>
        </p:nvSpPr>
        <p:spPr bwMode="auto">
          <a:xfrm>
            <a:off x="2209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9224" name="Rectangle 8"/>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9225" name="AutoShape 9"/>
          <p:cNvCxnSpPr>
            <a:cxnSpLocks noChangeShapeType="1"/>
            <a:stCxn id="9220" idx="2"/>
            <a:endCxn id="9224"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9226" name="Rectangle 10"/>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sp>
        <p:nvSpPr>
          <p:cNvPr id="9227" name="Rectangle 11"/>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9228" name="AutoShape 12"/>
          <p:cNvCxnSpPr>
            <a:cxnSpLocks noChangeShapeType="1"/>
            <a:stCxn id="9226" idx="2"/>
            <a:endCxn id="9227"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9229" name="Rectangle 13"/>
          <p:cNvSpPr>
            <a:spLocks noChangeArrowheads="1"/>
          </p:cNvSpPr>
          <p:nvPr/>
        </p:nvSpPr>
        <p:spPr bwMode="auto">
          <a:xfrm>
            <a:off x="2971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cxnSp>
        <p:nvCxnSpPr>
          <p:cNvPr id="9230" name="AutoShape 14"/>
          <p:cNvCxnSpPr>
            <a:cxnSpLocks noChangeShapeType="1"/>
            <a:stCxn id="9221" idx="2"/>
            <a:endCxn id="9229" idx="0"/>
          </p:cNvCxnSpPr>
          <p:nvPr/>
        </p:nvCxnSpPr>
        <p:spPr bwMode="auto">
          <a:xfrm>
            <a:off x="2857500" y="3581400"/>
            <a:ext cx="381000" cy="457200"/>
          </a:xfrm>
          <a:prstGeom prst="straightConnector1">
            <a:avLst/>
          </a:prstGeom>
          <a:noFill/>
          <a:ln w="9525">
            <a:solidFill>
              <a:schemeClr val="tx1"/>
            </a:solidFill>
            <a:round/>
            <a:headEnd/>
            <a:tailEnd/>
          </a:ln>
          <a:effectLst/>
        </p:spPr>
      </p:cxnSp>
      <p:sp>
        <p:nvSpPr>
          <p:cNvPr id="9231" name="Rectangle 15"/>
          <p:cNvSpPr>
            <a:spLocks noChangeArrowheads="1"/>
          </p:cNvSpPr>
          <p:nvPr/>
        </p:nvSpPr>
        <p:spPr bwMode="auto">
          <a:xfrm>
            <a:off x="41910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9232" name="AutoShape 16"/>
          <p:cNvCxnSpPr>
            <a:cxnSpLocks noChangeShapeType="1"/>
            <a:stCxn id="9221" idx="2"/>
            <a:endCxn id="9223" idx="0"/>
          </p:cNvCxnSpPr>
          <p:nvPr/>
        </p:nvCxnSpPr>
        <p:spPr bwMode="auto">
          <a:xfrm flipH="1">
            <a:off x="2476500" y="3581400"/>
            <a:ext cx="381000" cy="457200"/>
          </a:xfrm>
          <a:prstGeom prst="straightConnector1">
            <a:avLst/>
          </a:prstGeom>
          <a:noFill/>
          <a:ln w="9525">
            <a:solidFill>
              <a:schemeClr val="tx1"/>
            </a:solidFill>
            <a:round/>
            <a:headEnd/>
            <a:tailEnd/>
          </a:ln>
          <a:effectLst/>
        </p:spPr>
      </p:cxnSp>
      <p:cxnSp>
        <p:nvCxnSpPr>
          <p:cNvPr id="9233" name="AutoShape 17"/>
          <p:cNvCxnSpPr>
            <a:cxnSpLocks noChangeShapeType="1"/>
            <a:stCxn id="9226" idx="2"/>
            <a:endCxn id="9221" idx="0"/>
          </p:cNvCxnSpPr>
          <p:nvPr/>
        </p:nvCxnSpPr>
        <p:spPr bwMode="auto">
          <a:xfrm flipH="1">
            <a:off x="2857500" y="2743200"/>
            <a:ext cx="685800" cy="457200"/>
          </a:xfrm>
          <a:prstGeom prst="straightConnector1">
            <a:avLst/>
          </a:prstGeom>
          <a:noFill/>
          <a:ln w="9525">
            <a:solidFill>
              <a:schemeClr val="tx1"/>
            </a:solidFill>
            <a:round/>
            <a:headEnd/>
            <a:tailEnd/>
          </a:ln>
          <a:effectLst/>
        </p:spPr>
      </p:cxnSp>
      <p:cxnSp>
        <p:nvCxnSpPr>
          <p:cNvPr id="9234" name="AutoShape 18"/>
          <p:cNvCxnSpPr>
            <a:cxnSpLocks noChangeShapeType="1"/>
            <a:stCxn id="9219" idx="2"/>
            <a:endCxn id="9226"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9235" name="AutoShape 19"/>
          <p:cNvCxnSpPr>
            <a:cxnSpLocks noChangeShapeType="1"/>
            <a:stCxn id="9227" idx="2"/>
            <a:endCxn id="9231" idx="0"/>
          </p:cNvCxnSpPr>
          <p:nvPr/>
        </p:nvCxnSpPr>
        <p:spPr bwMode="auto">
          <a:xfrm>
            <a:off x="4076700" y="3581400"/>
            <a:ext cx="3810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remove 53</a:t>
            </a:r>
          </a:p>
        </p:txBody>
      </p:sp>
      <p:sp>
        <p:nvSpPr>
          <p:cNvPr id="10243"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0244"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0245" name="Rectangle 5"/>
          <p:cNvSpPr>
            <a:spLocks noChangeArrowheads="1"/>
          </p:cNvSpPr>
          <p:nvPr/>
        </p:nvSpPr>
        <p:spPr bwMode="auto">
          <a:xfrm>
            <a:off x="2590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10246" name="AutoShape 6"/>
          <p:cNvCxnSpPr>
            <a:cxnSpLocks noChangeShapeType="1"/>
            <a:stCxn id="10243" idx="2"/>
            <a:endCxn id="10244"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10247" name="Rectangle 7"/>
          <p:cNvSpPr>
            <a:spLocks noChangeArrowheads="1"/>
          </p:cNvSpPr>
          <p:nvPr/>
        </p:nvSpPr>
        <p:spPr bwMode="auto">
          <a:xfrm>
            <a:off x="2209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10248" name="Rectangle 8"/>
          <p:cNvSpPr>
            <a:spLocks noChangeArrowheads="1"/>
          </p:cNvSpPr>
          <p:nvPr/>
        </p:nvSpPr>
        <p:spPr bwMode="auto">
          <a:xfrm>
            <a:off x="5257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53</a:t>
            </a:r>
          </a:p>
        </p:txBody>
      </p:sp>
      <p:cxnSp>
        <p:nvCxnSpPr>
          <p:cNvPr id="10249" name="AutoShape 9"/>
          <p:cNvCxnSpPr>
            <a:cxnSpLocks noChangeShapeType="1"/>
            <a:stCxn id="10244" idx="2"/>
            <a:endCxn id="10248" idx="0"/>
          </p:cNvCxnSpPr>
          <p:nvPr/>
        </p:nvCxnSpPr>
        <p:spPr bwMode="auto">
          <a:xfrm>
            <a:off x="4914900" y="2743200"/>
            <a:ext cx="609600" cy="457200"/>
          </a:xfrm>
          <a:prstGeom prst="straightConnector1">
            <a:avLst/>
          </a:prstGeom>
          <a:noFill/>
          <a:ln w="9525">
            <a:solidFill>
              <a:schemeClr val="tx1"/>
            </a:solidFill>
            <a:round/>
            <a:headEnd/>
            <a:tailEnd/>
          </a:ln>
          <a:effectLst/>
        </p:spPr>
      </p:cxnSp>
      <p:sp>
        <p:nvSpPr>
          <p:cNvPr id="10250" name="Rectangle 10"/>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sp>
        <p:nvSpPr>
          <p:cNvPr id="10251" name="Rectangle 11"/>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10252" name="AutoShape 12"/>
          <p:cNvCxnSpPr>
            <a:cxnSpLocks noChangeShapeType="1"/>
            <a:stCxn id="10250" idx="2"/>
            <a:endCxn id="10251"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10253" name="Rectangle 13"/>
          <p:cNvSpPr>
            <a:spLocks noChangeArrowheads="1"/>
          </p:cNvSpPr>
          <p:nvPr/>
        </p:nvSpPr>
        <p:spPr bwMode="auto">
          <a:xfrm>
            <a:off x="2971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cxnSp>
        <p:nvCxnSpPr>
          <p:cNvPr id="10254" name="AutoShape 14"/>
          <p:cNvCxnSpPr>
            <a:cxnSpLocks noChangeShapeType="1"/>
            <a:stCxn id="10245" idx="2"/>
            <a:endCxn id="10253" idx="0"/>
          </p:cNvCxnSpPr>
          <p:nvPr/>
        </p:nvCxnSpPr>
        <p:spPr bwMode="auto">
          <a:xfrm>
            <a:off x="2857500" y="3581400"/>
            <a:ext cx="381000" cy="457200"/>
          </a:xfrm>
          <a:prstGeom prst="straightConnector1">
            <a:avLst/>
          </a:prstGeom>
          <a:noFill/>
          <a:ln w="9525">
            <a:solidFill>
              <a:schemeClr val="tx1"/>
            </a:solidFill>
            <a:round/>
            <a:headEnd/>
            <a:tailEnd/>
          </a:ln>
          <a:effectLst/>
        </p:spPr>
      </p:cxnSp>
      <p:sp>
        <p:nvSpPr>
          <p:cNvPr id="10255" name="Rectangle 15"/>
          <p:cNvSpPr>
            <a:spLocks noChangeArrowheads="1"/>
          </p:cNvSpPr>
          <p:nvPr/>
        </p:nvSpPr>
        <p:spPr bwMode="auto">
          <a:xfrm>
            <a:off x="41910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0256" name="AutoShape 16"/>
          <p:cNvCxnSpPr>
            <a:cxnSpLocks noChangeShapeType="1"/>
            <a:stCxn id="10245" idx="2"/>
            <a:endCxn id="10247" idx="0"/>
          </p:cNvCxnSpPr>
          <p:nvPr/>
        </p:nvCxnSpPr>
        <p:spPr bwMode="auto">
          <a:xfrm flipH="1">
            <a:off x="2476500" y="3581400"/>
            <a:ext cx="381000" cy="457200"/>
          </a:xfrm>
          <a:prstGeom prst="straightConnector1">
            <a:avLst/>
          </a:prstGeom>
          <a:noFill/>
          <a:ln w="9525">
            <a:solidFill>
              <a:schemeClr val="tx1"/>
            </a:solidFill>
            <a:round/>
            <a:headEnd/>
            <a:tailEnd/>
          </a:ln>
          <a:effectLst/>
        </p:spPr>
      </p:cxnSp>
      <p:cxnSp>
        <p:nvCxnSpPr>
          <p:cNvPr id="10257" name="AutoShape 17"/>
          <p:cNvCxnSpPr>
            <a:cxnSpLocks noChangeShapeType="1"/>
            <a:stCxn id="10250" idx="2"/>
            <a:endCxn id="10245" idx="0"/>
          </p:cNvCxnSpPr>
          <p:nvPr/>
        </p:nvCxnSpPr>
        <p:spPr bwMode="auto">
          <a:xfrm flipH="1">
            <a:off x="2857500" y="2743200"/>
            <a:ext cx="685800" cy="457200"/>
          </a:xfrm>
          <a:prstGeom prst="straightConnector1">
            <a:avLst/>
          </a:prstGeom>
          <a:noFill/>
          <a:ln w="9525">
            <a:solidFill>
              <a:schemeClr val="tx1"/>
            </a:solidFill>
            <a:round/>
            <a:headEnd/>
            <a:tailEnd/>
          </a:ln>
          <a:effectLst/>
        </p:spPr>
      </p:cxnSp>
      <p:cxnSp>
        <p:nvCxnSpPr>
          <p:cNvPr id="10258" name="AutoShape 18"/>
          <p:cNvCxnSpPr>
            <a:cxnSpLocks noChangeShapeType="1"/>
            <a:stCxn id="10243" idx="2"/>
            <a:endCxn id="10250"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10259" name="AutoShape 19"/>
          <p:cNvCxnSpPr>
            <a:cxnSpLocks noChangeShapeType="1"/>
            <a:stCxn id="10251" idx="2"/>
            <a:endCxn id="10255" idx="0"/>
          </p:cNvCxnSpPr>
          <p:nvPr/>
        </p:nvCxnSpPr>
        <p:spPr bwMode="auto">
          <a:xfrm>
            <a:off x="4076700" y="3581400"/>
            <a:ext cx="3810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Now remove 53, unbalanced</a:t>
            </a:r>
          </a:p>
        </p:txBody>
      </p:sp>
      <p:sp>
        <p:nvSpPr>
          <p:cNvPr id="11267" name="Rectangle 3"/>
          <p:cNvSpPr>
            <a:spLocks noChangeArrowheads="1"/>
          </p:cNvSpPr>
          <p:nvPr/>
        </p:nvSpPr>
        <p:spPr bwMode="auto">
          <a:xfrm>
            <a:off x="3962400" y="160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1268" name="Rectangle 4"/>
          <p:cNvSpPr>
            <a:spLocks noChangeArrowheads="1"/>
          </p:cNvSpPr>
          <p:nvPr/>
        </p:nvSpPr>
        <p:spPr bwMode="auto">
          <a:xfrm>
            <a:off x="4648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1269" name="Rectangle 5"/>
          <p:cNvSpPr>
            <a:spLocks noChangeArrowheads="1"/>
          </p:cNvSpPr>
          <p:nvPr/>
        </p:nvSpPr>
        <p:spPr bwMode="auto">
          <a:xfrm>
            <a:off x="2590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11270" name="AutoShape 6"/>
          <p:cNvCxnSpPr>
            <a:cxnSpLocks noChangeShapeType="1"/>
            <a:stCxn id="11267" idx="2"/>
            <a:endCxn id="11268" idx="0"/>
          </p:cNvCxnSpPr>
          <p:nvPr/>
        </p:nvCxnSpPr>
        <p:spPr bwMode="auto">
          <a:xfrm>
            <a:off x="4229100" y="1981200"/>
            <a:ext cx="685800" cy="381000"/>
          </a:xfrm>
          <a:prstGeom prst="straightConnector1">
            <a:avLst/>
          </a:prstGeom>
          <a:noFill/>
          <a:ln w="9525">
            <a:solidFill>
              <a:schemeClr val="tx1"/>
            </a:solidFill>
            <a:round/>
            <a:headEnd/>
            <a:tailEnd/>
          </a:ln>
          <a:effectLst/>
        </p:spPr>
      </p:cxnSp>
      <p:sp>
        <p:nvSpPr>
          <p:cNvPr id="11271" name="Rectangle 7"/>
          <p:cNvSpPr>
            <a:spLocks noChangeArrowheads="1"/>
          </p:cNvSpPr>
          <p:nvPr/>
        </p:nvSpPr>
        <p:spPr bwMode="auto">
          <a:xfrm>
            <a:off x="2209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11272" name="Rectangle 8"/>
          <p:cNvSpPr>
            <a:spLocks noChangeArrowheads="1"/>
          </p:cNvSpPr>
          <p:nvPr/>
        </p:nvSpPr>
        <p:spPr bwMode="auto">
          <a:xfrm>
            <a:off x="32766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sp>
        <p:nvSpPr>
          <p:cNvPr id="11273" name="Rectangle 9"/>
          <p:cNvSpPr>
            <a:spLocks noChangeArrowheads="1"/>
          </p:cNvSpPr>
          <p:nvPr/>
        </p:nvSpPr>
        <p:spPr bwMode="auto">
          <a:xfrm>
            <a:off x="3810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11274" name="AutoShape 10"/>
          <p:cNvCxnSpPr>
            <a:cxnSpLocks noChangeShapeType="1"/>
            <a:stCxn id="11272" idx="2"/>
            <a:endCxn id="11273" idx="0"/>
          </p:cNvCxnSpPr>
          <p:nvPr/>
        </p:nvCxnSpPr>
        <p:spPr bwMode="auto">
          <a:xfrm>
            <a:off x="3543300" y="2743200"/>
            <a:ext cx="533400" cy="457200"/>
          </a:xfrm>
          <a:prstGeom prst="straightConnector1">
            <a:avLst/>
          </a:prstGeom>
          <a:noFill/>
          <a:ln w="9525">
            <a:solidFill>
              <a:schemeClr val="tx1"/>
            </a:solidFill>
            <a:round/>
            <a:headEnd/>
            <a:tailEnd/>
          </a:ln>
          <a:effectLst/>
        </p:spPr>
      </p:cxnSp>
      <p:sp>
        <p:nvSpPr>
          <p:cNvPr id="11275" name="Rectangle 11"/>
          <p:cNvSpPr>
            <a:spLocks noChangeArrowheads="1"/>
          </p:cNvSpPr>
          <p:nvPr/>
        </p:nvSpPr>
        <p:spPr bwMode="auto">
          <a:xfrm>
            <a:off x="2971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cxnSp>
        <p:nvCxnSpPr>
          <p:cNvPr id="11276" name="AutoShape 12"/>
          <p:cNvCxnSpPr>
            <a:cxnSpLocks noChangeShapeType="1"/>
            <a:stCxn id="11269" idx="2"/>
            <a:endCxn id="11275" idx="0"/>
          </p:cNvCxnSpPr>
          <p:nvPr/>
        </p:nvCxnSpPr>
        <p:spPr bwMode="auto">
          <a:xfrm>
            <a:off x="2857500" y="3581400"/>
            <a:ext cx="381000" cy="457200"/>
          </a:xfrm>
          <a:prstGeom prst="straightConnector1">
            <a:avLst/>
          </a:prstGeom>
          <a:noFill/>
          <a:ln w="9525">
            <a:solidFill>
              <a:schemeClr val="tx1"/>
            </a:solidFill>
            <a:round/>
            <a:headEnd/>
            <a:tailEnd/>
          </a:ln>
          <a:effectLst/>
        </p:spPr>
      </p:cxnSp>
      <p:sp>
        <p:nvSpPr>
          <p:cNvPr id="11277" name="Rectangle 13"/>
          <p:cNvSpPr>
            <a:spLocks noChangeArrowheads="1"/>
          </p:cNvSpPr>
          <p:nvPr/>
        </p:nvSpPr>
        <p:spPr bwMode="auto">
          <a:xfrm>
            <a:off x="41910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1278" name="AutoShape 14"/>
          <p:cNvCxnSpPr>
            <a:cxnSpLocks noChangeShapeType="1"/>
            <a:stCxn id="11269" idx="2"/>
            <a:endCxn id="11271" idx="0"/>
          </p:cNvCxnSpPr>
          <p:nvPr/>
        </p:nvCxnSpPr>
        <p:spPr bwMode="auto">
          <a:xfrm flipH="1">
            <a:off x="2476500" y="3581400"/>
            <a:ext cx="381000" cy="457200"/>
          </a:xfrm>
          <a:prstGeom prst="straightConnector1">
            <a:avLst/>
          </a:prstGeom>
          <a:noFill/>
          <a:ln w="9525">
            <a:solidFill>
              <a:schemeClr val="tx1"/>
            </a:solidFill>
            <a:round/>
            <a:headEnd/>
            <a:tailEnd/>
          </a:ln>
          <a:effectLst/>
        </p:spPr>
      </p:cxnSp>
      <p:cxnSp>
        <p:nvCxnSpPr>
          <p:cNvPr id="11279" name="AutoShape 15"/>
          <p:cNvCxnSpPr>
            <a:cxnSpLocks noChangeShapeType="1"/>
            <a:stCxn id="11272" idx="2"/>
            <a:endCxn id="11269" idx="0"/>
          </p:cNvCxnSpPr>
          <p:nvPr/>
        </p:nvCxnSpPr>
        <p:spPr bwMode="auto">
          <a:xfrm flipH="1">
            <a:off x="2857500" y="2743200"/>
            <a:ext cx="685800" cy="457200"/>
          </a:xfrm>
          <a:prstGeom prst="straightConnector1">
            <a:avLst/>
          </a:prstGeom>
          <a:noFill/>
          <a:ln w="9525">
            <a:solidFill>
              <a:schemeClr val="tx1"/>
            </a:solidFill>
            <a:round/>
            <a:headEnd/>
            <a:tailEnd/>
          </a:ln>
          <a:effectLst/>
        </p:spPr>
      </p:cxnSp>
      <p:cxnSp>
        <p:nvCxnSpPr>
          <p:cNvPr id="11280" name="AutoShape 16"/>
          <p:cNvCxnSpPr>
            <a:cxnSpLocks noChangeShapeType="1"/>
            <a:stCxn id="11267" idx="2"/>
            <a:endCxn id="11272" idx="0"/>
          </p:cNvCxnSpPr>
          <p:nvPr/>
        </p:nvCxnSpPr>
        <p:spPr bwMode="auto">
          <a:xfrm flipH="1">
            <a:off x="3543300" y="1981200"/>
            <a:ext cx="685800" cy="381000"/>
          </a:xfrm>
          <a:prstGeom prst="straightConnector1">
            <a:avLst/>
          </a:prstGeom>
          <a:noFill/>
          <a:ln w="9525">
            <a:solidFill>
              <a:schemeClr val="tx1"/>
            </a:solidFill>
            <a:round/>
            <a:headEnd/>
            <a:tailEnd/>
          </a:ln>
          <a:effectLst/>
        </p:spPr>
      </p:cxnSp>
      <p:cxnSp>
        <p:nvCxnSpPr>
          <p:cNvPr id="11281" name="AutoShape 17"/>
          <p:cNvCxnSpPr>
            <a:cxnSpLocks noChangeShapeType="1"/>
            <a:stCxn id="11273" idx="2"/>
            <a:endCxn id="11277" idx="0"/>
          </p:cNvCxnSpPr>
          <p:nvPr/>
        </p:nvCxnSpPr>
        <p:spPr bwMode="auto">
          <a:xfrm>
            <a:off x="4076700" y="3581400"/>
            <a:ext cx="381000" cy="457200"/>
          </a:xfrm>
          <a:prstGeom prst="straightConnector1">
            <a:avLst/>
          </a:prstGeom>
          <a:noFill/>
          <a:ln w="9525">
            <a:solidFill>
              <a:schemeClr val="tx1"/>
            </a:solidFill>
            <a:round/>
            <a:headEnd/>
            <a:tailEnd/>
          </a:ln>
          <a:effectLst/>
        </p:spPr>
      </p:cxnSp>
      <p:sp>
        <p:nvSpPr>
          <p:cNvPr id="13330" name="Oval 18"/>
          <p:cNvSpPr>
            <a:spLocks noChangeArrowheads="1"/>
          </p:cNvSpPr>
          <p:nvPr/>
        </p:nvSpPr>
        <p:spPr bwMode="auto">
          <a:xfrm>
            <a:off x="1905000" y="1219200"/>
            <a:ext cx="3581400" cy="42672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066800" y="381000"/>
            <a:ext cx="71628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Balanced!    Remove 11</a:t>
            </a:r>
          </a:p>
        </p:txBody>
      </p:sp>
      <p:sp>
        <p:nvSpPr>
          <p:cNvPr id="12291" name="Rectangle 3"/>
          <p:cNvSpPr>
            <a:spLocks noChangeArrowheads="1"/>
          </p:cNvSpPr>
          <p:nvPr/>
        </p:nvSpPr>
        <p:spPr bwMode="auto">
          <a:xfrm>
            <a:off x="5029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2292" name="Rectangle 4"/>
          <p:cNvSpPr>
            <a:spLocks noChangeArrowheads="1"/>
          </p:cNvSpPr>
          <p:nvPr/>
        </p:nvSpPr>
        <p:spPr bwMode="auto">
          <a:xfrm>
            <a:off x="55626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2293" name="Rectangle 5"/>
          <p:cNvSpPr>
            <a:spLocks noChangeArrowheads="1"/>
          </p:cNvSpPr>
          <p:nvPr/>
        </p:nvSpPr>
        <p:spPr bwMode="auto">
          <a:xfrm>
            <a:off x="30480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12294" name="AutoShape 6"/>
          <p:cNvCxnSpPr>
            <a:cxnSpLocks noChangeShapeType="1"/>
            <a:stCxn id="12291" idx="2"/>
            <a:endCxn id="12292" idx="0"/>
          </p:cNvCxnSpPr>
          <p:nvPr/>
        </p:nvCxnSpPr>
        <p:spPr bwMode="auto">
          <a:xfrm>
            <a:off x="5295900" y="2743200"/>
            <a:ext cx="533400" cy="457200"/>
          </a:xfrm>
          <a:prstGeom prst="straightConnector1">
            <a:avLst/>
          </a:prstGeom>
          <a:noFill/>
          <a:ln w="9525">
            <a:solidFill>
              <a:schemeClr val="tx1"/>
            </a:solidFill>
            <a:round/>
            <a:headEnd/>
            <a:tailEnd/>
          </a:ln>
          <a:effectLst/>
        </p:spPr>
      </p:cxnSp>
      <p:sp>
        <p:nvSpPr>
          <p:cNvPr id="12295" name="Rectangle 7"/>
          <p:cNvSpPr>
            <a:spLocks noChangeArrowheads="1"/>
          </p:cNvSpPr>
          <p:nvPr/>
        </p:nvSpPr>
        <p:spPr bwMode="auto">
          <a:xfrm>
            <a:off x="2590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12296" name="Rectangle 8"/>
          <p:cNvSpPr>
            <a:spLocks noChangeArrowheads="1"/>
          </p:cNvSpPr>
          <p:nvPr/>
        </p:nvSpPr>
        <p:spPr bwMode="auto">
          <a:xfrm>
            <a:off x="3962400" y="1524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11</a:t>
            </a:r>
          </a:p>
        </p:txBody>
      </p:sp>
      <p:sp>
        <p:nvSpPr>
          <p:cNvPr id="12297" name="Rectangle 9"/>
          <p:cNvSpPr>
            <a:spLocks noChangeArrowheads="1"/>
          </p:cNvSpPr>
          <p:nvPr/>
        </p:nvSpPr>
        <p:spPr bwMode="auto">
          <a:xfrm>
            <a:off x="4572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12298" name="AutoShape 10"/>
          <p:cNvCxnSpPr>
            <a:cxnSpLocks noChangeShapeType="1"/>
            <a:stCxn id="12296" idx="2"/>
            <a:endCxn id="12291" idx="0"/>
          </p:cNvCxnSpPr>
          <p:nvPr/>
        </p:nvCxnSpPr>
        <p:spPr bwMode="auto">
          <a:xfrm>
            <a:off x="4229100" y="1905000"/>
            <a:ext cx="1066800" cy="457200"/>
          </a:xfrm>
          <a:prstGeom prst="straightConnector1">
            <a:avLst/>
          </a:prstGeom>
          <a:noFill/>
          <a:ln w="9525">
            <a:solidFill>
              <a:schemeClr val="tx1"/>
            </a:solidFill>
            <a:round/>
            <a:headEnd/>
            <a:tailEnd/>
          </a:ln>
          <a:effectLst/>
        </p:spPr>
      </p:cxnSp>
      <p:sp>
        <p:nvSpPr>
          <p:cNvPr id="12299" name="Rectangle 11"/>
          <p:cNvSpPr>
            <a:spLocks noChangeArrowheads="1"/>
          </p:cNvSpPr>
          <p:nvPr/>
        </p:nvSpPr>
        <p:spPr bwMode="auto">
          <a:xfrm>
            <a:off x="35052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cxnSp>
        <p:nvCxnSpPr>
          <p:cNvPr id="12300" name="AutoShape 12"/>
          <p:cNvCxnSpPr>
            <a:cxnSpLocks noChangeShapeType="1"/>
            <a:stCxn id="12293" idx="2"/>
            <a:endCxn id="12299" idx="0"/>
          </p:cNvCxnSpPr>
          <p:nvPr/>
        </p:nvCxnSpPr>
        <p:spPr bwMode="auto">
          <a:xfrm>
            <a:off x="3314700" y="2743200"/>
            <a:ext cx="457200" cy="457200"/>
          </a:xfrm>
          <a:prstGeom prst="straightConnector1">
            <a:avLst/>
          </a:prstGeom>
          <a:noFill/>
          <a:ln w="9525">
            <a:solidFill>
              <a:schemeClr val="tx1"/>
            </a:solidFill>
            <a:round/>
            <a:headEnd/>
            <a:tailEnd/>
          </a:ln>
          <a:effectLst/>
        </p:spPr>
      </p:cxnSp>
      <p:sp>
        <p:nvSpPr>
          <p:cNvPr id="12301" name="Rectangle 13"/>
          <p:cNvSpPr>
            <a:spLocks noChangeArrowheads="1"/>
          </p:cNvSpPr>
          <p:nvPr/>
        </p:nvSpPr>
        <p:spPr bwMode="auto">
          <a:xfrm>
            <a:off x="4876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2302" name="AutoShape 14"/>
          <p:cNvCxnSpPr>
            <a:cxnSpLocks noChangeShapeType="1"/>
            <a:stCxn id="12293" idx="2"/>
            <a:endCxn id="12295" idx="0"/>
          </p:cNvCxnSpPr>
          <p:nvPr/>
        </p:nvCxnSpPr>
        <p:spPr bwMode="auto">
          <a:xfrm flipH="1">
            <a:off x="2857500" y="2743200"/>
            <a:ext cx="457200" cy="457200"/>
          </a:xfrm>
          <a:prstGeom prst="straightConnector1">
            <a:avLst/>
          </a:prstGeom>
          <a:noFill/>
          <a:ln w="9525">
            <a:solidFill>
              <a:schemeClr val="tx1"/>
            </a:solidFill>
            <a:round/>
            <a:headEnd/>
            <a:tailEnd/>
          </a:ln>
          <a:effectLst/>
        </p:spPr>
      </p:cxnSp>
      <p:cxnSp>
        <p:nvCxnSpPr>
          <p:cNvPr id="12303" name="AutoShape 15"/>
          <p:cNvCxnSpPr>
            <a:cxnSpLocks noChangeShapeType="1"/>
            <a:stCxn id="12296" idx="2"/>
            <a:endCxn id="12293" idx="0"/>
          </p:cNvCxnSpPr>
          <p:nvPr/>
        </p:nvCxnSpPr>
        <p:spPr bwMode="auto">
          <a:xfrm flipH="1">
            <a:off x="3314700" y="1905000"/>
            <a:ext cx="914400" cy="457200"/>
          </a:xfrm>
          <a:prstGeom prst="straightConnector1">
            <a:avLst/>
          </a:prstGeom>
          <a:noFill/>
          <a:ln w="9525">
            <a:solidFill>
              <a:schemeClr val="tx1"/>
            </a:solidFill>
            <a:round/>
            <a:headEnd/>
            <a:tailEnd/>
          </a:ln>
          <a:effectLst/>
        </p:spPr>
      </p:cxnSp>
      <p:cxnSp>
        <p:nvCxnSpPr>
          <p:cNvPr id="12304" name="AutoShape 16"/>
          <p:cNvCxnSpPr>
            <a:cxnSpLocks noChangeShapeType="1"/>
            <a:stCxn id="12297" idx="2"/>
            <a:endCxn id="12301" idx="0"/>
          </p:cNvCxnSpPr>
          <p:nvPr/>
        </p:nvCxnSpPr>
        <p:spPr bwMode="auto">
          <a:xfrm>
            <a:off x="4838700" y="3581400"/>
            <a:ext cx="304800" cy="457200"/>
          </a:xfrm>
          <a:prstGeom prst="straightConnector1">
            <a:avLst/>
          </a:prstGeom>
          <a:noFill/>
          <a:ln w="9525">
            <a:solidFill>
              <a:schemeClr val="tx1"/>
            </a:solidFill>
            <a:round/>
            <a:headEnd/>
            <a:tailEnd/>
          </a:ln>
          <a:effectLst/>
        </p:spPr>
      </p:cxnSp>
      <p:cxnSp>
        <p:nvCxnSpPr>
          <p:cNvPr id="12305" name="AutoShape 17"/>
          <p:cNvCxnSpPr>
            <a:cxnSpLocks noChangeShapeType="1"/>
            <a:stCxn id="12291" idx="2"/>
            <a:endCxn id="12297" idx="0"/>
          </p:cNvCxnSpPr>
          <p:nvPr/>
        </p:nvCxnSpPr>
        <p:spPr bwMode="auto">
          <a:xfrm flipH="1">
            <a:off x="4838700" y="2743200"/>
            <a:ext cx="4572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066800" y="381000"/>
            <a:ext cx="76962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Remove 11, replace it with the largest in its left branch</a:t>
            </a:r>
          </a:p>
        </p:txBody>
      </p:sp>
      <p:sp>
        <p:nvSpPr>
          <p:cNvPr id="13315" name="Rectangle 3"/>
          <p:cNvSpPr>
            <a:spLocks noChangeArrowheads="1"/>
          </p:cNvSpPr>
          <p:nvPr/>
        </p:nvSpPr>
        <p:spPr bwMode="auto">
          <a:xfrm>
            <a:off x="5029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3316" name="Rectangle 4"/>
          <p:cNvSpPr>
            <a:spLocks noChangeArrowheads="1"/>
          </p:cNvSpPr>
          <p:nvPr/>
        </p:nvSpPr>
        <p:spPr bwMode="auto">
          <a:xfrm>
            <a:off x="55626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3317" name="Rectangle 5"/>
          <p:cNvSpPr>
            <a:spLocks noChangeArrowheads="1"/>
          </p:cNvSpPr>
          <p:nvPr/>
        </p:nvSpPr>
        <p:spPr bwMode="auto">
          <a:xfrm>
            <a:off x="30480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13318" name="AutoShape 6"/>
          <p:cNvCxnSpPr>
            <a:cxnSpLocks noChangeShapeType="1"/>
            <a:stCxn id="13315" idx="2"/>
            <a:endCxn id="13316" idx="0"/>
          </p:cNvCxnSpPr>
          <p:nvPr/>
        </p:nvCxnSpPr>
        <p:spPr bwMode="auto">
          <a:xfrm>
            <a:off x="5295900" y="2743200"/>
            <a:ext cx="533400" cy="457200"/>
          </a:xfrm>
          <a:prstGeom prst="straightConnector1">
            <a:avLst/>
          </a:prstGeom>
          <a:noFill/>
          <a:ln w="9525">
            <a:solidFill>
              <a:schemeClr val="tx1"/>
            </a:solidFill>
            <a:round/>
            <a:headEnd/>
            <a:tailEnd/>
          </a:ln>
          <a:effectLst/>
        </p:spPr>
      </p:cxnSp>
      <p:sp>
        <p:nvSpPr>
          <p:cNvPr id="13319" name="Rectangle 7"/>
          <p:cNvSpPr>
            <a:spLocks noChangeArrowheads="1"/>
          </p:cNvSpPr>
          <p:nvPr/>
        </p:nvSpPr>
        <p:spPr bwMode="auto">
          <a:xfrm>
            <a:off x="25908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13320" name="Rectangle 8"/>
          <p:cNvSpPr>
            <a:spLocks noChangeArrowheads="1"/>
          </p:cNvSpPr>
          <p:nvPr/>
        </p:nvSpPr>
        <p:spPr bwMode="auto">
          <a:xfrm>
            <a:off x="3962400" y="1524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8</a:t>
            </a:r>
          </a:p>
        </p:txBody>
      </p:sp>
      <p:sp>
        <p:nvSpPr>
          <p:cNvPr id="13321" name="Rectangle 9"/>
          <p:cNvSpPr>
            <a:spLocks noChangeArrowheads="1"/>
          </p:cNvSpPr>
          <p:nvPr/>
        </p:nvSpPr>
        <p:spPr bwMode="auto">
          <a:xfrm>
            <a:off x="4572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13322" name="AutoShape 10"/>
          <p:cNvCxnSpPr>
            <a:cxnSpLocks noChangeShapeType="1"/>
            <a:stCxn id="13320" idx="2"/>
            <a:endCxn id="13315" idx="0"/>
          </p:cNvCxnSpPr>
          <p:nvPr/>
        </p:nvCxnSpPr>
        <p:spPr bwMode="auto">
          <a:xfrm>
            <a:off x="4229100" y="1905000"/>
            <a:ext cx="1066800" cy="457200"/>
          </a:xfrm>
          <a:prstGeom prst="straightConnector1">
            <a:avLst/>
          </a:prstGeom>
          <a:noFill/>
          <a:ln w="9525">
            <a:solidFill>
              <a:schemeClr val="tx1"/>
            </a:solidFill>
            <a:round/>
            <a:headEnd/>
            <a:tailEnd/>
          </a:ln>
          <a:effectLst/>
        </p:spPr>
      </p:cxnSp>
      <p:sp>
        <p:nvSpPr>
          <p:cNvPr id="13323" name="Rectangle 11"/>
          <p:cNvSpPr>
            <a:spLocks noChangeArrowheads="1"/>
          </p:cNvSpPr>
          <p:nvPr/>
        </p:nvSpPr>
        <p:spPr bwMode="auto">
          <a:xfrm>
            <a:off x="4876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3324" name="AutoShape 12"/>
          <p:cNvCxnSpPr>
            <a:cxnSpLocks noChangeShapeType="1"/>
            <a:stCxn id="13317" idx="2"/>
            <a:endCxn id="13319" idx="0"/>
          </p:cNvCxnSpPr>
          <p:nvPr/>
        </p:nvCxnSpPr>
        <p:spPr bwMode="auto">
          <a:xfrm flipH="1">
            <a:off x="2857500" y="2743200"/>
            <a:ext cx="457200" cy="457200"/>
          </a:xfrm>
          <a:prstGeom prst="straightConnector1">
            <a:avLst/>
          </a:prstGeom>
          <a:noFill/>
          <a:ln w="9525">
            <a:solidFill>
              <a:schemeClr val="tx1"/>
            </a:solidFill>
            <a:round/>
            <a:headEnd/>
            <a:tailEnd/>
          </a:ln>
          <a:effectLst/>
        </p:spPr>
      </p:cxnSp>
      <p:cxnSp>
        <p:nvCxnSpPr>
          <p:cNvPr id="13325" name="AutoShape 13"/>
          <p:cNvCxnSpPr>
            <a:cxnSpLocks noChangeShapeType="1"/>
            <a:stCxn id="13320" idx="2"/>
            <a:endCxn id="13317" idx="0"/>
          </p:cNvCxnSpPr>
          <p:nvPr/>
        </p:nvCxnSpPr>
        <p:spPr bwMode="auto">
          <a:xfrm flipH="1">
            <a:off x="3314700" y="1905000"/>
            <a:ext cx="914400" cy="457200"/>
          </a:xfrm>
          <a:prstGeom prst="straightConnector1">
            <a:avLst/>
          </a:prstGeom>
          <a:noFill/>
          <a:ln w="9525">
            <a:solidFill>
              <a:schemeClr val="tx1"/>
            </a:solidFill>
            <a:round/>
            <a:headEnd/>
            <a:tailEnd/>
          </a:ln>
          <a:effectLst/>
        </p:spPr>
      </p:cxnSp>
      <p:cxnSp>
        <p:nvCxnSpPr>
          <p:cNvPr id="13326" name="AutoShape 14"/>
          <p:cNvCxnSpPr>
            <a:cxnSpLocks noChangeShapeType="1"/>
            <a:stCxn id="13321" idx="2"/>
            <a:endCxn id="13323" idx="0"/>
          </p:cNvCxnSpPr>
          <p:nvPr/>
        </p:nvCxnSpPr>
        <p:spPr bwMode="auto">
          <a:xfrm>
            <a:off x="4838700" y="3581400"/>
            <a:ext cx="304800" cy="457200"/>
          </a:xfrm>
          <a:prstGeom prst="straightConnector1">
            <a:avLst/>
          </a:prstGeom>
          <a:noFill/>
          <a:ln w="9525">
            <a:solidFill>
              <a:schemeClr val="tx1"/>
            </a:solidFill>
            <a:round/>
            <a:headEnd/>
            <a:tailEnd/>
          </a:ln>
          <a:effectLst/>
        </p:spPr>
      </p:cxnSp>
      <p:cxnSp>
        <p:nvCxnSpPr>
          <p:cNvPr id="13327" name="AutoShape 15"/>
          <p:cNvCxnSpPr>
            <a:cxnSpLocks noChangeShapeType="1"/>
            <a:stCxn id="13315" idx="2"/>
            <a:endCxn id="13321" idx="0"/>
          </p:cNvCxnSpPr>
          <p:nvPr/>
        </p:nvCxnSpPr>
        <p:spPr bwMode="auto">
          <a:xfrm flipH="1">
            <a:off x="4838700" y="2743200"/>
            <a:ext cx="4572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066800" y="381000"/>
            <a:ext cx="76962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Remove 8, unbalanced</a:t>
            </a:r>
          </a:p>
        </p:txBody>
      </p:sp>
      <p:sp>
        <p:nvSpPr>
          <p:cNvPr id="14339" name="Rectangle 3"/>
          <p:cNvSpPr>
            <a:spLocks noChangeArrowheads="1"/>
          </p:cNvSpPr>
          <p:nvPr/>
        </p:nvSpPr>
        <p:spPr bwMode="auto">
          <a:xfrm>
            <a:off x="50292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4340" name="Rectangle 4"/>
          <p:cNvSpPr>
            <a:spLocks noChangeArrowheads="1"/>
          </p:cNvSpPr>
          <p:nvPr/>
        </p:nvSpPr>
        <p:spPr bwMode="auto">
          <a:xfrm>
            <a:off x="55626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4341" name="Rectangle 5"/>
          <p:cNvSpPr>
            <a:spLocks noChangeArrowheads="1"/>
          </p:cNvSpPr>
          <p:nvPr/>
        </p:nvSpPr>
        <p:spPr bwMode="auto">
          <a:xfrm>
            <a:off x="30480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cxnSp>
        <p:nvCxnSpPr>
          <p:cNvPr id="14342" name="AutoShape 6"/>
          <p:cNvCxnSpPr>
            <a:cxnSpLocks noChangeShapeType="1"/>
            <a:stCxn id="14339" idx="2"/>
            <a:endCxn id="14340" idx="0"/>
          </p:cNvCxnSpPr>
          <p:nvPr/>
        </p:nvCxnSpPr>
        <p:spPr bwMode="auto">
          <a:xfrm>
            <a:off x="5295900" y="2743200"/>
            <a:ext cx="533400" cy="457200"/>
          </a:xfrm>
          <a:prstGeom prst="straightConnector1">
            <a:avLst/>
          </a:prstGeom>
          <a:noFill/>
          <a:ln w="9525">
            <a:solidFill>
              <a:schemeClr val="tx1"/>
            </a:solidFill>
            <a:round/>
            <a:headEnd/>
            <a:tailEnd/>
          </a:ln>
          <a:effectLst/>
        </p:spPr>
      </p:cxnSp>
      <p:sp>
        <p:nvSpPr>
          <p:cNvPr id="14343" name="Rectangle 7"/>
          <p:cNvSpPr>
            <a:spLocks noChangeArrowheads="1"/>
          </p:cNvSpPr>
          <p:nvPr/>
        </p:nvSpPr>
        <p:spPr bwMode="auto">
          <a:xfrm>
            <a:off x="3962400" y="1524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sp>
        <p:nvSpPr>
          <p:cNvPr id="14344" name="Rectangle 8"/>
          <p:cNvSpPr>
            <a:spLocks noChangeArrowheads="1"/>
          </p:cNvSpPr>
          <p:nvPr/>
        </p:nvSpPr>
        <p:spPr bwMode="auto">
          <a:xfrm>
            <a:off x="45720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cxnSp>
        <p:nvCxnSpPr>
          <p:cNvPr id="14345" name="AutoShape 9"/>
          <p:cNvCxnSpPr>
            <a:cxnSpLocks noChangeShapeType="1"/>
            <a:stCxn id="14343" idx="2"/>
            <a:endCxn id="14339" idx="0"/>
          </p:cNvCxnSpPr>
          <p:nvPr/>
        </p:nvCxnSpPr>
        <p:spPr bwMode="auto">
          <a:xfrm>
            <a:off x="4229100" y="1905000"/>
            <a:ext cx="1066800" cy="457200"/>
          </a:xfrm>
          <a:prstGeom prst="straightConnector1">
            <a:avLst/>
          </a:prstGeom>
          <a:noFill/>
          <a:ln w="9525">
            <a:solidFill>
              <a:schemeClr val="tx1"/>
            </a:solidFill>
            <a:round/>
            <a:headEnd/>
            <a:tailEnd/>
          </a:ln>
          <a:effectLst/>
        </p:spPr>
      </p:cxnSp>
      <p:sp>
        <p:nvSpPr>
          <p:cNvPr id="14346" name="Rectangle 10"/>
          <p:cNvSpPr>
            <a:spLocks noChangeArrowheads="1"/>
          </p:cNvSpPr>
          <p:nvPr/>
        </p:nvSpPr>
        <p:spPr bwMode="auto">
          <a:xfrm>
            <a:off x="48768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4347" name="AutoShape 11"/>
          <p:cNvCxnSpPr>
            <a:cxnSpLocks noChangeShapeType="1"/>
            <a:stCxn id="14343" idx="2"/>
            <a:endCxn id="14341" idx="0"/>
          </p:cNvCxnSpPr>
          <p:nvPr/>
        </p:nvCxnSpPr>
        <p:spPr bwMode="auto">
          <a:xfrm flipH="1">
            <a:off x="3314700" y="1905000"/>
            <a:ext cx="914400" cy="457200"/>
          </a:xfrm>
          <a:prstGeom prst="straightConnector1">
            <a:avLst/>
          </a:prstGeom>
          <a:noFill/>
          <a:ln w="9525">
            <a:solidFill>
              <a:schemeClr val="tx1"/>
            </a:solidFill>
            <a:round/>
            <a:headEnd/>
            <a:tailEnd/>
          </a:ln>
          <a:effectLst/>
        </p:spPr>
      </p:cxnSp>
      <p:cxnSp>
        <p:nvCxnSpPr>
          <p:cNvPr id="14348" name="AutoShape 12"/>
          <p:cNvCxnSpPr>
            <a:cxnSpLocks noChangeShapeType="1"/>
            <a:stCxn id="14344" idx="2"/>
            <a:endCxn id="14346" idx="0"/>
          </p:cNvCxnSpPr>
          <p:nvPr/>
        </p:nvCxnSpPr>
        <p:spPr bwMode="auto">
          <a:xfrm>
            <a:off x="4838700" y="3581400"/>
            <a:ext cx="304800" cy="457200"/>
          </a:xfrm>
          <a:prstGeom prst="straightConnector1">
            <a:avLst/>
          </a:prstGeom>
          <a:noFill/>
          <a:ln w="9525">
            <a:solidFill>
              <a:schemeClr val="tx1"/>
            </a:solidFill>
            <a:round/>
            <a:headEnd/>
            <a:tailEnd/>
          </a:ln>
          <a:effectLst/>
        </p:spPr>
      </p:cxnSp>
      <p:cxnSp>
        <p:nvCxnSpPr>
          <p:cNvPr id="14349" name="AutoShape 13"/>
          <p:cNvCxnSpPr>
            <a:cxnSpLocks noChangeShapeType="1"/>
            <a:stCxn id="14339" idx="2"/>
            <a:endCxn id="14344" idx="0"/>
          </p:cNvCxnSpPr>
          <p:nvPr/>
        </p:nvCxnSpPr>
        <p:spPr bwMode="auto">
          <a:xfrm flipH="1">
            <a:off x="4838700" y="2743200"/>
            <a:ext cx="457200" cy="457200"/>
          </a:xfrm>
          <a:prstGeom prst="straightConnector1">
            <a:avLst/>
          </a:prstGeom>
          <a:noFill/>
          <a:ln w="9525">
            <a:solidFill>
              <a:schemeClr val="tx1"/>
            </a:solidFill>
            <a:round/>
            <a:headEnd/>
            <a:tailEnd/>
          </a:ln>
          <a:effectLst/>
        </p:spPr>
      </p:cxnSp>
      <p:sp>
        <p:nvSpPr>
          <p:cNvPr id="16398" name="Oval 14"/>
          <p:cNvSpPr>
            <a:spLocks noChangeArrowheads="1"/>
          </p:cNvSpPr>
          <p:nvPr/>
        </p:nvSpPr>
        <p:spPr bwMode="auto">
          <a:xfrm>
            <a:off x="2743200" y="990600"/>
            <a:ext cx="3581400" cy="42672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066800" y="381000"/>
            <a:ext cx="76962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Remove 8, unbalanced</a:t>
            </a:r>
          </a:p>
        </p:txBody>
      </p:sp>
      <p:sp>
        <p:nvSpPr>
          <p:cNvPr id="15363" name="Rectangle 3"/>
          <p:cNvSpPr>
            <a:spLocks noChangeArrowheads="1"/>
          </p:cNvSpPr>
          <p:nvPr/>
        </p:nvSpPr>
        <p:spPr bwMode="auto">
          <a:xfrm>
            <a:off x="5486400" y="3200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5364" name="Rectangle 4"/>
          <p:cNvSpPr>
            <a:spLocks noChangeArrowheads="1"/>
          </p:cNvSpPr>
          <p:nvPr/>
        </p:nvSpPr>
        <p:spPr bwMode="auto">
          <a:xfrm>
            <a:off x="6096000" y="4114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5365" name="Rectangle 5"/>
          <p:cNvSpPr>
            <a:spLocks noChangeArrowheads="1"/>
          </p:cNvSpPr>
          <p:nvPr/>
        </p:nvSpPr>
        <p:spPr bwMode="auto">
          <a:xfrm>
            <a:off x="30480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15366" name="Rectangle 6"/>
          <p:cNvSpPr>
            <a:spLocks noChangeArrowheads="1"/>
          </p:cNvSpPr>
          <p:nvPr/>
        </p:nvSpPr>
        <p:spPr bwMode="auto">
          <a:xfrm>
            <a:off x="3962400" y="1524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sp>
        <p:nvSpPr>
          <p:cNvPr id="15367" name="Rectangle 7"/>
          <p:cNvSpPr>
            <a:spLocks noChangeArrowheads="1"/>
          </p:cNvSpPr>
          <p:nvPr/>
        </p:nvSpPr>
        <p:spPr bwMode="auto">
          <a:xfrm>
            <a:off x="4876800" y="2362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sp>
        <p:nvSpPr>
          <p:cNvPr id="15368" name="Rectangle 8"/>
          <p:cNvSpPr>
            <a:spLocks noChangeArrowheads="1"/>
          </p:cNvSpPr>
          <p:nvPr/>
        </p:nvSpPr>
        <p:spPr bwMode="auto">
          <a:xfrm>
            <a:off x="5029200" y="4114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5369" name="AutoShape 9"/>
          <p:cNvCxnSpPr>
            <a:cxnSpLocks noChangeShapeType="1"/>
            <a:stCxn id="15366" idx="2"/>
            <a:endCxn id="15365" idx="0"/>
          </p:cNvCxnSpPr>
          <p:nvPr/>
        </p:nvCxnSpPr>
        <p:spPr bwMode="auto">
          <a:xfrm flipH="1">
            <a:off x="3314700" y="1905000"/>
            <a:ext cx="914400" cy="457200"/>
          </a:xfrm>
          <a:prstGeom prst="straightConnector1">
            <a:avLst/>
          </a:prstGeom>
          <a:noFill/>
          <a:ln w="9525">
            <a:solidFill>
              <a:schemeClr val="tx1"/>
            </a:solidFill>
            <a:round/>
            <a:headEnd/>
            <a:tailEnd/>
          </a:ln>
          <a:effectLst/>
        </p:spPr>
      </p:cxnSp>
      <p:cxnSp>
        <p:nvCxnSpPr>
          <p:cNvPr id="15370" name="AutoShape 10"/>
          <p:cNvCxnSpPr>
            <a:cxnSpLocks noChangeShapeType="1"/>
            <a:stCxn id="15366" idx="2"/>
            <a:endCxn id="15367" idx="0"/>
          </p:cNvCxnSpPr>
          <p:nvPr/>
        </p:nvCxnSpPr>
        <p:spPr bwMode="auto">
          <a:xfrm>
            <a:off x="4229100" y="1905000"/>
            <a:ext cx="914400" cy="457200"/>
          </a:xfrm>
          <a:prstGeom prst="straightConnector1">
            <a:avLst/>
          </a:prstGeom>
          <a:noFill/>
          <a:ln w="9525">
            <a:solidFill>
              <a:schemeClr val="tx1"/>
            </a:solidFill>
            <a:round/>
            <a:headEnd/>
            <a:tailEnd/>
          </a:ln>
          <a:effectLst/>
        </p:spPr>
      </p:cxnSp>
      <p:cxnSp>
        <p:nvCxnSpPr>
          <p:cNvPr id="15371" name="AutoShape 11"/>
          <p:cNvCxnSpPr>
            <a:cxnSpLocks noChangeShapeType="1"/>
            <a:stCxn id="15367" idx="2"/>
            <a:endCxn id="15363" idx="0"/>
          </p:cNvCxnSpPr>
          <p:nvPr/>
        </p:nvCxnSpPr>
        <p:spPr bwMode="auto">
          <a:xfrm>
            <a:off x="5143500" y="2743200"/>
            <a:ext cx="609600" cy="457200"/>
          </a:xfrm>
          <a:prstGeom prst="straightConnector1">
            <a:avLst/>
          </a:prstGeom>
          <a:noFill/>
          <a:ln w="9525">
            <a:solidFill>
              <a:schemeClr val="tx1"/>
            </a:solidFill>
            <a:round/>
            <a:headEnd/>
            <a:tailEnd/>
          </a:ln>
          <a:effectLst/>
        </p:spPr>
      </p:cxnSp>
      <p:cxnSp>
        <p:nvCxnSpPr>
          <p:cNvPr id="15372" name="AutoShape 12"/>
          <p:cNvCxnSpPr>
            <a:cxnSpLocks noChangeShapeType="1"/>
            <a:stCxn id="15363" idx="2"/>
            <a:endCxn id="15368" idx="0"/>
          </p:cNvCxnSpPr>
          <p:nvPr/>
        </p:nvCxnSpPr>
        <p:spPr bwMode="auto">
          <a:xfrm flipH="1">
            <a:off x="5295900" y="3581400"/>
            <a:ext cx="457200" cy="533400"/>
          </a:xfrm>
          <a:prstGeom prst="straightConnector1">
            <a:avLst/>
          </a:prstGeom>
          <a:noFill/>
          <a:ln w="9525">
            <a:solidFill>
              <a:schemeClr val="tx1"/>
            </a:solidFill>
            <a:round/>
            <a:headEnd/>
            <a:tailEnd/>
          </a:ln>
          <a:effectLst/>
        </p:spPr>
      </p:cxnSp>
      <p:cxnSp>
        <p:nvCxnSpPr>
          <p:cNvPr id="15373" name="AutoShape 13"/>
          <p:cNvCxnSpPr>
            <a:cxnSpLocks noChangeShapeType="1"/>
            <a:stCxn id="15363" idx="2"/>
            <a:endCxn id="15364" idx="0"/>
          </p:cNvCxnSpPr>
          <p:nvPr/>
        </p:nvCxnSpPr>
        <p:spPr bwMode="auto">
          <a:xfrm>
            <a:off x="5753100" y="3581400"/>
            <a:ext cx="609600" cy="533400"/>
          </a:xfrm>
          <a:prstGeom prst="straightConnector1">
            <a:avLst/>
          </a:prstGeom>
          <a:noFill/>
          <a:ln w="9525">
            <a:solidFill>
              <a:schemeClr val="tx1"/>
            </a:solidFill>
            <a:round/>
            <a:headEnd/>
            <a:tailEnd/>
          </a:ln>
          <a:effectLst/>
        </p:spPr>
      </p:cxnSp>
      <p:sp>
        <p:nvSpPr>
          <p:cNvPr id="17422" name="Oval 14"/>
          <p:cNvSpPr>
            <a:spLocks noChangeArrowheads="1"/>
          </p:cNvSpPr>
          <p:nvPr/>
        </p:nvSpPr>
        <p:spPr bwMode="auto">
          <a:xfrm>
            <a:off x="3124200" y="1219200"/>
            <a:ext cx="3581400" cy="4267200"/>
          </a:xfrm>
          <a:prstGeom prst="ellipse">
            <a:avLst/>
          </a:prstGeom>
          <a:noFill/>
          <a:ln w="9525">
            <a:solidFill>
              <a:srgbClr val="FF0000"/>
            </a:solidFill>
            <a:round/>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066800" y="381000"/>
            <a:ext cx="7696200" cy="779463"/>
          </a:xfrm>
          <a:prstGeom prst="rect">
            <a:avLst/>
          </a:prstGeom>
          <a:noFill/>
          <a:ln w="9525">
            <a:noFill/>
            <a:miter lim="800000"/>
            <a:headEnd/>
            <a:tailEnd/>
          </a:ln>
          <a:effectLst/>
        </p:spPr>
        <p:txBody>
          <a:bodyPr>
            <a:spAutoFit/>
          </a:bodyPr>
          <a:lstStyle/>
          <a:p>
            <a:pPr>
              <a:spcBef>
                <a:spcPct val="50000"/>
              </a:spcBef>
            </a:pPr>
            <a:r>
              <a:rPr lang="en-US" b="1"/>
              <a:t>AVL Tree Example:</a:t>
            </a:r>
          </a:p>
          <a:p>
            <a:pPr>
              <a:spcBef>
                <a:spcPct val="50000"/>
              </a:spcBef>
              <a:buFontTx/>
              <a:buChar char="•"/>
            </a:pPr>
            <a:r>
              <a:rPr lang="en-US" b="1"/>
              <a:t> Balanced!!</a:t>
            </a:r>
          </a:p>
        </p:txBody>
      </p:sp>
      <p:sp>
        <p:nvSpPr>
          <p:cNvPr id="16387" name="Rectangle 3"/>
          <p:cNvSpPr>
            <a:spLocks noChangeArrowheads="1"/>
          </p:cNvSpPr>
          <p:nvPr/>
        </p:nvSpPr>
        <p:spPr bwMode="auto">
          <a:xfrm>
            <a:off x="4343400" y="2209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14</a:t>
            </a:r>
          </a:p>
        </p:txBody>
      </p:sp>
      <p:sp>
        <p:nvSpPr>
          <p:cNvPr id="16388" name="Rectangle 4"/>
          <p:cNvSpPr>
            <a:spLocks noChangeArrowheads="1"/>
          </p:cNvSpPr>
          <p:nvPr/>
        </p:nvSpPr>
        <p:spPr bwMode="auto">
          <a:xfrm>
            <a:off x="4953000" y="3124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17</a:t>
            </a:r>
          </a:p>
        </p:txBody>
      </p:sp>
      <p:sp>
        <p:nvSpPr>
          <p:cNvPr id="16389" name="Rectangle 5"/>
          <p:cNvSpPr>
            <a:spLocks noChangeArrowheads="1"/>
          </p:cNvSpPr>
          <p:nvPr/>
        </p:nvSpPr>
        <p:spPr bwMode="auto">
          <a:xfrm>
            <a:off x="2438400" y="3048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4</a:t>
            </a:r>
          </a:p>
        </p:txBody>
      </p:sp>
      <p:sp>
        <p:nvSpPr>
          <p:cNvPr id="16390" name="Rectangle 6"/>
          <p:cNvSpPr>
            <a:spLocks noChangeArrowheads="1"/>
          </p:cNvSpPr>
          <p:nvPr/>
        </p:nvSpPr>
        <p:spPr bwMode="auto">
          <a:xfrm>
            <a:off x="3048000" y="2209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sp>
        <p:nvSpPr>
          <p:cNvPr id="16391" name="Rectangle 7"/>
          <p:cNvSpPr>
            <a:spLocks noChangeArrowheads="1"/>
          </p:cNvSpPr>
          <p:nvPr/>
        </p:nvSpPr>
        <p:spPr bwMode="auto">
          <a:xfrm>
            <a:off x="3733800" y="1371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12</a:t>
            </a:r>
          </a:p>
        </p:txBody>
      </p:sp>
      <p:sp>
        <p:nvSpPr>
          <p:cNvPr id="16392" name="Rectangle 8"/>
          <p:cNvSpPr>
            <a:spLocks noChangeArrowheads="1"/>
          </p:cNvSpPr>
          <p:nvPr/>
        </p:nvSpPr>
        <p:spPr bwMode="auto">
          <a:xfrm>
            <a:off x="3886200" y="3124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16393" name="AutoShape 9"/>
          <p:cNvCxnSpPr>
            <a:cxnSpLocks noChangeShapeType="1"/>
            <a:stCxn id="16390" idx="2"/>
            <a:endCxn id="16389" idx="0"/>
          </p:cNvCxnSpPr>
          <p:nvPr/>
        </p:nvCxnSpPr>
        <p:spPr bwMode="auto">
          <a:xfrm flipH="1">
            <a:off x="2705100" y="2590800"/>
            <a:ext cx="609600" cy="457200"/>
          </a:xfrm>
          <a:prstGeom prst="straightConnector1">
            <a:avLst/>
          </a:prstGeom>
          <a:noFill/>
          <a:ln w="9525">
            <a:solidFill>
              <a:schemeClr val="tx1"/>
            </a:solidFill>
            <a:round/>
            <a:headEnd/>
            <a:tailEnd/>
          </a:ln>
          <a:effectLst/>
        </p:spPr>
      </p:cxnSp>
      <p:cxnSp>
        <p:nvCxnSpPr>
          <p:cNvPr id="16394" name="AutoShape 10"/>
          <p:cNvCxnSpPr>
            <a:cxnSpLocks noChangeShapeType="1"/>
            <a:stCxn id="16391" idx="2"/>
            <a:endCxn id="16387" idx="0"/>
          </p:cNvCxnSpPr>
          <p:nvPr/>
        </p:nvCxnSpPr>
        <p:spPr bwMode="auto">
          <a:xfrm>
            <a:off x="4000500" y="1752600"/>
            <a:ext cx="609600" cy="457200"/>
          </a:xfrm>
          <a:prstGeom prst="straightConnector1">
            <a:avLst/>
          </a:prstGeom>
          <a:noFill/>
          <a:ln w="9525">
            <a:solidFill>
              <a:schemeClr val="tx1"/>
            </a:solidFill>
            <a:round/>
            <a:headEnd/>
            <a:tailEnd/>
          </a:ln>
          <a:effectLst/>
        </p:spPr>
      </p:cxnSp>
      <p:cxnSp>
        <p:nvCxnSpPr>
          <p:cNvPr id="16395" name="AutoShape 11"/>
          <p:cNvCxnSpPr>
            <a:cxnSpLocks noChangeShapeType="1"/>
            <a:stCxn id="16387" idx="2"/>
            <a:endCxn id="16392" idx="0"/>
          </p:cNvCxnSpPr>
          <p:nvPr/>
        </p:nvCxnSpPr>
        <p:spPr bwMode="auto">
          <a:xfrm flipH="1">
            <a:off x="4152900" y="2590800"/>
            <a:ext cx="457200" cy="533400"/>
          </a:xfrm>
          <a:prstGeom prst="straightConnector1">
            <a:avLst/>
          </a:prstGeom>
          <a:noFill/>
          <a:ln w="9525">
            <a:solidFill>
              <a:schemeClr val="tx1"/>
            </a:solidFill>
            <a:round/>
            <a:headEnd/>
            <a:tailEnd/>
          </a:ln>
          <a:effectLst/>
        </p:spPr>
      </p:cxnSp>
      <p:cxnSp>
        <p:nvCxnSpPr>
          <p:cNvPr id="16396" name="AutoShape 12"/>
          <p:cNvCxnSpPr>
            <a:cxnSpLocks noChangeShapeType="1"/>
            <a:stCxn id="16387" idx="2"/>
            <a:endCxn id="16388" idx="0"/>
          </p:cNvCxnSpPr>
          <p:nvPr/>
        </p:nvCxnSpPr>
        <p:spPr bwMode="auto">
          <a:xfrm>
            <a:off x="4610100" y="2590800"/>
            <a:ext cx="609600" cy="533400"/>
          </a:xfrm>
          <a:prstGeom prst="straightConnector1">
            <a:avLst/>
          </a:prstGeom>
          <a:noFill/>
          <a:ln w="9525">
            <a:solidFill>
              <a:schemeClr val="tx1"/>
            </a:solidFill>
            <a:round/>
            <a:headEnd/>
            <a:tailEnd/>
          </a:ln>
          <a:effectLst/>
        </p:spPr>
      </p:cxnSp>
      <p:cxnSp>
        <p:nvCxnSpPr>
          <p:cNvPr id="16397" name="AutoShape 13"/>
          <p:cNvCxnSpPr>
            <a:cxnSpLocks noChangeShapeType="1"/>
            <a:stCxn id="16391" idx="2"/>
            <a:endCxn id="16390" idx="0"/>
          </p:cNvCxnSpPr>
          <p:nvPr/>
        </p:nvCxnSpPr>
        <p:spPr bwMode="auto">
          <a:xfrm flipH="1">
            <a:off x="3314700" y="1752600"/>
            <a:ext cx="685800" cy="457200"/>
          </a:xfrm>
          <a:prstGeom prst="straightConnector1">
            <a:avLst/>
          </a:prstGeom>
          <a:noFill/>
          <a:ln w="9525">
            <a:solidFill>
              <a:schemeClr val="tx1"/>
            </a:solidFill>
            <a:round/>
            <a:headEnd/>
            <a:tailEnd/>
          </a:ln>
          <a:effectLst/>
        </p:spPr>
      </p:cxn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smtClean="0"/>
              <a:t>In Class Exercises</a:t>
            </a:r>
          </a:p>
        </p:txBody>
      </p:sp>
      <p:sp>
        <p:nvSpPr>
          <p:cNvPr id="17411" name="Rectangle 3"/>
          <p:cNvSpPr>
            <a:spLocks noGrp="1" noChangeArrowheads="1"/>
          </p:cNvSpPr>
          <p:nvPr>
            <p:ph type="body" idx="1"/>
          </p:nvPr>
        </p:nvSpPr>
        <p:spPr>
          <a:xfrm>
            <a:off x="0" y="1600200"/>
            <a:ext cx="9144000" cy="4525963"/>
          </a:xfrm>
        </p:spPr>
        <p:txBody>
          <a:bodyPr/>
          <a:lstStyle/>
          <a:p>
            <a:pPr eaLnBrk="1" hangingPunct="1"/>
            <a:r>
              <a:rPr lang="en-US" smtClean="0"/>
              <a:t>Build an AVL tree with the following values:</a:t>
            </a:r>
          </a:p>
          <a:p>
            <a:pPr lvl="1" eaLnBrk="1" hangingPunct="1">
              <a:buFontTx/>
              <a:buNone/>
            </a:pPr>
            <a:r>
              <a:rPr lang="en-US" smtClean="0"/>
              <a:t>15, 20, 24, 10, 13, 7, 30, 36, 25</a:t>
            </a:r>
          </a:p>
          <a:p>
            <a:pPr lvl="1" eaLnBrk="1" hangingPunct="1"/>
            <a:endParaRPr lang="en-US" smtClean="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ChangeArrowheads="1"/>
          </p:cNvSpPr>
          <p:nvPr/>
        </p:nvSpPr>
        <p:spPr bwMode="auto">
          <a:xfrm>
            <a:off x="1447800" y="838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sp>
        <p:nvSpPr>
          <p:cNvPr id="18435" name="Rectangle 5"/>
          <p:cNvSpPr>
            <a:spLocks noChangeArrowheads="1"/>
          </p:cNvSpPr>
          <p:nvPr/>
        </p:nvSpPr>
        <p:spPr bwMode="auto">
          <a:xfrm>
            <a:off x="762000" y="0"/>
            <a:ext cx="7467600" cy="366713"/>
          </a:xfrm>
          <a:prstGeom prst="rect">
            <a:avLst/>
          </a:prstGeom>
          <a:noFill/>
          <a:ln w="9525">
            <a:noFill/>
            <a:miter lim="800000"/>
            <a:headEnd/>
            <a:tailEnd/>
          </a:ln>
          <a:effectLst/>
        </p:spPr>
        <p:txBody>
          <a:bodyPr>
            <a:spAutoFit/>
          </a:bodyPr>
          <a:lstStyle/>
          <a:p>
            <a:pPr lvl="1" eaLnBrk="1" hangingPunct="1">
              <a:spcBef>
                <a:spcPct val="20000"/>
              </a:spcBef>
            </a:pPr>
            <a:r>
              <a:rPr lang="en-US"/>
              <a:t>15, 20, 24, 10, 13, 7, 30, 36, 25</a:t>
            </a:r>
          </a:p>
        </p:txBody>
      </p:sp>
      <p:sp>
        <p:nvSpPr>
          <p:cNvPr id="20487" name="Rectangle 7"/>
          <p:cNvSpPr>
            <a:spLocks noChangeArrowheads="1"/>
          </p:cNvSpPr>
          <p:nvPr/>
        </p:nvSpPr>
        <p:spPr bwMode="auto">
          <a:xfrm>
            <a:off x="2057400" y="1524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0488" name="AutoShape 8"/>
          <p:cNvCxnSpPr>
            <a:cxnSpLocks noChangeShapeType="1"/>
            <a:stCxn id="20484" idx="2"/>
            <a:endCxn id="20487" idx="0"/>
          </p:cNvCxnSpPr>
          <p:nvPr/>
        </p:nvCxnSpPr>
        <p:spPr bwMode="auto">
          <a:xfrm>
            <a:off x="1714500" y="1219200"/>
            <a:ext cx="609600" cy="304800"/>
          </a:xfrm>
          <a:prstGeom prst="straightConnector1">
            <a:avLst/>
          </a:prstGeom>
          <a:noFill/>
          <a:ln w="9525">
            <a:solidFill>
              <a:schemeClr val="tx1"/>
            </a:solidFill>
            <a:round/>
            <a:headEnd/>
            <a:tailEnd/>
          </a:ln>
          <a:effectLst/>
        </p:spPr>
      </p:cxnSp>
      <p:sp>
        <p:nvSpPr>
          <p:cNvPr id="20489" name="Rectangle 9"/>
          <p:cNvSpPr>
            <a:spLocks noChangeArrowheads="1"/>
          </p:cNvSpPr>
          <p:nvPr/>
        </p:nvSpPr>
        <p:spPr bwMode="auto">
          <a:xfrm>
            <a:off x="2667000" y="2209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0490" name="AutoShape 10"/>
          <p:cNvCxnSpPr>
            <a:cxnSpLocks noChangeShapeType="1"/>
            <a:stCxn id="20487" idx="2"/>
            <a:endCxn id="20489" idx="0"/>
          </p:cNvCxnSpPr>
          <p:nvPr/>
        </p:nvCxnSpPr>
        <p:spPr bwMode="auto">
          <a:xfrm>
            <a:off x="2324100" y="1905000"/>
            <a:ext cx="609600" cy="304800"/>
          </a:xfrm>
          <a:prstGeom prst="straightConnector1">
            <a:avLst/>
          </a:prstGeom>
          <a:noFill/>
          <a:ln w="9525">
            <a:solidFill>
              <a:schemeClr val="tx1"/>
            </a:solidFill>
            <a:round/>
            <a:headEnd/>
            <a:tailEnd/>
          </a:ln>
          <a:effectLst/>
        </p:spPr>
      </p:cxnSp>
      <p:sp>
        <p:nvSpPr>
          <p:cNvPr id="20491" name="Rectangle 11"/>
          <p:cNvSpPr>
            <a:spLocks noChangeArrowheads="1"/>
          </p:cNvSpPr>
          <p:nvPr/>
        </p:nvSpPr>
        <p:spPr bwMode="auto">
          <a:xfrm>
            <a:off x="5943600" y="1143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sp>
        <p:nvSpPr>
          <p:cNvPr id="20492" name="Rectangle 12"/>
          <p:cNvSpPr>
            <a:spLocks noChangeArrowheads="1"/>
          </p:cNvSpPr>
          <p:nvPr/>
        </p:nvSpPr>
        <p:spPr bwMode="auto">
          <a:xfrm>
            <a:off x="6553200" y="304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0493" name="AutoShape 13"/>
          <p:cNvCxnSpPr>
            <a:cxnSpLocks noChangeShapeType="1"/>
            <a:stCxn id="20491" idx="0"/>
            <a:endCxn id="20492" idx="2"/>
          </p:cNvCxnSpPr>
          <p:nvPr/>
        </p:nvCxnSpPr>
        <p:spPr bwMode="auto">
          <a:xfrm flipV="1">
            <a:off x="6210300" y="685800"/>
            <a:ext cx="609600" cy="457200"/>
          </a:xfrm>
          <a:prstGeom prst="straightConnector1">
            <a:avLst/>
          </a:prstGeom>
          <a:noFill/>
          <a:ln w="9525">
            <a:solidFill>
              <a:schemeClr val="tx1"/>
            </a:solidFill>
            <a:round/>
            <a:headEnd/>
            <a:tailEnd/>
          </a:ln>
          <a:effectLst/>
        </p:spPr>
      </p:cxnSp>
      <p:sp>
        <p:nvSpPr>
          <p:cNvPr id="20494" name="Rectangle 14"/>
          <p:cNvSpPr>
            <a:spLocks noChangeArrowheads="1"/>
          </p:cNvSpPr>
          <p:nvPr/>
        </p:nvSpPr>
        <p:spPr bwMode="auto">
          <a:xfrm>
            <a:off x="7162800" y="1143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0495" name="AutoShape 15"/>
          <p:cNvCxnSpPr>
            <a:cxnSpLocks noChangeShapeType="1"/>
            <a:stCxn id="20492" idx="2"/>
            <a:endCxn id="20494" idx="0"/>
          </p:cNvCxnSpPr>
          <p:nvPr/>
        </p:nvCxnSpPr>
        <p:spPr bwMode="auto">
          <a:xfrm>
            <a:off x="6819900" y="685800"/>
            <a:ext cx="609600" cy="457200"/>
          </a:xfrm>
          <a:prstGeom prst="straightConnector1">
            <a:avLst/>
          </a:prstGeom>
          <a:noFill/>
          <a:ln w="9525">
            <a:solidFill>
              <a:schemeClr val="tx1"/>
            </a:solidFill>
            <a:round/>
            <a:headEnd/>
            <a:tailEnd/>
          </a:ln>
          <a:effectLst/>
        </p:spPr>
      </p:cxnSp>
      <p:sp>
        <p:nvSpPr>
          <p:cNvPr id="20496" name="AutoShape 16"/>
          <p:cNvSpPr>
            <a:spLocks noChangeArrowheads="1"/>
          </p:cNvSpPr>
          <p:nvPr/>
        </p:nvSpPr>
        <p:spPr bwMode="auto">
          <a:xfrm>
            <a:off x="3429000" y="1371600"/>
            <a:ext cx="914400" cy="381000"/>
          </a:xfrm>
          <a:prstGeom prst="rightArrow">
            <a:avLst>
              <a:gd name="adj1" fmla="val 50000"/>
              <a:gd name="adj2" fmla="val 60000"/>
            </a:avLst>
          </a:prstGeom>
          <a:solidFill>
            <a:schemeClr val="accent1"/>
          </a:solidFill>
          <a:ln w="9525">
            <a:solidFill>
              <a:schemeClr val="tx1"/>
            </a:solidFill>
            <a:miter lim="800000"/>
            <a:headEnd/>
            <a:tailEnd/>
          </a:ln>
          <a:effectLst/>
        </p:spPr>
        <p:txBody>
          <a:bodyPr wrap="none" anchor="ctr"/>
          <a:lstStyle/>
          <a:p>
            <a:endParaRPr lang="en-IN"/>
          </a:p>
        </p:txBody>
      </p:sp>
      <p:sp>
        <p:nvSpPr>
          <p:cNvPr id="20497" name="Rectangle 17"/>
          <p:cNvSpPr>
            <a:spLocks noChangeArrowheads="1"/>
          </p:cNvSpPr>
          <p:nvPr/>
        </p:nvSpPr>
        <p:spPr bwMode="auto">
          <a:xfrm>
            <a:off x="53340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0498" name="AutoShape 18"/>
          <p:cNvCxnSpPr>
            <a:cxnSpLocks noChangeShapeType="1"/>
            <a:stCxn id="20491" idx="2"/>
            <a:endCxn id="20497" idx="0"/>
          </p:cNvCxnSpPr>
          <p:nvPr/>
        </p:nvCxnSpPr>
        <p:spPr bwMode="auto">
          <a:xfrm flipH="1">
            <a:off x="5600700" y="1524000"/>
            <a:ext cx="609600" cy="381000"/>
          </a:xfrm>
          <a:prstGeom prst="straightConnector1">
            <a:avLst/>
          </a:prstGeom>
          <a:noFill/>
          <a:ln w="9525">
            <a:solidFill>
              <a:schemeClr val="tx1"/>
            </a:solidFill>
            <a:round/>
            <a:headEnd/>
            <a:tailEnd/>
          </a:ln>
          <a:effectLst/>
        </p:spPr>
      </p:cxnSp>
      <p:sp>
        <p:nvSpPr>
          <p:cNvPr id="20499" name="Rectangle 19"/>
          <p:cNvSpPr>
            <a:spLocks noChangeArrowheads="1"/>
          </p:cNvSpPr>
          <p:nvPr/>
        </p:nvSpPr>
        <p:spPr bwMode="auto">
          <a:xfrm>
            <a:off x="5943600" y="2743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20500" name="AutoShape 20"/>
          <p:cNvCxnSpPr>
            <a:cxnSpLocks noChangeShapeType="1"/>
            <a:stCxn id="20497" idx="2"/>
            <a:endCxn id="20499" idx="0"/>
          </p:cNvCxnSpPr>
          <p:nvPr/>
        </p:nvCxnSpPr>
        <p:spPr bwMode="auto">
          <a:xfrm>
            <a:off x="5600700" y="2286000"/>
            <a:ext cx="609600" cy="457200"/>
          </a:xfrm>
          <a:prstGeom prst="straightConnector1">
            <a:avLst/>
          </a:prstGeom>
          <a:noFill/>
          <a:ln w="9525">
            <a:solidFill>
              <a:schemeClr val="tx1"/>
            </a:solidFill>
            <a:round/>
            <a:headEnd/>
            <a:tailEnd/>
          </a:ln>
          <a:effectLst/>
        </p:spPr>
      </p:cxnSp>
      <p:sp>
        <p:nvSpPr>
          <p:cNvPr id="20501" name="AutoShape 21"/>
          <p:cNvSpPr>
            <a:spLocks noChangeArrowheads="1"/>
          </p:cNvSpPr>
          <p:nvPr/>
        </p:nvSpPr>
        <p:spPr bwMode="auto">
          <a:xfrm>
            <a:off x="7315200" y="2590800"/>
            <a:ext cx="457200" cy="762000"/>
          </a:xfrm>
          <a:prstGeom prst="downArrow">
            <a:avLst>
              <a:gd name="adj1" fmla="val 50000"/>
              <a:gd name="adj2" fmla="val 41667"/>
            </a:avLst>
          </a:prstGeom>
          <a:solidFill>
            <a:schemeClr val="accent1"/>
          </a:solidFill>
          <a:ln w="9525">
            <a:solidFill>
              <a:schemeClr val="tx1"/>
            </a:solidFill>
            <a:miter lim="800000"/>
            <a:headEnd/>
            <a:tailEnd/>
          </a:ln>
          <a:effectLst/>
        </p:spPr>
        <p:txBody>
          <a:bodyPr wrap="none" anchor="ctr"/>
          <a:lstStyle/>
          <a:p>
            <a:endParaRPr lang="en-IN"/>
          </a:p>
        </p:txBody>
      </p:sp>
      <p:sp>
        <p:nvSpPr>
          <p:cNvPr id="20503" name="Rectangle 23"/>
          <p:cNvSpPr>
            <a:spLocks noChangeArrowheads="1"/>
          </p:cNvSpPr>
          <p:nvPr/>
        </p:nvSpPr>
        <p:spPr bwMode="auto">
          <a:xfrm>
            <a:off x="5943600" y="4419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sp>
        <p:nvSpPr>
          <p:cNvPr id="20504" name="Rectangle 24"/>
          <p:cNvSpPr>
            <a:spLocks noChangeArrowheads="1"/>
          </p:cNvSpPr>
          <p:nvPr/>
        </p:nvSpPr>
        <p:spPr bwMode="auto">
          <a:xfrm>
            <a:off x="6553200" y="3581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0505" name="AutoShape 25"/>
          <p:cNvCxnSpPr>
            <a:cxnSpLocks noChangeShapeType="1"/>
            <a:stCxn id="20503" idx="0"/>
            <a:endCxn id="20504" idx="2"/>
          </p:cNvCxnSpPr>
          <p:nvPr/>
        </p:nvCxnSpPr>
        <p:spPr bwMode="auto">
          <a:xfrm flipV="1">
            <a:off x="6210300" y="3962400"/>
            <a:ext cx="609600" cy="457200"/>
          </a:xfrm>
          <a:prstGeom prst="straightConnector1">
            <a:avLst/>
          </a:prstGeom>
          <a:noFill/>
          <a:ln w="9525">
            <a:solidFill>
              <a:schemeClr val="tx1"/>
            </a:solidFill>
            <a:round/>
            <a:headEnd/>
            <a:tailEnd/>
          </a:ln>
          <a:effectLst/>
        </p:spPr>
      </p:cxnSp>
      <p:sp>
        <p:nvSpPr>
          <p:cNvPr id="20506" name="Rectangle 26"/>
          <p:cNvSpPr>
            <a:spLocks noChangeArrowheads="1"/>
          </p:cNvSpPr>
          <p:nvPr/>
        </p:nvSpPr>
        <p:spPr bwMode="auto">
          <a:xfrm>
            <a:off x="7162800" y="4419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0507" name="AutoShape 27"/>
          <p:cNvCxnSpPr>
            <a:cxnSpLocks noChangeShapeType="1"/>
            <a:stCxn id="20504" idx="2"/>
            <a:endCxn id="20506" idx="0"/>
          </p:cNvCxnSpPr>
          <p:nvPr/>
        </p:nvCxnSpPr>
        <p:spPr bwMode="auto">
          <a:xfrm>
            <a:off x="6819900" y="3962400"/>
            <a:ext cx="609600" cy="457200"/>
          </a:xfrm>
          <a:prstGeom prst="straightConnector1">
            <a:avLst/>
          </a:prstGeom>
          <a:noFill/>
          <a:ln w="9525">
            <a:solidFill>
              <a:schemeClr val="tx1"/>
            </a:solidFill>
            <a:round/>
            <a:headEnd/>
            <a:tailEnd/>
          </a:ln>
          <a:effectLst/>
        </p:spPr>
      </p:cxnSp>
      <p:sp>
        <p:nvSpPr>
          <p:cNvPr id="20508" name="Rectangle 28"/>
          <p:cNvSpPr>
            <a:spLocks noChangeArrowheads="1"/>
          </p:cNvSpPr>
          <p:nvPr/>
        </p:nvSpPr>
        <p:spPr bwMode="auto">
          <a:xfrm>
            <a:off x="5334000" y="5181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cxnSp>
        <p:nvCxnSpPr>
          <p:cNvPr id="20509" name="AutoShape 29"/>
          <p:cNvCxnSpPr>
            <a:cxnSpLocks noChangeShapeType="1"/>
            <a:stCxn id="20503" idx="2"/>
            <a:endCxn id="20508" idx="0"/>
          </p:cNvCxnSpPr>
          <p:nvPr/>
        </p:nvCxnSpPr>
        <p:spPr bwMode="auto">
          <a:xfrm flipH="1">
            <a:off x="5600700" y="4800600"/>
            <a:ext cx="609600" cy="381000"/>
          </a:xfrm>
          <a:prstGeom prst="straightConnector1">
            <a:avLst/>
          </a:prstGeom>
          <a:noFill/>
          <a:ln w="9525">
            <a:solidFill>
              <a:schemeClr val="tx1"/>
            </a:solidFill>
            <a:round/>
            <a:headEnd/>
            <a:tailEnd/>
          </a:ln>
          <a:effectLst/>
        </p:spPr>
      </p:cxnSp>
      <p:sp>
        <p:nvSpPr>
          <p:cNvPr id="20510" name="Rectangle 30"/>
          <p:cNvSpPr>
            <a:spLocks noChangeArrowheads="1"/>
          </p:cNvSpPr>
          <p:nvPr/>
        </p:nvSpPr>
        <p:spPr bwMode="auto">
          <a:xfrm>
            <a:off x="4800600" y="6019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0511" name="AutoShape 31"/>
          <p:cNvCxnSpPr>
            <a:cxnSpLocks noChangeShapeType="1"/>
            <a:stCxn id="20508" idx="2"/>
            <a:endCxn id="20510" idx="0"/>
          </p:cNvCxnSpPr>
          <p:nvPr/>
        </p:nvCxnSpPr>
        <p:spPr bwMode="auto">
          <a:xfrm flipH="1">
            <a:off x="5067300" y="5562600"/>
            <a:ext cx="533400" cy="457200"/>
          </a:xfrm>
          <a:prstGeom prst="straightConnector1">
            <a:avLst/>
          </a:prstGeom>
          <a:noFill/>
          <a:ln w="9525">
            <a:solidFill>
              <a:schemeClr val="tx1"/>
            </a:solidFill>
            <a:round/>
            <a:headEnd/>
            <a:tailEnd/>
          </a:ln>
          <a:effectLst/>
        </p:spPr>
      </p:cxnSp>
      <p:sp>
        <p:nvSpPr>
          <p:cNvPr id="20512" name="Rectangle 32"/>
          <p:cNvSpPr>
            <a:spLocks noChangeArrowheads="1"/>
          </p:cNvSpPr>
          <p:nvPr/>
        </p:nvSpPr>
        <p:spPr bwMode="auto">
          <a:xfrm>
            <a:off x="1600200" y="4419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0513" name="Rectangle 33"/>
          <p:cNvSpPr>
            <a:spLocks noChangeArrowheads="1"/>
          </p:cNvSpPr>
          <p:nvPr/>
        </p:nvSpPr>
        <p:spPr bwMode="auto">
          <a:xfrm>
            <a:off x="2209800" y="3581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0514" name="AutoShape 34"/>
          <p:cNvCxnSpPr>
            <a:cxnSpLocks noChangeShapeType="1"/>
            <a:stCxn id="20512" idx="0"/>
            <a:endCxn id="20513" idx="2"/>
          </p:cNvCxnSpPr>
          <p:nvPr/>
        </p:nvCxnSpPr>
        <p:spPr bwMode="auto">
          <a:xfrm flipV="1">
            <a:off x="1866900" y="3962400"/>
            <a:ext cx="609600" cy="457200"/>
          </a:xfrm>
          <a:prstGeom prst="straightConnector1">
            <a:avLst/>
          </a:prstGeom>
          <a:noFill/>
          <a:ln w="9525">
            <a:solidFill>
              <a:schemeClr val="tx1"/>
            </a:solidFill>
            <a:round/>
            <a:headEnd/>
            <a:tailEnd/>
          </a:ln>
          <a:effectLst/>
        </p:spPr>
      </p:cxnSp>
      <p:sp>
        <p:nvSpPr>
          <p:cNvPr id="20515" name="Rectangle 35"/>
          <p:cNvSpPr>
            <a:spLocks noChangeArrowheads="1"/>
          </p:cNvSpPr>
          <p:nvPr/>
        </p:nvSpPr>
        <p:spPr bwMode="auto">
          <a:xfrm>
            <a:off x="2819400" y="4419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0516" name="AutoShape 36"/>
          <p:cNvCxnSpPr>
            <a:cxnSpLocks noChangeShapeType="1"/>
            <a:stCxn id="20513" idx="2"/>
            <a:endCxn id="20515" idx="0"/>
          </p:cNvCxnSpPr>
          <p:nvPr/>
        </p:nvCxnSpPr>
        <p:spPr bwMode="auto">
          <a:xfrm>
            <a:off x="2476500" y="3962400"/>
            <a:ext cx="609600" cy="457200"/>
          </a:xfrm>
          <a:prstGeom prst="straightConnector1">
            <a:avLst/>
          </a:prstGeom>
          <a:noFill/>
          <a:ln w="9525">
            <a:solidFill>
              <a:schemeClr val="tx1"/>
            </a:solidFill>
            <a:round/>
            <a:headEnd/>
            <a:tailEnd/>
          </a:ln>
          <a:effectLst/>
        </p:spPr>
      </p:cxnSp>
      <p:sp>
        <p:nvSpPr>
          <p:cNvPr id="20517" name="Rectangle 37"/>
          <p:cNvSpPr>
            <a:spLocks noChangeArrowheads="1"/>
          </p:cNvSpPr>
          <p:nvPr/>
        </p:nvSpPr>
        <p:spPr bwMode="auto">
          <a:xfrm>
            <a:off x="2057400" y="5181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0518" name="AutoShape 38"/>
          <p:cNvCxnSpPr>
            <a:cxnSpLocks noChangeShapeType="1"/>
            <a:stCxn id="20512" idx="2"/>
            <a:endCxn id="20517" idx="0"/>
          </p:cNvCxnSpPr>
          <p:nvPr/>
        </p:nvCxnSpPr>
        <p:spPr bwMode="auto">
          <a:xfrm>
            <a:off x="1866900" y="4800600"/>
            <a:ext cx="457200" cy="381000"/>
          </a:xfrm>
          <a:prstGeom prst="straightConnector1">
            <a:avLst/>
          </a:prstGeom>
          <a:noFill/>
          <a:ln w="9525">
            <a:solidFill>
              <a:schemeClr val="tx1"/>
            </a:solidFill>
            <a:round/>
            <a:headEnd/>
            <a:tailEnd/>
          </a:ln>
          <a:effectLst/>
        </p:spPr>
      </p:cxnSp>
      <p:sp>
        <p:nvSpPr>
          <p:cNvPr id="20519" name="Rectangle 39"/>
          <p:cNvSpPr>
            <a:spLocks noChangeArrowheads="1"/>
          </p:cNvSpPr>
          <p:nvPr/>
        </p:nvSpPr>
        <p:spPr bwMode="auto">
          <a:xfrm>
            <a:off x="1143000" y="5181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0520" name="AutoShape 40"/>
          <p:cNvCxnSpPr>
            <a:cxnSpLocks noChangeShapeType="1"/>
            <a:stCxn id="20512" idx="2"/>
            <a:endCxn id="20519" idx="0"/>
          </p:cNvCxnSpPr>
          <p:nvPr/>
        </p:nvCxnSpPr>
        <p:spPr bwMode="auto">
          <a:xfrm flipH="1">
            <a:off x="1409700" y="4800600"/>
            <a:ext cx="457200" cy="381000"/>
          </a:xfrm>
          <a:prstGeom prst="straightConnector1">
            <a:avLst/>
          </a:prstGeom>
          <a:noFill/>
          <a:ln w="9525">
            <a:solidFill>
              <a:schemeClr val="tx1"/>
            </a:solidFill>
            <a:round/>
            <a:headEnd/>
            <a:tailEnd/>
          </a:ln>
          <a:effectLst/>
        </p:spPr>
      </p:cxnSp>
      <p:sp>
        <p:nvSpPr>
          <p:cNvPr id="20521" name="AutoShape 41"/>
          <p:cNvSpPr>
            <a:spLocks noChangeArrowheads="1"/>
          </p:cNvSpPr>
          <p:nvPr/>
        </p:nvSpPr>
        <p:spPr bwMode="auto">
          <a:xfrm>
            <a:off x="4191000" y="4267200"/>
            <a:ext cx="914400" cy="381000"/>
          </a:xfrm>
          <a:prstGeom prst="leftArrow">
            <a:avLst>
              <a:gd name="adj1" fmla="val 50000"/>
              <a:gd name="adj2" fmla="val 60000"/>
            </a:avLst>
          </a:prstGeom>
          <a:solidFill>
            <a:schemeClr val="accent1"/>
          </a:solidFill>
          <a:ln w="9525">
            <a:solidFill>
              <a:schemeClr val="tx1"/>
            </a:solidFill>
            <a:miter lim="800000"/>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48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9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9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9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49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49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49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49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49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49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49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50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50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50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50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05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50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50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50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50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5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0511"/>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521"/>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51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51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051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51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051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51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051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051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0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P spid="20487" grpId="0" animBg="1"/>
      <p:bldP spid="20489" grpId="0" animBg="1"/>
      <p:bldP spid="20491" grpId="0" animBg="1"/>
      <p:bldP spid="20492" grpId="0" animBg="1"/>
      <p:bldP spid="20494" grpId="0" animBg="1"/>
      <p:bldP spid="20496" grpId="0" animBg="1"/>
      <p:bldP spid="20497" grpId="0" animBg="1"/>
      <p:bldP spid="20499" grpId="0" animBg="1"/>
      <p:bldP spid="20501" grpId="0" animBg="1"/>
      <p:bldP spid="20503" grpId="0" animBg="1"/>
      <p:bldP spid="20504" grpId="0" animBg="1"/>
      <p:bldP spid="20506" grpId="0" animBg="1"/>
      <p:bldP spid="20508" grpId="0" animBg="1"/>
      <p:bldP spid="20510" grpId="0" animBg="1"/>
      <p:bldP spid="20512" grpId="0" animBg="1"/>
      <p:bldP spid="20513" grpId="0" animBg="1"/>
      <p:bldP spid="20515" grpId="0" animBg="1"/>
      <p:bldP spid="20517" grpId="0" animBg="1"/>
      <p:bldP spid="20519" grpId="0" animBg="1"/>
      <p:bldP spid="2052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1143000" y="1295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19459" name="Rectangle 5"/>
          <p:cNvSpPr>
            <a:spLocks noChangeArrowheads="1"/>
          </p:cNvSpPr>
          <p:nvPr/>
        </p:nvSpPr>
        <p:spPr bwMode="auto">
          <a:xfrm>
            <a:off x="1752600" y="457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19460" name="AutoShape 6"/>
          <p:cNvCxnSpPr>
            <a:cxnSpLocks noChangeShapeType="1"/>
            <a:stCxn id="19458" idx="0"/>
            <a:endCxn id="19459" idx="2"/>
          </p:cNvCxnSpPr>
          <p:nvPr/>
        </p:nvCxnSpPr>
        <p:spPr bwMode="auto">
          <a:xfrm flipV="1">
            <a:off x="1409700" y="838200"/>
            <a:ext cx="609600" cy="457200"/>
          </a:xfrm>
          <a:prstGeom prst="straightConnector1">
            <a:avLst/>
          </a:prstGeom>
          <a:noFill/>
          <a:ln w="9525">
            <a:solidFill>
              <a:schemeClr val="tx1"/>
            </a:solidFill>
            <a:round/>
            <a:headEnd/>
            <a:tailEnd/>
          </a:ln>
          <a:effectLst/>
        </p:spPr>
      </p:cxnSp>
      <p:sp>
        <p:nvSpPr>
          <p:cNvPr id="19461" name="Rectangle 7"/>
          <p:cNvSpPr>
            <a:spLocks noChangeArrowheads="1"/>
          </p:cNvSpPr>
          <p:nvPr/>
        </p:nvSpPr>
        <p:spPr bwMode="auto">
          <a:xfrm>
            <a:off x="2362200" y="1295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19462" name="AutoShape 8"/>
          <p:cNvCxnSpPr>
            <a:cxnSpLocks noChangeShapeType="1"/>
            <a:stCxn id="19459" idx="2"/>
            <a:endCxn id="19461" idx="0"/>
          </p:cNvCxnSpPr>
          <p:nvPr/>
        </p:nvCxnSpPr>
        <p:spPr bwMode="auto">
          <a:xfrm>
            <a:off x="2019300" y="838200"/>
            <a:ext cx="609600" cy="457200"/>
          </a:xfrm>
          <a:prstGeom prst="straightConnector1">
            <a:avLst/>
          </a:prstGeom>
          <a:noFill/>
          <a:ln w="9525">
            <a:solidFill>
              <a:schemeClr val="tx1"/>
            </a:solidFill>
            <a:round/>
            <a:headEnd/>
            <a:tailEnd/>
          </a:ln>
          <a:effectLst/>
        </p:spPr>
      </p:cxnSp>
      <p:sp>
        <p:nvSpPr>
          <p:cNvPr id="19463" name="Rectangle 9"/>
          <p:cNvSpPr>
            <a:spLocks noChangeArrowheads="1"/>
          </p:cNvSpPr>
          <p:nvPr/>
        </p:nvSpPr>
        <p:spPr bwMode="auto">
          <a:xfrm>
            <a:off x="1600200" y="2057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19464" name="AutoShape 10"/>
          <p:cNvCxnSpPr>
            <a:cxnSpLocks noChangeShapeType="1"/>
            <a:stCxn id="19458" idx="2"/>
            <a:endCxn id="19463" idx="0"/>
          </p:cNvCxnSpPr>
          <p:nvPr/>
        </p:nvCxnSpPr>
        <p:spPr bwMode="auto">
          <a:xfrm>
            <a:off x="1409700" y="1676400"/>
            <a:ext cx="457200" cy="381000"/>
          </a:xfrm>
          <a:prstGeom prst="straightConnector1">
            <a:avLst/>
          </a:prstGeom>
          <a:noFill/>
          <a:ln w="9525">
            <a:solidFill>
              <a:schemeClr val="tx1"/>
            </a:solidFill>
            <a:round/>
            <a:headEnd/>
            <a:tailEnd/>
          </a:ln>
          <a:effectLst/>
        </p:spPr>
      </p:cxnSp>
      <p:sp>
        <p:nvSpPr>
          <p:cNvPr id="19465" name="Rectangle 11"/>
          <p:cNvSpPr>
            <a:spLocks noChangeArrowheads="1"/>
          </p:cNvSpPr>
          <p:nvPr/>
        </p:nvSpPr>
        <p:spPr bwMode="auto">
          <a:xfrm>
            <a:off x="685800" y="2057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19466" name="AutoShape 12"/>
          <p:cNvCxnSpPr>
            <a:cxnSpLocks noChangeShapeType="1"/>
            <a:stCxn id="19458" idx="2"/>
            <a:endCxn id="19465" idx="0"/>
          </p:cNvCxnSpPr>
          <p:nvPr/>
        </p:nvCxnSpPr>
        <p:spPr bwMode="auto">
          <a:xfrm flipH="1">
            <a:off x="952500" y="1676400"/>
            <a:ext cx="457200" cy="381000"/>
          </a:xfrm>
          <a:prstGeom prst="straightConnector1">
            <a:avLst/>
          </a:prstGeom>
          <a:noFill/>
          <a:ln w="9525">
            <a:solidFill>
              <a:schemeClr val="tx1"/>
            </a:solidFill>
            <a:round/>
            <a:headEnd/>
            <a:tailEnd/>
          </a:ln>
          <a:effectLst/>
        </p:spPr>
      </p:cxnSp>
      <p:sp>
        <p:nvSpPr>
          <p:cNvPr id="19467" name="Rectangle 13"/>
          <p:cNvSpPr>
            <a:spLocks noChangeArrowheads="1"/>
          </p:cNvSpPr>
          <p:nvPr/>
        </p:nvSpPr>
        <p:spPr bwMode="auto">
          <a:xfrm>
            <a:off x="762000" y="0"/>
            <a:ext cx="7467600" cy="366713"/>
          </a:xfrm>
          <a:prstGeom prst="rect">
            <a:avLst/>
          </a:prstGeom>
          <a:noFill/>
          <a:ln w="9525">
            <a:noFill/>
            <a:miter lim="800000"/>
            <a:headEnd/>
            <a:tailEnd/>
          </a:ln>
          <a:effectLst/>
        </p:spPr>
        <p:txBody>
          <a:bodyPr>
            <a:spAutoFit/>
          </a:bodyPr>
          <a:lstStyle/>
          <a:p>
            <a:pPr lvl="1" eaLnBrk="1" hangingPunct="1">
              <a:spcBef>
                <a:spcPct val="20000"/>
              </a:spcBef>
            </a:pPr>
            <a:r>
              <a:rPr lang="en-US"/>
              <a:t>15, 20, 24, 10, 13, 7, 30, 36, 25</a:t>
            </a:r>
          </a:p>
        </p:txBody>
      </p:sp>
      <p:sp>
        <p:nvSpPr>
          <p:cNvPr id="21518" name="Rectangle 14"/>
          <p:cNvSpPr>
            <a:spLocks noChangeArrowheads="1"/>
          </p:cNvSpPr>
          <p:nvPr/>
        </p:nvSpPr>
        <p:spPr bwMode="auto">
          <a:xfrm>
            <a:off x="152400" y="2819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1519" name="AutoShape 15"/>
          <p:cNvCxnSpPr>
            <a:cxnSpLocks noChangeShapeType="1"/>
            <a:stCxn id="19465" idx="2"/>
            <a:endCxn id="21518" idx="0"/>
          </p:cNvCxnSpPr>
          <p:nvPr/>
        </p:nvCxnSpPr>
        <p:spPr bwMode="auto">
          <a:xfrm flipH="1">
            <a:off x="419100" y="2438400"/>
            <a:ext cx="533400" cy="381000"/>
          </a:xfrm>
          <a:prstGeom prst="straightConnector1">
            <a:avLst/>
          </a:prstGeom>
          <a:noFill/>
          <a:ln w="9525">
            <a:solidFill>
              <a:schemeClr val="tx1"/>
            </a:solidFill>
            <a:round/>
            <a:headEnd/>
            <a:tailEnd/>
          </a:ln>
          <a:effectLst/>
        </p:spPr>
      </p:cxnSp>
      <p:sp>
        <p:nvSpPr>
          <p:cNvPr id="21520" name="AutoShape 16"/>
          <p:cNvSpPr>
            <a:spLocks noChangeArrowheads="1"/>
          </p:cNvSpPr>
          <p:nvPr/>
        </p:nvSpPr>
        <p:spPr bwMode="auto">
          <a:xfrm>
            <a:off x="3429000" y="1371600"/>
            <a:ext cx="914400" cy="381000"/>
          </a:xfrm>
          <a:prstGeom prst="rightArrow">
            <a:avLst>
              <a:gd name="adj1" fmla="val 50000"/>
              <a:gd name="adj2" fmla="val 60000"/>
            </a:avLst>
          </a:prstGeom>
          <a:solidFill>
            <a:schemeClr val="accent1"/>
          </a:solidFill>
          <a:ln w="9525">
            <a:solidFill>
              <a:schemeClr val="tx1"/>
            </a:solidFill>
            <a:miter lim="800000"/>
            <a:headEnd/>
            <a:tailEnd/>
          </a:ln>
          <a:effectLst/>
        </p:spPr>
        <p:txBody>
          <a:bodyPr wrap="none" anchor="ctr"/>
          <a:lstStyle/>
          <a:p>
            <a:endParaRPr lang="en-IN"/>
          </a:p>
        </p:txBody>
      </p:sp>
      <p:sp>
        <p:nvSpPr>
          <p:cNvPr id="21521" name="Rectangle 17"/>
          <p:cNvSpPr>
            <a:spLocks noChangeArrowheads="1"/>
          </p:cNvSpPr>
          <p:nvPr/>
        </p:nvSpPr>
        <p:spPr bwMode="auto">
          <a:xfrm>
            <a:off x="5715000" y="762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1522" name="Rectangle 18"/>
          <p:cNvSpPr>
            <a:spLocks noChangeArrowheads="1"/>
          </p:cNvSpPr>
          <p:nvPr/>
        </p:nvSpPr>
        <p:spPr bwMode="auto">
          <a:xfrm>
            <a:off x="6400800" y="1371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1523" name="AutoShape 19"/>
          <p:cNvCxnSpPr>
            <a:cxnSpLocks noChangeShapeType="1"/>
            <a:stCxn id="21521" idx="2"/>
            <a:endCxn id="21522" idx="0"/>
          </p:cNvCxnSpPr>
          <p:nvPr/>
        </p:nvCxnSpPr>
        <p:spPr bwMode="auto">
          <a:xfrm>
            <a:off x="5981700" y="1143000"/>
            <a:ext cx="685800" cy="228600"/>
          </a:xfrm>
          <a:prstGeom prst="straightConnector1">
            <a:avLst/>
          </a:prstGeom>
          <a:noFill/>
          <a:ln w="9525">
            <a:solidFill>
              <a:schemeClr val="tx1"/>
            </a:solidFill>
            <a:round/>
            <a:headEnd/>
            <a:tailEnd/>
          </a:ln>
          <a:effectLst/>
        </p:spPr>
      </p:cxnSp>
      <p:sp>
        <p:nvSpPr>
          <p:cNvPr id="21524" name="Rectangle 20"/>
          <p:cNvSpPr>
            <a:spLocks noChangeArrowheads="1"/>
          </p:cNvSpPr>
          <p:nvPr/>
        </p:nvSpPr>
        <p:spPr bwMode="auto">
          <a:xfrm>
            <a:off x="7010400" y="2057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1525" name="AutoShape 21"/>
          <p:cNvCxnSpPr>
            <a:cxnSpLocks noChangeShapeType="1"/>
            <a:stCxn id="21522" idx="2"/>
            <a:endCxn id="21524" idx="0"/>
          </p:cNvCxnSpPr>
          <p:nvPr/>
        </p:nvCxnSpPr>
        <p:spPr bwMode="auto">
          <a:xfrm>
            <a:off x="6667500" y="1752600"/>
            <a:ext cx="609600" cy="304800"/>
          </a:xfrm>
          <a:prstGeom prst="straightConnector1">
            <a:avLst/>
          </a:prstGeom>
          <a:noFill/>
          <a:ln w="9525">
            <a:solidFill>
              <a:schemeClr val="tx1"/>
            </a:solidFill>
            <a:round/>
            <a:headEnd/>
            <a:tailEnd/>
          </a:ln>
          <a:effectLst/>
        </p:spPr>
      </p:cxnSp>
      <p:sp>
        <p:nvSpPr>
          <p:cNvPr id="21526" name="Rectangle 22"/>
          <p:cNvSpPr>
            <a:spLocks noChangeArrowheads="1"/>
          </p:cNvSpPr>
          <p:nvPr/>
        </p:nvSpPr>
        <p:spPr bwMode="auto">
          <a:xfrm>
            <a:off x="5867400" y="2057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1527" name="AutoShape 23"/>
          <p:cNvCxnSpPr>
            <a:cxnSpLocks noChangeShapeType="1"/>
            <a:stCxn id="21521" idx="2"/>
            <a:endCxn id="21528" idx="0"/>
          </p:cNvCxnSpPr>
          <p:nvPr/>
        </p:nvCxnSpPr>
        <p:spPr bwMode="auto">
          <a:xfrm flipH="1">
            <a:off x="5372100" y="1143000"/>
            <a:ext cx="609600" cy="228600"/>
          </a:xfrm>
          <a:prstGeom prst="straightConnector1">
            <a:avLst/>
          </a:prstGeom>
          <a:noFill/>
          <a:ln w="9525">
            <a:solidFill>
              <a:schemeClr val="tx1"/>
            </a:solidFill>
            <a:round/>
            <a:headEnd/>
            <a:tailEnd/>
          </a:ln>
          <a:effectLst/>
        </p:spPr>
      </p:cxnSp>
      <p:sp>
        <p:nvSpPr>
          <p:cNvPr id="21528" name="Rectangle 24"/>
          <p:cNvSpPr>
            <a:spLocks noChangeArrowheads="1"/>
          </p:cNvSpPr>
          <p:nvPr/>
        </p:nvSpPr>
        <p:spPr bwMode="auto">
          <a:xfrm>
            <a:off x="5105400" y="1371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1529" name="AutoShape 25"/>
          <p:cNvCxnSpPr>
            <a:cxnSpLocks noChangeShapeType="1"/>
            <a:stCxn id="21522" idx="2"/>
            <a:endCxn id="21526" idx="0"/>
          </p:cNvCxnSpPr>
          <p:nvPr/>
        </p:nvCxnSpPr>
        <p:spPr bwMode="auto">
          <a:xfrm flipH="1">
            <a:off x="6134100" y="1752600"/>
            <a:ext cx="533400" cy="304800"/>
          </a:xfrm>
          <a:prstGeom prst="straightConnector1">
            <a:avLst/>
          </a:prstGeom>
          <a:noFill/>
          <a:ln w="9525">
            <a:solidFill>
              <a:schemeClr val="tx1"/>
            </a:solidFill>
            <a:round/>
            <a:headEnd/>
            <a:tailEnd/>
          </a:ln>
          <a:effectLst/>
        </p:spPr>
      </p:cxnSp>
      <p:sp>
        <p:nvSpPr>
          <p:cNvPr id="21530" name="Rectangle 26"/>
          <p:cNvSpPr>
            <a:spLocks noChangeArrowheads="1"/>
          </p:cNvSpPr>
          <p:nvPr/>
        </p:nvSpPr>
        <p:spPr bwMode="auto">
          <a:xfrm>
            <a:off x="4495800" y="2057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1531" name="AutoShape 27"/>
          <p:cNvCxnSpPr>
            <a:cxnSpLocks noChangeShapeType="1"/>
            <a:stCxn id="21528" idx="2"/>
            <a:endCxn id="21530" idx="0"/>
          </p:cNvCxnSpPr>
          <p:nvPr/>
        </p:nvCxnSpPr>
        <p:spPr bwMode="auto">
          <a:xfrm flipH="1">
            <a:off x="4762500" y="1752600"/>
            <a:ext cx="609600" cy="304800"/>
          </a:xfrm>
          <a:prstGeom prst="straightConnector1">
            <a:avLst/>
          </a:prstGeom>
          <a:noFill/>
          <a:ln w="9525">
            <a:solidFill>
              <a:schemeClr val="tx1"/>
            </a:solidFill>
            <a:round/>
            <a:headEnd/>
            <a:tailEnd/>
          </a:ln>
          <a:effectLst/>
        </p:spPr>
      </p:cxnSp>
      <p:sp>
        <p:nvSpPr>
          <p:cNvPr id="21532" name="Rectangle 28"/>
          <p:cNvSpPr>
            <a:spLocks noChangeArrowheads="1"/>
          </p:cNvSpPr>
          <p:nvPr/>
        </p:nvSpPr>
        <p:spPr bwMode="auto">
          <a:xfrm>
            <a:off x="7543800" y="2743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cxnSp>
        <p:nvCxnSpPr>
          <p:cNvPr id="21533" name="AutoShape 29"/>
          <p:cNvCxnSpPr>
            <a:cxnSpLocks noChangeShapeType="1"/>
            <a:stCxn id="21524" idx="2"/>
            <a:endCxn id="21532" idx="0"/>
          </p:cNvCxnSpPr>
          <p:nvPr/>
        </p:nvCxnSpPr>
        <p:spPr bwMode="auto">
          <a:xfrm>
            <a:off x="7277100" y="2438400"/>
            <a:ext cx="533400" cy="304800"/>
          </a:xfrm>
          <a:prstGeom prst="straightConnector1">
            <a:avLst/>
          </a:prstGeom>
          <a:noFill/>
          <a:ln w="9525">
            <a:solidFill>
              <a:schemeClr val="tx1"/>
            </a:solidFill>
            <a:round/>
            <a:headEnd/>
            <a:tailEnd/>
          </a:ln>
          <a:effectLst/>
        </p:spPr>
      </p:cxnSp>
      <p:sp>
        <p:nvSpPr>
          <p:cNvPr id="21534" name="Rectangle 30"/>
          <p:cNvSpPr>
            <a:spLocks noChangeArrowheads="1"/>
          </p:cNvSpPr>
          <p:nvPr/>
        </p:nvSpPr>
        <p:spPr bwMode="auto">
          <a:xfrm>
            <a:off x="8077200" y="3429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cxnSp>
        <p:nvCxnSpPr>
          <p:cNvPr id="21535" name="AutoShape 31"/>
          <p:cNvCxnSpPr>
            <a:cxnSpLocks noChangeShapeType="1"/>
            <a:stCxn id="21532" idx="2"/>
            <a:endCxn id="21534" idx="0"/>
          </p:cNvCxnSpPr>
          <p:nvPr/>
        </p:nvCxnSpPr>
        <p:spPr bwMode="auto">
          <a:xfrm>
            <a:off x="7810500" y="3124200"/>
            <a:ext cx="533400" cy="304800"/>
          </a:xfrm>
          <a:prstGeom prst="straightConnector1">
            <a:avLst/>
          </a:prstGeom>
          <a:noFill/>
          <a:ln w="9525">
            <a:solidFill>
              <a:schemeClr val="tx1"/>
            </a:solidFill>
            <a:round/>
            <a:headEnd/>
            <a:tailEnd/>
          </a:ln>
          <a:effectLst/>
        </p:spPr>
      </p:cxnSp>
      <p:sp>
        <p:nvSpPr>
          <p:cNvPr id="21536" name="Rectangle 32"/>
          <p:cNvSpPr>
            <a:spLocks noChangeArrowheads="1"/>
          </p:cNvSpPr>
          <p:nvPr/>
        </p:nvSpPr>
        <p:spPr bwMode="auto">
          <a:xfrm>
            <a:off x="3505200" y="3429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1537" name="Rectangle 33"/>
          <p:cNvSpPr>
            <a:spLocks noChangeArrowheads="1"/>
          </p:cNvSpPr>
          <p:nvPr/>
        </p:nvSpPr>
        <p:spPr bwMode="auto">
          <a:xfrm>
            <a:off x="41910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1538" name="AutoShape 34"/>
          <p:cNvCxnSpPr>
            <a:cxnSpLocks noChangeShapeType="1"/>
            <a:stCxn id="21536" idx="2"/>
            <a:endCxn id="21537" idx="0"/>
          </p:cNvCxnSpPr>
          <p:nvPr/>
        </p:nvCxnSpPr>
        <p:spPr bwMode="auto">
          <a:xfrm>
            <a:off x="3771900" y="3810000"/>
            <a:ext cx="685800" cy="228600"/>
          </a:xfrm>
          <a:prstGeom prst="straightConnector1">
            <a:avLst/>
          </a:prstGeom>
          <a:noFill/>
          <a:ln w="9525">
            <a:solidFill>
              <a:schemeClr val="tx1"/>
            </a:solidFill>
            <a:round/>
            <a:headEnd/>
            <a:tailEnd/>
          </a:ln>
          <a:effectLst/>
        </p:spPr>
      </p:cxnSp>
      <p:sp>
        <p:nvSpPr>
          <p:cNvPr id="21539" name="Rectangle 35"/>
          <p:cNvSpPr>
            <a:spLocks noChangeArrowheads="1"/>
          </p:cNvSpPr>
          <p:nvPr/>
        </p:nvSpPr>
        <p:spPr bwMode="auto">
          <a:xfrm>
            <a:off x="48006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cxnSp>
        <p:nvCxnSpPr>
          <p:cNvPr id="21540" name="AutoShape 36"/>
          <p:cNvCxnSpPr>
            <a:cxnSpLocks noChangeShapeType="1"/>
            <a:stCxn id="21537" idx="2"/>
            <a:endCxn id="21539" idx="0"/>
          </p:cNvCxnSpPr>
          <p:nvPr/>
        </p:nvCxnSpPr>
        <p:spPr bwMode="auto">
          <a:xfrm>
            <a:off x="4457700" y="4419600"/>
            <a:ext cx="609600" cy="304800"/>
          </a:xfrm>
          <a:prstGeom prst="straightConnector1">
            <a:avLst/>
          </a:prstGeom>
          <a:noFill/>
          <a:ln w="9525">
            <a:solidFill>
              <a:schemeClr val="tx1"/>
            </a:solidFill>
            <a:round/>
            <a:headEnd/>
            <a:tailEnd/>
          </a:ln>
          <a:effectLst/>
        </p:spPr>
      </p:cxnSp>
      <p:sp>
        <p:nvSpPr>
          <p:cNvPr id="21541" name="Rectangle 37"/>
          <p:cNvSpPr>
            <a:spLocks noChangeArrowheads="1"/>
          </p:cNvSpPr>
          <p:nvPr/>
        </p:nvSpPr>
        <p:spPr bwMode="auto">
          <a:xfrm>
            <a:off x="36576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1542" name="AutoShape 38"/>
          <p:cNvCxnSpPr>
            <a:cxnSpLocks noChangeShapeType="1"/>
            <a:stCxn id="21536" idx="2"/>
            <a:endCxn id="21543" idx="0"/>
          </p:cNvCxnSpPr>
          <p:nvPr/>
        </p:nvCxnSpPr>
        <p:spPr bwMode="auto">
          <a:xfrm flipH="1">
            <a:off x="3162300" y="3810000"/>
            <a:ext cx="609600" cy="228600"/>
          </a:xfrm>
          <a:prstGeom prst="straightConnector1">
            <a:avLst/>
          </a:prstGeom>
          <a:noFill/>
          <a:ln w="9525">
            <a:solidFill>
              <a:schemeClr val="tx1"/>
            </a:solidFill>
            <a:round/>
            <a:headEnd/>
            <a:tailEnd/>
          </a:ln>
          <a:effectLst/>
        </p:spPr>
      </p:cxnSp>
      <p:sp>
        <p:nvSpPr>
          <p:cNvPr id="21543" name="Rectangle 39"/>
          <p:cNvSpPr>
            <a:spLocks noChangeArrowheads="1"/>
          </p:cNvSpPr>
          <p:nvPr/>
        </p:nvSpPr>
        <p:spPr bwMode="auto">
          <a:xfrm>
            <a:off x="28956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1544" name="AutoShape 40"/>
          <p:cNvCxnSpPr>
            <a:cxnSpLocks noChangeShapeType="1"/>
            <a:stCxn id="21537" idx="2"/>
            <a:endCxn id="21541" idx="0"/>
          </p:cNvCxnSpPr>
          <p:nvPr/>
        </p:nvCxnSpPr>
        <p:spPr bwMode="auto">
          <a:xfrm flipH="1">
            <a:off x="3924300" y="4419600"/>
            <a:ext cx="533400" cy="304800"/>
          </a:xfrm>
          <a:prstGeom prst="straightConnector1">
            <a:avLst/>
          </a:prstGeom>
          <a:noFill/>
          <a:ln w="9525">
            <a:solidFill>
              <a:schemeClr val="tx1"/>
            </a:solidFill>
            <a:round/>
            <a:headEnd/>
            <a:tailEnd/>
          </a:ln>
          <a:effectLst/>
        </p:spPr>
      </p:cxnSp>
      <p:sp>
        <p:nvSpPr>
          <p:cNvPr id="21545" name="Rectangle 41"/>
          <p:cNvSpPr>
            <a:spLocks noChangeArrowheads="1"/>
          </p:cNvSpPr>
          <p:nvPr/>
        </p:nvSpPr>
        <p:spPr bwMode="auto">
          <a:xfrm>
            <a:off x="22860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1546" name="AutoShape 42"/>
          <p:cNvCxnSpPr>
            <a:cxnSpLocks noChangeShapeType="1"/>
            <a:stCxn id="21543" idx="2"/>
            <a:endCxn id="21545" idx="0"/>
          </p:cNvCxnSpPr>
          <p:nvPr/>
        </p:nvCxnSpPr>
        <p:spPr bwMode="auto">
          <a:xfrm flipH="1">
            <a:off x="2552700" y="4419600"/>
            <a:ext cx="609600" cy="304800"/>
          </a:xfrm>
          <a:prstGeom prst="straightConnector1">
            <a:avLst/>
          </a:prstGeom>
          <a:noFill/>
          <a:ln w="9525">
            <a:solidFill>
              <a:schemeClr val="tx1"/>
            </a:solidFill>
            <a:round/>
            <a:headEnd/>
            <a:tailEnd/>
          </a:ln>
          <a:effectLst/>
        </p:spPr>
      </p:cxnSp>
      <p:sp>
        <p:nvSpPr>
          <p:cNvPr id="21547" name="Rectangle 43"/>
          <p:cNvSpPr>
            <a:spLocks noChangeArrowheads="1"/>
          </p:cNvSpPr>
          <p:nvPr/>
        </p:nvSpPr>
        <p:spPr bwMode="auto">
          <a:xfrm>
            <a:off x="53340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cxnSp>
        <p:nvCxnSpPr>
          <p:cNvPr id="21548" name="AutoShape 44"/>
          <p:cNvCxnSpPr>
            <a:cxnSpLocks noChangeShapeType="1"/>
            <a:stCxn id="21539" idx="2"/>
            <a:endCxn id="21547" idx="0"/>
          </p:cNvCxnSpPr>
          <p:nvPr/>
        </p:nvCxnSpPr>
        <p:spPr bwMode="auto">
          <a:xfrm>
            <a:off x="5067300" y="5105400"/>
            <a:ext cx="533400" cy="304800"/>
          </a:xfrm>
          <a:prstGeom prst="straightConnector1">
            <a:avLst/>
          </a:prstGeom>
          <a:noFill/>
          <a:ln w="9525">
            <a:solidFill>
              <a:schemeClr val="tx1"/>
            </a:solidFill>
            <a:round/>
            <a:headEnd/>
            <a:tailEnd/>
          </a:ln>
          <a:effectLst/>
        </p:spPr>
      </p:cxnSp>
      <p:sp>
        <p:nvSpPr>
          <p:cNvPr id="21549" name="Rectangle 45"/>
          <p:cNvSpPr>
            <a:spLocks noChangeArrowheads="1"/>
          </p:cNvSpPr>
          <p:nvPr/>
        </p:nvSpPr>
        <p:spPr bwMode="auto">
          <a:xfrm>
            <a:off x="44196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1550" name="AutoShape 46"/>
          <p:cNvCxnSpPr>
            <a:cxnSpLocks noChangeShapeType="1"/>
            <a:stCxn id="21539" idx="2"/>
            <a:endCxn id="21549" idx="0"/>
          </p:cNvCxnSpPr>
          <p:nvPr/>
        </p:nvCxnSpPr>
        <p:spPr bwMode="auto">
          <a:xfrm flipH="1">
            <a:off x="4686300" y="5105400"/>
            <a:ext cx="381000" cy="304800"/>
          </a:xfrm>
          <a:prstGeom prst="straightConnector1">
            <a:avLst/>
          </a:prstGeom>
          <a:noFill/>
          <a:ln w="9525">
            <a:solidFill>
              <a:schemeClr val="tx1"/>
            </a:solidFill>
            <a:round/>
            <a:headEnd/>
            <a:tailEnd/>
          </a:ln>
          <a:effectLst/>
        </p:spPr>
      </p:cxnSp>
      <p:sp>
        <p:nvSpPr>
          <p:cNvPr id="21551" name="AutoShape 47"/>
          <p:cNvSpPr>
            <a:spLocks noChangeArrowheads="1"/>
          </p:cNvSpPr>
          <p:nvPr/>
        </p:nvSpPr>
        <p:spPr bwMode="auto">
          <a:xfrm>
            <a:off x="5410200" y="3124200"/>
            <a:ext cx="381000" cy="762000"/>
          </a:xfrm>
          <a:prstGeom prst="down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52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5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5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5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5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5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5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5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5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5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5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53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5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53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5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53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551"/>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5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5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15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53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54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54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154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54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154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154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54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54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15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54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1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8" grpId="0" animBg="1"/>
      <p:bldP spid="21520" grpId="0" animBg="1"/>
      <p:bldP spid="21521" grpId="0" animBg="1"/>
      <p:bldP spid="21522" grpId="0" animBg="1"/>
      <p:bldP spid="21524" grpId="0" animBg="1"/>
      <p:bldP spid="21526" grpId="0" animBg="1"/>
      <p:bldP spid="21528" grpId="0" animBg="1"/>
      <p:bldP spid="21530" grpId="0" animBg="1"/>
      <p:bldP spid="21532" grpId="0" animBg="1"/>
      <p:bldP spid="21534" grpId="0" animBg="1"/>
      <p:bldP spid="21536" grpId="0" animBg="1"/>
      <p:bldP spid="21537" grpId="0" animBg="1"/>
      <p:bldP spid="21539" grpId="0" animBg="1"/>
      <p:bldP spid="21541" grpId="0" animBg="1"/>
      <p:bldP spid="21543" grpId="0" animBg="1"/>
      <p:bldP spid="21545" grpId="0" animBg="1"/>
      <p:bldP spid="21547" grpId="0" animBg="1"/>
      <p:bldP spid="21549" grpId="0" animBg="1"/>
      <p:bldP spid="2155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1447800" y="609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0483" name="Rectangle 5"/>
          <p:cNvSpPr>
            <a:spLocks noChangeArrowheads="1"/>
          </p:cNvSpPr>
          <p:nvPr/>
        </p:nvSpPr>
        <p:spPr bwMode="auto">
          <a:xfrm>
            <a:off x="2133600" y="1219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0484" name="AutoShape 6"/>
          <p:cNvCxnSpPr>
            <a:cxnSpLocks noChangeShapeType="1"/>
            <a:stCxn id="20482" idx="2"/>
            <a:endCxn id="20483" idx="0"/>
          </p:cNvCxnSpPr>
          <p:nvPr/>
        </p:nvCxnSpPr>
        <p:spPr bwMode="auto">
          <a:xfrm>
            <a:off x="1714500" y="990600"/>
            <a:ext cx="685800" cy="228600"/>
          </a:xfrm>
          <a:prstGeom prst="straightConnector1">
            <a:avLst/>
          </a:prstGeom>
          <a:noFill/>
          <a:ln w="9525">
            <a:solidFill>
              <a:schemeClr val="tx1"/>
            </a:solidFill>
            <a:round/>
            <a:headEnd/>
            <a:tailEnd/>
          </a:ln>
          <a:effectLst/>
        </p:spPr>
      </p:cxnSp>
      <p:sp>
        <p:nvSpPr>
          <p:cNvPr id="20485" name="Rectangle 7"/>
          <p:cNvSpPr>
            <a:spLocks noChangeArrowheads="1"/>
          </p:cNvSpPr>
          <p:nvPr/>
        </p:nvSpPr>
        <p:spPr bwMode="auto">
          <a:xfrm>
            <a:off x="27432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cxnSp>
        <p:nvCxnSpPr>
          <p:cNvPr id="20486" name="AutoShape 8"/>
          <p:cNvCxnSpPr>
            <a:cxnSpLocks noChangeShapeType="1"/>
            <a:stCxn id="20483" idx="2"/>
            <a:endCxn id="20485" idx="0"/>
          </p:cNvCxnSpPr>
          <p:nvPr/>
        </p:nvCxnSpPr>
        <p:spPr bwMode="auto">
          <a:xfrm>
            <a:off x="2400300" y="1600200"/>
            <a:ext cx="609600" cy="304800"/>
          </a:xfrm>
          <a:prstGeom prst="straightConnector1">
            <a:avLst/>
          </a:prstGeom>
          <a:noFill/>
          <a:ln w="9525">
            <a:solidFill>
              <a:schemeClr val="tx1"/>
            </a:solidFill>
            <a:round/>
            <a:headEnd/>
            <a:tailEnd/>
          </a:ln>
          <a:effectLst/>
        </p:spPr>
      </p:cxnSp>
      <p:sp>
        <p:nvSpPr>
          <p:cNvPr id="20487" name="Rectangle 9"/>
          <p:cNvSpPr>
            <a:spLocks noChangeArrowheads="1"/>
          </p:cNvSpPr>
          <p:nvPr/>
        </p:nvSpPr>
        <p:spPr bwMode="auto">
          <a:xfrm>
            <a:off x="16002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0488" name="AutoShape 10"/>
          <p:cNvCxnSpPr>
            <a:cxnSpLocks noChangeShapeType="1"/>
            <a:stCxn id="20482" idx="2"/>
            <a:endCxn id="20489" idx="0"/>
          </p:cNvCxnSpPr>
          <p:nvPr/>
        </p:nvCxnSpPr>
        <p:spPr bwMode="auto">
          <a:xfrm flipH="1">
            <a:off x="1104900" y="990600"/>
            <a:ext cx="609600" cy="228600"/>
          </a:xfrm>
          <a:prstGeom prst="straightConnector1">
            <a:avLst/>
          </a:prstGeom>
          <a:noFill/>
          <a:ln w="9525">
            <a:solidFill>
              <a:schemeClr val="tx1"/>
            </a:solidFill>
            <a:round/>
            <a:headEnd/>
            <a:tailEnd/>
          </a:ln>
          <a:effectLst/>
        </p:spPr>
      </p:cxnSp>
      <p:sp>
        <p:nvSpPr>
          <p:cNvPr id="20489" name="Rectangle 11"/>
          <p:cNvSpPr>
            <a:spLocks noChangeArrowheads="1"/>
          </p:cNvSpPr>
          <p:nvPr/>
        </p:nvSpPr>
        <p:spPr bwMode="auto">
          <a:xfrm>
            <a:off x="838200" y="1219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0490" name="AutoShape 12"/>
          <p:cNvCxnSpPr>
            <a:cxnSpLocks noChangeShapeType="1"/>
            <a:stCxn id="20483" idx="2"/>
            <a:endCxn id="20487" idx="0"/>
          </p:cNvCxnSpPr>
          <p:nvPr/>
        </p:nvCxnSpPr>
        <p:spPr bwMode="auto">
          <a:xfrm flipH="1">
            <a:off x="1866900" y="1600200"/>
            <a:ext cx="533400" cy="304800"/>
          </a:xfrm>
          <a:prstGeom prst="straightConnector1">
            <a:avLst/>
          </a:prstGeom>
          <a:noFill/>
          <a:ln w="9525">
            <a:solidFill>
              <a:schemeClr val="tx1"/>
            </a:solidFill>
            <a:round/>
            <a:headEnd/>
            <a:tailEnd/>
          </a:ln>
          <a:effectLst/>
        </p:spPr>
      </p:cxnSp>
      <p:sp>
        <p:nvSpPr>
          <p:cNvPr id="20491" name="Rectangle 13"/>
          <p:cNvSpPr>
            <a:spLocks noChangeArrowheads="1"/>
          </p:cNvSpPr>
          <p:nvPr/>
        </p:nvSpPr>
        <p:spPr bwMode="auto">
          <a:xfrm>
            <a:off x="2286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0492" name="AutoShape 14"/>
          <p:cNvCxnSpPr>
            <a:cxnSpLocks noChangeShapeType="1"/>
            <a:stCxn id="20489" idx="2"/>
            <a:endCxn id="20491" idx="0"/>
          </p:cNvCxnSpPr>
          <p:nvPr/>
        </p:nvCxnSpPr>
        <p:spPr bwMode="auto">
          <a:xfrm flipH="1">
            <a:off x="495300" y="1600200"/>
            <a:ext cx="609600" cy="304800"/>
          </a:xfrm>
          <a:prstGeom prst="straightConnector1">
            <a:avLst/>
          </a:prstGeom>
          <a:noFill/>
          <a:ln w="9525">
            <a:solidFill>
              <a:schemeClr val="tx1"/>
            </a:solidFill>
            <a:round/>
            <a:headEnd/>
            <a:tailEnd/>
          </a:ln>
          <a:effectLst/>
        </p:spPr>
      </p:cxnSp>
      <p:sp>
        <p:nvSpPr>
          <p:cNvPr id="20493" name="Rectangle 15"/>
          <p:cNvSpPr>
            <a:spLocks noChangeArrowheads="1"/>
          </p:cNvSpPr>
          <p:nvPr/>
        </p:nvSpPr>
        <p:spPr bwMode="auto">
          <a:xfrm>
            <a:off x="3276600" y="2590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cxnSp>
        <p:nvCxnSpPr>
          <p:cNvPr id="20494" name="AutoShape 16"/>
          <p:cNvCxnSpPr>
            <a:cxnSpLocks noChangeShapeType="1"/>
            <a:stCxn id="20485" idx="2"/>
            <a:endCxn id="20493" idx="0"/>
          </p:cNvCxnSpPr>
          <p:nvPr/>
        </p:nvCxnSpPr>
        <p:spPr bwMode="auto">
          <a:xfrm>
            <a:off x="3009900" y="2286000"/>
            <a:ext cx="533400" cy="304800"/>
          </a:xfrm>
          <a:prstGeom prst="straightConnector1">
            <a:avLst/>
          </a:prstGeom>
          <a:noFill/>
          <a:ln w="9525">
            <a:solidFill>
              <a:schemeClr val="tx1"/>
            </a:solidFill>
            <a:round/>
            <a:headEnd/>
            <a:tailEnd/>
          </a:ln>
          <a:effectLst/>
        </p:spPr>
      </p:cxnSp>
      <p:sp>
        <p:nvSpPr>
          <p:cNvPr id="20495" name="Rectangle 17"/>
          <p:cNvSpPr>
            <a:spLocks noChangeArrowheads="1"/>
          </p:cNvSpPr>
          <p:nvPr/>
        </p:nvSpPr>
        <p:spPr bwMode="auto">
          <a:xfrm>
            <a:off x="2362200" y="2590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0496" name="AutoShape 18"/>
          <p:cNvCxnSpPr>
            <a:cxnSpLocks noChangeShapeType="1"/>
            <a:stCxn id="20485" idx="2"/>
            <a:endCxn id="20495" idx="0"/>
          </p:cNvCxnSpPr>
          <p:nvPr/>
        </p:nvCxnSpPr>
        <p:spPr bwMode="auto">
          <a:xfrm flipH="1">
            <a:off x="2628900" y="2286000"/>
            <a:ext cx="381000" cy="304800"/>
          </a:xfrm>
          <a:prstGeom prst="straightConnector1">
            <a:avLst/>
          </a:prstGeom>
          <a:noFill/>
          <a:ln w="9525">
            <a:solidFill>
              <a:schemeClr val="tx1"/>
            </a:solidFill>
            <a:round/>
            <a:headEnd/>
            <a:tailEnd/>
          </a:ln>
          <a:effectLst/>
        </p:spPr>
      </p:cxnSp>
      <p:sp>
        <p:nvSpPr>
          <p:cNvPr id="20497" name="Rectangle 19"/>
          <p:cNvSpPr>
            <a:spLocks noChangeArrowheads="1"/>
          </p:cNvSpPr>
          <p:nvPr/>
        </p:nvSpPr>
        <p:spPr bwMode="auto">
          <a:xfrm>
            <a:off x="762000" y="0"/>
            <a:ext cx="7467600" cy="366713"/>
          </a:xfrm>
          <a:prstGeom prst="rect">
            <a:avLst/>
          </a:prstGeom>
          <a:noFill/>
          <a:ln w="9525">
            <a:noFill/>
            <a:miter lim="800000"/>
            <a:headEnd/>
            <a:tailEnd/>
          </a:ln>
          <a:effectLst/>
        </p:spPr>
        <p:txBody>
          <a:bodyPr>
            <a:spAutoFit/>
          </a:bodyPr>
          <a:lstStyle/>
          <a:p>
            <a:pPr lvl="1" eaLnBrk="1" hangingPunct="1">
              <a:spcBef>
                <a:spcPct val="20000"/>
              </a:spcBef>
            </a:pPr>
            <a:r>
              <a:rPr lang="en-US"/>
              <a:t>15, 20, 24, 10, 13, 7, 30, 36, 25</a:t>
            </a:r>
          </a:p>
        </p:txBody>
      </p:sp>
      <p:sp>
        <p:nvSpPr>
          <p:cNvPr id="22548" name="Rectangle 20"/>
          <p:cNvSpPr>
            <a:spLocks noChangeArrowheads="1"/>
          </p:cNvSpPr>
          <p:nvPr/>
        </p:nvSpPr>
        <p:spPr bwMode="auto">
          <a:xfrm>
            <a:off x="2743200" y="3352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cxnSp>
        <p:nvCxnSpPr>
          <p:cNvPr id="22549" name="AutoShape 21"/>
          <p:cNvCxnSpPr>
            <a:cxnSpLocks noChangeShapeType="1"/>
            <a:stCxn id="20495" idx="2"/>
            <a:endCxn id="22548" idx="0"/>
          </p:cNvCxnSpPr>
          <p:nvPr/>
        </p:nvCxnSpPr>
        <p:spPr bwMode="auto">
          <a:xfrm>
            <a:off x="2628900" y="2971800"/>
            <a:ext cx="381000" cy="381000"/>
          </a:xfrm>
          <a:prstGeom prst="straightConnector1">
            <a:avLst/>
          </a:prstGeom>
          <a:noFill/>
          <a:ln w="9525">
            <a:solidFill>
              <a:schemeClr val="tx1"/>
            </a:solidFill>
            <a:round/>
            <a:headEnd/>
            <a:tailEnd/>
          </a:ln>
          <a:effectLst/>
        </p:spPr>
      </p:cxnSp>
      <p:sp>
        <p:nvSpPr>
          <p:cNvPr id="22550" name="AutoShape 22"/>
          <p:cNvSpPr>
            <a:spLocks noChangeArrowheads="1"/>
          </p:cNvSpPr>
          <p:nvPr/>
        </p:nvSpPr>
        <p:spPr bwMode="auto">
          <a:xfrm>
            <a:off x="3429000" y="1371600"/>
            <a:ext cx="914400" cy="381000"/>
          </a:xfrm>
          <a:prstGeom prst="rightArrow">
            <a:avLst>
              <a:gd name="adj1" fmla="val 50000"/>
              <a:gd name="adj2" fmla="val 60000"/>
            </a:avLst>
          </a:prstGeom>
          <a:solidFill>
            <a:schemeClr val="accent1"/>
          </a:solidFill>
          <a:ln w="9525">
            <a:solidFill>
              <a:schemeClr val="tx1"/>
            </a:solidFill>
            <a:miter lim="800000"/>
            <a:headEnd/>
            <a:tailEnd/>
          </a:ln>
          <a:effectLst/>
        </p:spPr>
        <p:txBody>
          <a:bodyPr wrap="none" anchor="ctr"/>
          <a:lstStyle/>
          <a:p>
            <a:endParaRPr lang="en-IN"/>
          </a:p>
        </p:txBody>
      </p:sp>
      <p:sp>
        <p:nvSpPr>
          <p:cNvPr id="22551" name="Rectangle 23"/>
          <p:cNvSpPr>
            <a:spLocks noChangeArrowheads="1"/>
          </p:cNvSpPr>
          <p:nvPr/>
        </p:nvSpPr>
        <p:spPr bwMode="auto">
          <a:xfrm>
            <a:off x="5791200" y="609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2552" name="Rectangle 24"/>
          <p:cNvSpPr>
            <a:spLocks noChangeArrowheads="1"/>
          </p:cNvSpPr>
          <p:nvPr/>
        </p:nvSpPr>
        <p:spPr bwMode="auto">
          <a:xfrm>
            <a:off x="6477000" y="1219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2553" name="AutoShape 25"/>
          <p:cNvCxnSpPr>
            <a:cxnSpLocks noChangeShapeType="1"/>
            <a:stCxn id="22551" idx="2"/>
            <a:endCxn id="22552" idx="0"/>
          </p:cNvCxnSpPr>
          <p:nvPr/>
        </p:nvCxnSpPr>
        <p:spPr bwMode="auto">
          <a:xfrm>
            <a:off x="6057900" y="990600"/>
            <a:ext cx="685800" cy="228600"/>
          </a:xfrm>
          <a:prstGeom prst="straightConnector1">
            <a:avLst/>
          </a:prstGeom>
          <a:noFill/>
          <a:ln w="9525">
            <a:solidFill>
              <a:schemeClr val="tx1"/>
            </a:solidFill>
            <a:round/>
            <a:headEnd/>
            <a:tailEnd/>
          </a:ln>
          <a:effectLst/>
        </p:spPr>
      </p:cxnSp>
      <p:sp>
        <p:nvSpPr>
          <p:cNvPr id="22554" name="Rectangle 26"/>
          <p:cNvSpPr>
            <a:spLocks noChangeArrowheads="1"/>
          </p:cNvSpPr>
          <p:nvPr/>
        </p:nvSpPr>
        <p:spPr bwMode="auto">
          <a:xfrm>
            <a:off x="7620000" y="2590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sp>
        <p:nvSpPr>
          <p:cNvPr id="22556" name="Rectangle 28"/>
          <p:cNvSpPr>
            <a:spLocks noChangeArrowheads="1"/>
          </p:cNvSpPr>
          <p:nvPr/>
        </p:nvSpPr>
        <p:spPr bwMode="auto">
          <a:xfrm>
            <a:off x="59436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2557" name="AutoShape 29"/>
          <p:cNvCxnSpPr>
            <a:cxnSpLocks noChangeShapeType="1"/>
            <a:stCxn id="22551" idx="2"/>
            <a:endCxn id="22558" idx="0"/>
          </p:cNvCxnSpPr>
          <p:nvPr/>
        </p:nvCxnSpPr>
        <p:spPr bwMode="auto">
          <a:xfrm flipH="1">
            <a:off x="5448300" y="990600"/>
            <a:ext cx="609600" cy="228600"/>
          </a:xfrm>
          <a:prstGeom prst="straightConnector1">
            <a:avLst/>
          </a:prstGeom>
          <a:noFill/>
          <a:ln w="9525">
            <a:solidFill>
              <a:schemeClr val="tx1"/>
            </a:solidFill>
            <a:round/>
            <a:headEnd/>
            <a:tailEnd/>
          </a:ln>
          <a:effectLst/>
        </p:spPr>
      </p:cxnSp>
      <p:sp>
        <p:nvSpPr>
          <p:cNvPr id="22558" name="Rectangle 30"/>
          <p:cNvSpPr>
            <a:spLocks noChangeArrowheads="1"/>
          </p:cNvSpPr>
          <p:nvPr/>
        </p:nvSpPr>
        <p:spPr bwMode="auto">
          <a:xfrm>
            <a:off x="5181600" y="1219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2559" name="AutoShape 31"/>
          <p:cNvCxnSpPr>
            <a:cxnSpLocks noChangeShapeType="1"/>
            <a:stCxn id="22552" idx="2"/>
            <a:endCxn id="22556" idx="0"/>
          </p:cNvCxnSpPr>
          <p:nvPr/>
        </p:nvCxnSpPr>
        <p:spPr bwMode="auto">
          <a:xfrm flipH="1">
            <a:off x="6210300" y="1600200"/>
            <a:ext cx="533400" cy="304800"/>
          </a:xfrm>
          <a:prstGeom prst="straightConnector1">
            <a:avLst/>
          </a:prstGeom>
          <a:noFill/>
          <a:ln w="9525">
            <a:solidFill>
              <a:schemeClr val="tx1"/>
            </a:solidFill>
            <a:round/>
            <a:headEnd/>
            <a:tailEnd/>
          </a:ln>
          <a:effectLst/>
        </p:spPr>
      </p:cxnSp>
      <p:sp>
        <p:nvSpPr>
          <p:cNvPr id="22560" name="Rectangle 32"/>
          <p:cNvSpPr>
            <a:spLocks noChangeArrowheads="1"/>
          </p:cNvSpPr>
          <p:nvPr/>
        </p:nvSpPr>
        <p:spPr bwMode="auto">
          <a:xfrm>
            <a:off x="45720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2561" name="AutoShape 33"/>
          <p:cNvCxnSpPr>
            <a:cxnSpLocks noChangeShapeType="1"/>
            <a:stCxn id="22558" idx="2"/>
            <a:endCxn id="22560" idx="0"/>
          </p:cNvCxnSpPr>
          <p:nvPr/>
        </p:nvCxnSpPr>
        <p:spPr bwMode="auto">
          <a:xfrm flipH="1">
            <a:off x="4838700" y="1600200"/>
            <a:ext cx="609600" cy="304800"/>
          </a:xfrm>
          <a:prstGeom prst="straightConnector1">
            <a:avLst/>
          </a:prstGeom>
          <a:noFill/>
          <a:ln w="9525">
            <a:solidFill>
              <a:schemeClr val="tx1"/>
            </a:solidFill>
            <a:round/>
            <a:headEnd/>
            <a:tailEnd/>
          </a:ln>
          <a:effectLst/>
        </p:spPr>
      </p:cxnSp>
      <p:sp>
        <p:nvSpPr>
          <p:cNvPr id="22562" name="Rectangle 34"/>
          <p:cNvSpPr>
            <a:spLocks noChangeArrowheads="1"/>
          </p:cNvSpPr>
          <p:nvPr/>
        </p:nvSpPr>
        <p:spPr bwMode="auto">
          <a:xfrm>
            <a:off x="8153400" y="3352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sp>
        <p:nvSpPr>
          <p:cNvPr id="22564" name="Rectangle 36"/>
          <p:cNvSpPr>
            <a:spLocks noChangeArrowheads="1"/>
          </p:cNvSpPr>
          <p:nvPr/>
        </p:nvSpPr>
        <p:spPr bwMode="auto">
          <a:xfrm>
            <a:off x="7010400" y="1905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sp>
        <p:nvSpPr>
          <p:cNvPr id="22566" name="Rectangle 38"/>
          <p:cNvSpPr>
            <a:spLocks noChangeArrowheads="1"/>
          </p:cNvSpPr>
          <p:nvPr/>
        </p:nvSpPr>
        <p:spPr bwMode="auto">
          <a:xfrm>
            <a:off x="7086600" y="3352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cxnSp>
        <p:nvCxnSpPr>
          <p:cNvPr id="22568" name="AutoShape 40"/>
          <p:cNvCxnSpPr>
            <a:cxnSpLocks noChangeShapeType="1"/>
            <a:stCxn id="22564" idx="2"/>
            <a:endCxn id="22554" idx="0"/>
          </p:cNvCxnSpPr>
          <p:nvPr/>
        </p:nvCxnSpPr>
        <p:spPr bwMode="auto">
          <a:xfrm>
            <a:off x="7277100" y="2286000"/>
            <a:ext cx="609600" cy="304800"/>
          </a:xfrm>
          <a:prstGeom prst="straightConnector1">
            <a:avLst/>
          </a:prstGeom>
          <a:noFill/>
          <a:ln w="9525">
            <a:solidFill>
              <a:schemeClr val="tx1"/>
            </a:solidFill>
            <a:round/>
            <a:headEnd/>
            <a:tailEnd/>
          </a:ln>
          <a:effectLst/>
        </p:spPr>
      </p:cxnSp>
      <p:cxnSp>
        <p:nvCxnSpPr>
          <p:cNvPr id="22569" name="AutoShape 41"/>
          <p:cNvCxnSpPr>
            <a:cxnSpLocks noChangeShapeType="1"/>
            <a:stCxn id="22552" idx="2"/>
            <a:endCxn id="22564" idx="0"/>
          </p:cNvCxnSpPr>
          <p:nvPr/>
        </p:nvCxnSpPr>
        <p:spPr bwMode="auto">
          <a:xfrm>
            <a:off x="6743700" y="1600200"/>
            <a:ext cx="533400" cy="304800"/>
          </a:xfrm>
          <a:prstGeom prst="straightConnector1">
            <a:avLst/>
          </a:prstGeom>
          <a:noFill/>
          <a:ln w="9525">
            <a:solidFill>
              <a:schemeClr val="tx1"/>
            </a:solidFill>
            <a:round/>
            <a:headEnd/>
            <a:tailEnd/>
          </a:ln>
          <a:effectLst/>
        </p:spPr>
      </p:cxnSp>
      <p:cxnSp>
        <p:nvCxnSpPr>
          <p:cNvPr id="22570" name="AutoShape 42"/>
          <p:cNvCxnSpPr>
            <a:cxnSpLocks noChangeShapeType="1"/>
            <a:stCxn id="22554" idx="2"/>
            <a:endCxn id="22566" idx="0"/>
          </p:cNvCxnSpPr>
          <p:nvPr/>
        </p:nvCxnSpPr>
        <p:spPr bwMode="auto">
          <a:xfrm flipH="1">
            <a:off x="7353300" y="2971800"/>
            <a:ext cx="533400" cy="381000"/>
          </a:xfrm>
          <a:prstGeom prst="straightConnector1">
            <a:avLst/>
          </a:prstGeom>
          <a:noFill/>
          <a:ln w="9525">
            <a:solidFill>
              <a:schemeClr val="tx1"/>
            </a:solidFill>
            <a:round/>
            <a:headEnd/>
            <a:tailEnd/>
          </a:ln>
          <a:effectLst/>
        </p:spPr>
      </p:cxnSp>
      <p:cxnSp>
        <p:nvCxnSpPr>
          <p:cNvPr id="22571" name="AutoShape 43"/>
          <p:cNvCxnSpPr>
            <a:cxnSpLocks noChangeShapeType="1"/>
            <a:stCxn id="22554" idx="2"/>
            <a:endCxn id="22562" idx="0"/>
          </p:cNvCxnSpPr>
          <p:nvPr/>
        </p:nvCxnSpPr>
        <p:spPr bwMode="auto">
          <a:xfrm>
            <a:off x="7886700" y="2971800"/>
            <a:ext cx="533400" cy="381000"/>
          </a:xfrm>
          <a:prstGeom prst="straightConnector1">
            <a:avLst/>
          </a:prstGeom>
          <a:noFill/>
          <a:ln w="9525">
            <a:solidFill>
              <a:schemeClr val="tx1"/>
            </a:solidFill>
            <a:round/>
            <a:headEnd/>
            <a:tailEnd/>
          </a:ln>
          <a:effectLst/>
        </p:spPr>
      </p:cxnSp>
      <p:sp>
        <p:nvSpPr>
          <p:cNvPr id="22572" name="Rectangle 44"/>
          <p:cNvSpPr>
            <a:spLocks noChangeArrowheads="1"/>
          </p:cNvSpPr>
          <p:nvPr/>
        </p:nvSpPr>
        <p:spPr bwMode="auto">
          <a:xfrm>
            <a:off x="4648200" y="3429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2573" name="Rectangle 45"/>
          <p:cNvSpPr>
            <a:spLocks noChangeArrowheads="1"/>
          </p:cNvSpPr>
          <p:nvPr/>
        </p:nvSpPr>
        <p:spPr bwMode="auto">
          <a:xfrm>
            <a:off x="53340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2574" name="AutoShape 46"/>
          <p:cNvCxnSpPr>
            <a:cxnSpLocks noChangeShapeType="1"/>
            <a:stCxn id="22572" idx="2"/>
            <a:endCxn id="22573" idx="0"/>
          </p:cNvCxnSpPr>
          <p:nvPr/>
        </p:nvCxnSpPr>
        <p:spPr bwMode="auto">
          <a:xfrm>
            <a:off x="4914900" y="3810000"/>
            <a:ext cx="685800" cy="228600"/>
          </a:xfrm>
          <a:prstGeom prst="straightConnector1">
            <a:avLst/>
          </a:prstGeom>
          <a:noFill/>
          <a:ln w="9525">
            <a:solidFill>
              <a:schemeClr val="tx1"/>
            </a:solidFill>
            <a:round/>
            <a:headEnd/>
            <a:tailEnd/>
          </a:ln>
          <a:effectLst/>
        </p:spPr>
      </p:cxnSp>
      <p:sp>
        <p:nvSpPr>
          <p:cNvPr id="22575" name="Rectangle 47"/>
          <p:cNvSpPr>
            <a:spLocks noChangeArrowheads="1"/>
          </p:cNvSpPr>
          <p:nvPr/>
        </p:nvSpPr>
        <p:spPr bwMode="auto">
          <a:xfrm>
            <a:off x="64770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sp>
        <p:nvSpPr>
          <p:cNvPr id="22576" name="Rectangle 48"/>
          <p:cNvSpPr>
            <a:spLocks noChangeArrowheads="1"/>
          </p:cNvSpPr>
          <p:nvPr/>
        </p:nvSpPr>
        <p:spPr bwMode="auto">
          <a:xfrm>
            <a:off x="48006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2577" name="AutoShape 49"/>
          <p:cNvCxnSpPr>
            <a:cxnSpLocks noChangeShapeType="1"/>
            <a:stCxn id="22572" idx="2"/>
            <a:endCxn id="22578" idx="0"/>
          </p:cNvCxnSpPr>
          <p:nvPr/>
        </p:nvCxnSpPr>
        <p:spPr bwMode="auto">
          <a:xfrm flipH="1">
            <a:off x="4305300" y="3810000"/>
            <a:ext cx="609600" cy="228600"/>
          </a:xfrm>
          <a:prstGeom prst="straightConnector1">
            <a:avLst/>
          </a:prstGeom>
          <a:noFill/>
          <a:ln w="9525">
            <a:solidFill>
              <a:schemeClr val="tx1"/>
            </a:solidFill>
            <a:round/>
            <a:headEnd/>
            <a:tailEnd/>
          </a:ln>
          <a:effectLst/>
        </p:spPr>
      </p:cxnSp>
      <p:sp>
        <p:nvSpPr>
          <p:cNvPr id="22578" name="Rectangle 50"/>
          <p:cNvSpPr>
            <a:spLocks noChangeArrowheads="1"/>
          </p:cNvSpPr>
          <p:nvPr/>
        </p:nvSpPr>
        <p:spPr bwMode="auto">
          <a:xfrm>
            <a:off x="4038600" y="4038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2579" name="AutoShape 51"/>
          <p:cNvCxnSpPr>
            <a:cxnSpLocks noChangeShapeType="1"/>
            <a:stCxn id="22573" idx="2"/>
            <a:endCxn id="22576" idx="0"/>
          </p:cNvCxnSpPr>
          <p:nvPr/>
        </p:nvCxnSpPr>
        <p:spPr bwMode="auto">
          <a:xfrm flipH="1">
            <a:off x="5067300" y="4419600"/>
            <a:ext cx="533400" cy="304800"/>
          </a:xfrm>
          <a:prstGeom prst="straightConnector1">
            <a:avLst/>
          </a:prstGeom>
          <a:noFill/>
          <a:ln w="9525">
            <a:solidFill>
              <a:schemeClr val="tx1"/>
            </a:solidFill>
            <a:round/>
            <a:headEnd/>
            <a:tailEnd/>
          </a:ln>
          <a:effectLst/>
        </p:spPr>
      </p:cxnSp>
      <p:sp>
        <p:nvSpPr>
          <p:cNvPr id="22580" name="Rectangle 52"/>
          <p:cNvSpPr>
            <a:spLocks noChangeArrowheads="1"/>
          </p:cNvSpPr>
          <p:nvPr/>
        </p:nvSpPr>
        <p:spPr bwMode="auto">
          <a:xfrm>
            <a:off x="34290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2581" name="AutoShape 53"/>
          <p:cNvCxnSpPr>
            <a:cxnSpLocks noChangeShapeType="1"/>
            <a:stCxn id="22578" idx="2"/>
            <a:endCxn id="22580" idx="0"/>
          </p:cNvCxnSpPr>
          <p:nvPr/>
        </p:nvCxnSpPr>
        <p:spPr bwMode="auto">
          <a:xfrm flipH="1">
            <a:off x="3695700" y="4419600"/>
            <a:ext cx="609600" cy="304800"/>
          </a:xfrm>
          <a:prstGeom prst="straightConnector1">
            <a:avLst/>
          </a:prstGeom>
          <a:noFill/>
          <a:ln w="9525">
            <a:solidFill>
              <a:schemeClr val="tx1"/>
            </a:solidFill>
            <a:round/>
            <a:headEnd/>
            <a:tailEnd/>
          </a:ln>
          <a:effectLst/>
        </p:spPr>
      </p:cxnSp>
      <p:sp>
        <p:nvSpPr>
          <p:cNvPr id="22582" name="Rectangle 54"/>
          <p:cNvSpPr>
            <a:spLocks noChangeArrowheads="1"/>
          </p:cNvSpPr>
          <p:nvPr/>
        </p:nvSpPr>
        <p:spPr bwMode="auto">
          <a:xfrm>
            <a:off x="55626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sp>
        <p:nvSpPr>
          <p:cNvPr id="22583" name="Rectangle 55"/>
          <p:cNvSpPr>
            <a:spLocks noChangeArrowheads="1"/>
          </p:cNvSpPr>
          <p:nvPr/>
        </p:nvSpPr>
        <p:spPr bwMode="auto">
          <a:xfrm>
            <a:off x="58674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sp>
        <p:nvSpPr>
          <p:cNvPr id="22584" name="Rectangle 56"/>
          <p:cNvSpPr>
            <a:spLocks noChangeArrowheads="1"/>
          </p:cNvSpPr>
          <p:nvPr/>
        </p:nvSpPr>
        <p:spPr bwMode="auto">
          <a:xfrm>
            <a:off x="44196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2585" name="AutoShape 57"/>
          <p:cNvCxnSpPr>
            <a:cxnSpLocks noChangeShapeType="1"/>
            <a:stCxn id="22583" idx="2"/>
            <a:endCxn id="22575" idx="0"/>
          </p:cNvCxnSpPr>
          <p:nvPr/>
        </p:nvCxnSpPr>
        <p:spPr bwMode="auto">
          <a:xfrm>
            <a:off x="6134100" y="5105400"/>
            <a:ext cx="609600" cy="304800"/>
          </a:xfrm>
          <a:prstGeom prst="straightConnector1">
            <a:avLst/>
          </a:prstGeom>
          <a:noFill/>
          <a:ln w="9525">
            <a:solidFill>
              <a:schemeClr val="tx1"/>
            </a:solidFill>
            <a:round/>
            <a:headEnd/>
            <a:tailEnd/>
          </a:ln>
          <a:effectLst/>
        </p:spPr>
      </p:cxnSp>
      <p:cxnSp>
        <p:nvCxnSpPr>
          <p:cNvPr id="22586" name="AutoShape 58"/>
          <p:cNvCxnSpPr>
            <a:cxnSpLocks noChangeShapeType="1"/>
            <a:stCxn id="22573" idx="2"/>
            <a:endCxn id="22583" idx="0"/>
          </p:cNvCxnSpPr>
          <p:nvPr/>
        </p:nvCxnSpPr>
        <p:spPr bwMode="auto">
          <a:xfrm>
            <a:off x="5600700" y="4419600"/>
            <a:ext cx="533400" cy="304800"/>
          </a:xfrm>
          <a:prstGeom prst="straightConnector1">
            <a:avLst/>
          </a:prstGeom>
          <a:noFill/>
          <a:ln w="9525">
            <a:solidFill>
              <a:schemeClr val="tx1"/>
            </a:solidFill>
            <a:round/>
            <a:headEnd/>
            <a:tailEnd/>
          </a:ln>
          <a:effectLst/>
        </p:spPr>
      </p:cxnSp>
      <p:cxnSp>
        <p:nvCxnSpPr>
          <p:cNvPr id="22587" name="AutoShape 59"/>
          <p:cNvCxnSpPr>
            <a:cxnSpLocks noChangeShapeType="1"/>
            <a:stCxn id="22576" idx="2"/>
            <a:endCxn id="22584" idx="0"/>
          </p:cNvCxnSpPr>
          <p:nvPr/>
        </p:nvCxnSpPr>
        <p:spPr bwMode="auto">
          <a:xfrm flipH="1">
            <a:off x="4686300" y="5105400"/>
            <a:ext cx="381000" cy="304800"/>
          </a:xfrm>
          <a:prstGeom prst="straightConnector1">
            <a:avLst/>
          </a:prstGeom>
          <a:noFill/>
          <a:ln w="9525">
            <a:solidFill>
              <a:schemeClr val="tx1"/>
            </a:solidFill>
            <a:round/>
            <a:headEnd/>
            <a:tailEnd/>
          </a:ln>
          <a:effectLst/>
        </p:spPr>
      </p:cxnSp>
      <p:cxnSp>
        <p:nvCxnSpPr>
          <p:cNvPr id="22588" name="AutoShape 60"/>
          <p:cNvCxnSpPr>
            <a:cxnSpLocks noChangeShapeType="1"/>
            <a:stCxn id="22583" idx="2"/>
            <a:endCxn id="22582" idx="0"/>
          </p:cNvCxnSpPr>
          <p:nvPr/>
        </p:nvCxnSpPr>
        <p:spPr bwMode="auto">
          <a:xfrm flipH="1">
            <a:off x="5829300" y="5105400"/>
            <a:ext cx="304800" cy="304800"/>
          </a:xfrm>
          <a:prstGeom prst="straightConnector1">
            <a:avLst/>
          </a:prstGeom>
          <a:noFill/>
          <a:ln w="9525">
            <a:solidFill>
              <a:schemeClr val="tx1"/>
            </a:solidFill>
            <a:round/>
            <a:headEnd/>
            <a:tailEnd/>
          </a:ln>
          <a:effectLst/>
        </p:spPr>
      </p:cxnSp>
      <p:sp>
        <p:nvSpPr>
          <p:cNvPr id="22589" name="AutoShape 61"/>
          <p:cNvSpPr>
            <a:spLocks noChangeArrowheads="1"/>
          </p:cNvSpPr>
          <p:nvPr/>
        </p:nvSpPr>
        <p:spPr bwMode="auto">
          <a:xfrm>
            <a:off x="5715000" y="2895600"/>
            <a:ext cx="304800" cy="762000"/>
          </a:xfrm>
          <a:prstGeom prst="down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4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55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55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5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5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5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5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5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56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5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5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56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56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56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57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57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258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57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57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257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57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57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257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57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257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58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258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58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58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58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258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258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258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2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8" grpId="0" animBg="1"/>
      <p:bldP spid="22550" grpId="0" animBg="1"/>
      <p:bldP spid="22551" grpId="0" animBg="1"/>
      <p:bldP spid="22552" grpId="0" animBg="1"/>
      <p:bldP spid="22554" grpId="0" animBg="1"/>
      <p:bldP spid="22556" grpId="0" animBg="1"/>
      <p:bldP spid="22558" grpId="0" animBg="1"/>
      <p:bldP spid="22560" grpId="0" animBg="1"/>
      <p:bldP spid="22562" grpId="0" animBg="1"/>
      <p:bldP spid="22564" grpId="0" animBg="1"/>
      <p:bldP spid="22566" grpId="0" animBg="1"/>
      <p:bldP spid="22572" grpId="0" animBg="1"/>
      <p:bldP spid="22573" grpId="0" animBg="1"/>
      <p:bldP spid="22575" grpId="0" animBg="1"/>
      <p:bldP spid="22576" grpId="0" animBg="1"/>
      <p:bldP spid="22578" grpId="0" animBg="1"/>
      <p:bldP spid="22580" grpId="0" animBg="1"/>
      <p:bldP spid="22582" grpId="0" animBg="1"/>
      <p:bldP spid="22583" grpId="0" animBg="1"/>
      <p:bldP spid="22584" grpId="0" animBg="1"/>
      <p:bldP spid="2258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762000" y="0"/>
            <a:ext cx="7467600" cy="366713"/>
          </a:xfrm>
          <a:prstGeom prst="rect">
            <a:avLst/>
          </a:prstGeom>
          <a:noFill/>
          <a:ln w="9525">
            <a:noFill/>
            <a:miter lim="800000"/>
            <a:headEnd/>
            <a:tailEnd/>
          </a:ln>
          <a:effectLst/>
        </p:spPr>
        <p:txBody>
          <a:bodyPr>
            <a:spAutoFit/>
          </a:bodyPr>
          <a:lstStyle/>
          <a:p>
            <a:pPr lvl="1" eaLnBrk="1" hangingPunct="1">
              <a:spcBef>
                <a:spcPct val="20000"/>
              </a:spcBef>
            </a:pPr>
            <a:r>
              <a:rPr lang="en-US"/>
              <a:t>Remove 24 and 20 from the AVL tree.</a:t>
            </a:r>
          </a:p>
        </p:txBody>
      </p:sp>
      <p:sp>
        <p:nvSpPr>
          <p:cNvPr id="21507" name="Rectangle 6"/>
          <p:cNvSpPr>
            <a:spLocks noChangeArrowheads="1"/>
          </p:cNvSpPr>
          <p:nvPr/>
        </p:nvSpPr>
        <p:spPr bwMode="auto">
          <a:xfrm>
            <a:off x="1752600" y="838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1508" name="Rectangle 7"/>
          <p:cNvSpPr>
            <a:spLocks noChangeArrowheads="1"/>
          </p:cNvSpPr>
          <p:nvPr/>
        </p:nvSpPr>
        <p:spPr bwMode="auto">
          <a:xfrm>
            <a:off x="2438400" y="1447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24</a:t>
            </a:r>
          </a:p>
        </p:txBody>
      </p:sp>
      <p:cxnSp>
        <p:nvCxnSpPr>
          <p:cNvPr id="21509" name="AutoShape 8"/>
          <p:cNvCxnSpPr>
            <a:cxnSpLocks noChangeShapeType="1"/>
            <a:stCxn id="21507" idx="2"/>
            <a:endCxn id="21508" idx="0"/>
          </p:cNvCxnSpPr>
          <p:nvPr/>
        </p:nvCxnSpPr>
        <p:spPr bwMode="auto">
          <a:xfrm>
            <a:off x="2019300" y="1219200"/>
            <a:ext cx="685800" cy="228600"/>
          </a:xfrm>
          <a:prstGeom prst="straightConnector1">
            <a:avLst/>
          </a:prstGeom>
          <a:noFill/>
          <a:ln w="9525">
            <a:solidFill>
              <a:schemeClr val="tx1"/>
            </a:solidFill>
            <a:round/>
            <a:headEnd/>
            <a:tailEnd/>
          </a:ln>
          <a:effectLst/>
        </p:spPr>
      </p:cxnSp>
      <p:sp>
        <p:nvSpPr>
          <p:cNvPr id="21510" name="Rectangle 9"/>
          <p:cNvSpPr>
            <a:spLocks noChangeArrowheads="1"/>
          </p:cNvSpPr>
          <p:nvPr/>
        </p:nvSpPr>
        <p:spPr bwMode="auto">
          <a:xfrm>
            <a:off x="3352800" y="2819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sp>
        <p:nvSpPr>
          <p:cNvPr id="21511" name="Rectangle 10"/>
          <p:cNvSpPr>
            <a:spLocks noChangeArrowheads="1"/>
          </p:cNvSpPr>
          <p:nvPr/>
        </p:nvSpPr>
        <p:spPr bwMode="auto">
          <a:xfrm>
            <a:off x="1905000" y="2133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1512" name="AutoShape 11"/>
          <p:cNvCxnSpPr>
            <a:cxnSpLocks noChangeShapeType="1"/>
            <a:stCxn id="21507" idx="2"/>
            <a:endCxn id="21513" idx="0"/>
          </p:cNvCxnSpPr>
          <p:nvPr/>
        </p:nvCxnSpPr>
        <p:spPr bwMode="auto">
          <a:xfrm flipH="1">
            <a:off x="1409700" y="1219200"/>
            <a:ext cx="609600" cy="228600"/>
          </a:xfrm>
          <a:prstGeom prst="straightConnector1">
            <a:avLst/>
          </a:prstGeom>
          <a:noFill/>
          <a:ln w="9525">
            <a:solidFill>
              <a:schemeClr val="tx1"/>
            </a:solidFill>
            <a:round/>
            <a:headEnd/>
            <a:tailEnd/>
          </a:ln>
          <a:effectLst/>
        </p:spPr>
      </p:cxnSp>
      <p:sp>
        <p:nvSpPr>
          <p:cNvPr id="21513" name="Rectangle 12"/>
          <p:cNvSpPr>
            <a:spLocks noChangeArrowheads="1"/>
          </p:cNvSpPr>
          <p:nvPr/>
        </p:nvSpPr>
        <p:spPr bwMode="auto">
          <a:xfrm>
            <a:off x="1143000" y="1447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1514" name="AutoShape 13"/>
          <p:cNvCxnSpPr>
            <a:cxnSpLocks noChangeShapeType="1"/>
            <a:stCxn id="21508" idx="2"/>
            <a:endCxn id="21511" idx="0"/>
          </p:cNvCxnSpPr>
          <p:nvPr/>
        </p:nvCxnSpPr>
        <p:spPr bwMode="auto">
          <a:xfrm flipH="1">
            <a:off x="2171700" y="1828800"/>
            <a:ext cx="533400" cy="304800"/>
          </a:xfrm>
          <a:prstGeom prst="straightConnector1">
            <a:avLst/>
          </a:prstGeom>
          <a:noFill/>
          <a:ln w="9525">
            <a:solidFill>
              <a:schemeClr val="tx1"/>
            </a:solidFill>
            <a:round/>
            <a:headEnd/>
            <a:tailEnd/>
          </a:ln>
          <a:effectLst/>
        </p:spPr>
      </p:cxnSp>
      <p:sp>
        <p:nvSpPr>
          <p:cNvPr id="21515" name="Rectangle 14"/>
          <p:cNvSpPr>
            <a:spLocks noChangeArrowheads="1"/>
          </p:cNvSpPr>
          <p:nvPr/>
        </p:nvSpPr>
        <p:spPr bwMode="auto">
          <a:xfrm>
            <a:off x="533400" y="2133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1516" name="AutoShape 15"/>
          <p:cNvCxnSpPr>
            <a:cxnSpLocks noChangeShapeType="1"/>
            <a:stCxn id="21513" idx="2"/>
            <a:endCxn id="21515" idx="0"/>
          </p:cNvCxnSpPr>
          <p:nvPr/>
        </p:nvCxnSpPr>
        <p:spPr bwMode="auto">
          <a:xfrm flipH="1">
            <a:off x="800100" y="1828800"/>
            <a:ext cx="609600" cy="304800"/>
          </a:xfrm>
          <a:prstGeom prst="straightConnector1">
            <a:avLst/>
          </a:prstGeom>
          <a:noFill/>
          <a:ln w="9525">
            <a:solidFill>
              <a:schemeClr val="tx1"/>
            </a:solidFill>
            <a:round/>
            <a:headEnd/>
            <a:tailEnd/>
          </a:ln>
          <a:effectLst/>
        </p:spPr>
      </p:cxnSp>
      <p:sp>
        <p:nvSpPr>
          <p:cNvPr id="21517" name="Rectangle 16"/>
          <p:cNvSpPr>
            <a:spLocks noChangeArrowheads="1"/>
          </p:cNvSpPr>
          <p:nvPr/>
        </p:nvSpPr>
        <p:spPr bwMode="auto">
          <a:xfrm>
            <a:off x="2667000" y="2819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sp>
        <p:nvSpPr>
          <p:cNvPr id="21518" name="Rectangle 17"/>
          <p:cNvSpPr>
            <a:spLocks noChangeArrowheads="1"/>
          </p:cNvSpPr>
          <p:nvPr/>
        </p:nvSpPr>
        <p:spPr bwMode="auto">
          <a:xfrm>
            <a:off x="2971800" y="2133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sp>
        <p:nvSpPr>
          <p:cNvPr id="21519" name="Rectangle 18"/>
          <p:cNvSpPr>
            <a:spLocks noChangeArrowheads="1"/>
          </p:cNvSpPr>
          <p:nvPr/>
        </p:nvSpPr>
        <p:spPr bwMode="auto">
          <a:xfrm>
            <a:off x="1524000" y="2819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1520" name="AutoShape 19"/>
          <p:cNvCxnSpPr>
            <a:cxnSpLocks noChangeShapeType="1"/>
            <a:stCxn id="21518" idx="2"/>
            <a:endCxn id="21510" idx="0"/>
          </p:cNvCxnSpPr>
          <p:nvPr/>
        </p:nvCxnSpPr>
        <p:spPr bwMode="auto">
          <a:xfrm>
            <a:off x="3238500" y="2514600"/>
            <a:ext cx="381000" cy="304800"/>
          </a:xfrm>
          <a:prstGeom prst="straightConnector1">
            <a:avLst/>
          </a:prstGeom>
          <a:noFill/>
          <a:ln w="9525">
            <a:solidFill>
              <a:schemeClr val="tx1"/>
            </a:solidFill>
            <a:round/>
            <a:headEnd/>
            <a:tailEnd/>
          </a:ln>
          <a:effectLst/>
        </p:spPr>
      </p:cxnSp>
      <p:cxnSp>
        <p:nvCxnSpPr>
          <p:cNvPr id="21521" name="AutoShape 20"/>
          <p:cNvCxnSpPr>
            <a:cxnSpLocks noChangeShapeType="1"/>
            <a:stCxn id="21508" idx="2"/>
            <a:endCxn id="21518" idx="0"/>
          </p:cNvCxnSpPr>
          <p:nvPr/>
        </p:nvCxnSpPr>
        <p:spPr bwMode="auto">
          <a:xfrm>
            <a:off x="2705100" y="1828800"/>
            <a:ext cx="533400" cy="304800"/>
          </a:xfrm>
          <a:prstGeom prst="straightConnector1">
            <a:avLst/>
          </a:prstGeom>
          <a:noFill/>
          <a:ln w="9525">
            <a:solidFill>
              <a:schemeClr val="tx1"/>
            </a:solidFill>
            <a:round/>
            <a:headEnd/>
            <a:tailEnd/>
          </a:ln>
          <a:effectLst/>
        </p:spPr>
      </p:cxnSp>
      <p:cxnSp>
        <p:nvCxnSpPr>
          <p:cNvPr id="21522" name="AutoShape 21"/>
          <p:cNvCxnSpPr>
            <a:cxnSpLocks noChangeShapeType="1"/>
            <a:stCxn id="21511" idx="2"/>
            <a:endCxn id="21519" idx="0"/>
          </p:cNvCxnSpPr>
          <p:nvPr/>
        </p:nvCxnSpPr>
        <p:spPr bwMode="auto">
          <a:xfrm flipH="1">
            <a:off x="1790700" y="2514600"/>
            <a:ext cx="381000" cy="304800"/>
          </a:xfrm>
          <a:prstGeom prst="straightConnector1">
            <a:avLst/>
          </a:prstGeom>
          <a:noFill/>
          <a:ln w="9525">
            <a:solidFill>
              <a:schemeClr val="tx1"/>
            </a:solidFill>
            <a:round/>
            <a:headEnd/>
            <a:tailEnd/>
          </a:ln>
          <a:effectLst/>
        </p:spPr>
      </p:cxnSp>
      <p:cxnSp>
        <p:nvCxnSpPr>
          <p:cNvPr id="21523" name="AutoShape 22"/>
          <p:cNvCxnSpPr>
            <a:cxnSpLocks noChangeShapeType="1"/>
            <a:stCxn id="21518" idx="2"/>
            <a:endCxn id="21517" idx="0"/>
          </p:cNvCxnSpPr>
          <p:nvPr/>
        </p:nvCxnSpPr>
        <p:spPr bwMode="auto">
          <a:xfrm flipH="1">
            <a:off x="2933700" y="2514600"/>
            <a:ext cx="304800" cy="304800"/>
          </a:xfrm>
          <a:prstGeom prst="straightConnector1">
            <a:avLst/>
          </a:prstGeom>
          <a:noFill/>
          <a:ln w="9525">
            <a:solidFill>
              <a:schemeClr val="tx1"/>
            </a:solidFill>
            <a:round/>
            <a:headEnd/>
            <a:tailEnd/>
          </a:ln>
          <a:effectLst/>
        </p:spPr>
      </p:cxnSp>
      <p:sp>
        <p:nvSpPr>
          <p:cNvPr id="23575" name="Rectangle 23"/>
          <p:cNvSpPr>
            <a:spLocks noChangeArrowheads="1"/>
          </p:cNvSpPr>
          <p:nvPr/>
        </p:nvSpPr>
        <p:spPr bwMode="auto">
          <a:xfrm>
            <a:off x="6400800" y="838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3576" name="Rectangle 24"/>
          <p:cNvSpPr>
            <a:spLocks noChangeArrowheads="1"/>
          </p:cNvSpPr>
          <p:nvPr/>
        </p:nvSpPr>
        <p:spPr bwMode="auto">
          <a:xfrm>
            <a:off x="7010400" y="1447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20</a:t>
            </a:r>
          </a:p>
        </p:txBody>
      </p:sp>
      <p:cxnSp>
        <p:nvCxnSpPr>
          <p:cNvPr id="23577" name="AutoShape 25"/>
          <p:cNvCxnSpPr>
            <a:cxnSpLocks noChangeShapeType="1"/>
            <a:stCxn id="23575" idx="2"/>
            <a:endCxn id="23576" idx="0"/>
          </p:cNvCxnSpPr>
          <p:nvPr/>
        </p:nvCxnSpPr>
        <p:spPr bwMode="auto">
          <a:xfrm>
            <a:off x="6667500" y="1219200"/>
            <a:ext cx="609600" cy="228600"/>
          </a:xfrm>
          <a:prstGeom prst="straightConnector1">
            <a:avLst/>
          </a:prstGeom>
          <a:noFill/>
          <a:ln w="9525">
            <a:solidFill>
              <a:schemeClr val="tx1"/>
            </a:solidFill>
            <a:round/>
            <a:headEnd/>
            <a:tailEnd/>
          </a:ln>
          <a:effectLst/>
        </p:spPr>
      </p:cxnSp>
      <p:sp>
        <p:nvSpPr>
          <p:cNvPr id="23578" name="Rectangle 26"/>
          <p:cNvSpPr>
            <a:spLocks noChangeArrowheads="1"/>
          </p:cNvSpPr>
          <p:nvPr/>
        </p:nvSpPr>
        <p:spPr bwMode="auto">
          <a:xfrm>
            <a:off x="7924800" y="2819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sp>
        <p:nvSpPr>
          <p:cNvPr id="23579" name="Rectangle 27"/>
          <p:cNvSpPr>
            <a:spLocks noChangeArrowheads="1"/>
          </p:cNvSpPr>
          <p:nvPr/>
        </p:nvSpPr>
        <p:spPr bwMode="auto">
          <a:xfrm>
            <a:off x="6477000" y="2133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3580" name="AutoShape 28"/>
          <p:cNvCxnSpPr>
            <a:cxnSpLocks noChangeShapeType="1"/>
            <a:stCxn id="23575" idx="2"/>
            <a:endCxn id="23581" idx="0"/>
          </p:cNvCxnSpPr>
          <p:nvPr/>
        </p:nvCxnSpPr>
        <p:spPr bwMode="auto">
          <a:xfrm flipH="1">
            <a:off x="5981700" y="1219200"/>
            <a:ext cx="685800" cy="228600"/>
          </a:xfrm>
          <a:prstGeom prst="straightConnector1">
            <a:avLst/>
          </a:prstGeom>
          <a:noFill/>
          <a:ln w="9525">
            <a:solidFill>
              <a:schemeClr val="tx1"/>
            </a:solidFill>
            <a:round/>
            <a:headEnd/>
            <a:tailEnd/>
          </a:ln>
          <a:effectLst/>
        </p:spPr>
      </p:cxnSp>
      <p:sp>
        <p:nvSpPr>
          <p:cNvPr id="23581" name="Rectangle 29"/>
          <p:cNvSpPr>
            <a:spLocks noChangeArrowheads="1"/>
          </p:cNvSpPr>
          <p:nvPr/>
        </p:nvSpPr>
        <p:spPr bwMode="auto">
          <a:xfrm>
            <a:off x="5715000" y="1447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cxnSp>
        <p:nvCxnSpPr>
          <p:cNvPr id="23582" name="AutoShape 30"/>
          <p:cNvCxnSpPr>
            <a:cxnSpLocks noChangeShapeType="1"/>
            <a:stCxn id="23576" idx="2"/>
            <a:endCxn id="23579" idx="0"/>
          </p:cNvCxnSpPr>
          <p:nvPr/>
        </p:nvCxnSpPr>
        <p:spPr bwMode="auto">
          <a:xfrm flipH="1">
            <a:off x="6743700" y="1828800"/>
            <a:ext cx="533400" cy="304800"/>
          </a:xfrm>
          <a:prstGeom prst="straightConnector1">
            <a:avLst/>
          </a:prstGeom>
          <a:noFill/>
          <a:ln w="9525">
            <a:solidFill>
              <a:schemeClr val="tx1"/>
            </a:solidFill>
            <a:round/>
            <a:headEnd/>
            <a:tailEnd/>
          </a:ln>
          <a:effectLst/>
        </p:spPr>
      </p:cxnSp>
      <p:sp>
        <p:nvSpPr>
          <p:cNvPr id="23583" name="Rectangle 31"/>
          <p:cNvSpPr>
            <a:spLocks noChangeArrowheads="1"/>
          </p:cNvSpPr>
          <p:nvPr/>
        </p:nvSpPr>
        <p:spPr bwMode="auto">
          <a:xfrm>
            <a:off x="5105400" y="2133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3584" name="AutoShape 32"/>
          <p:cNvCxnSpPr>
            <a:cxnSpLocks noChangeShapeType="1"/>
            <a:stCxn id="23581" idx="2"/>
            <a:endCxn id="23583" idx="0"/>
          </p:cNvCxnSpPr>
          <p:nvPr/>
        </p:nvCxnSpPr>
        <p:spPr bwMode="auto">
          <a:xfrm flipH="1">
            <a:off x="5372100" y="1828800"/>
            <a:ext cx="609600" cy="304800"/>
          </a:xfrm>
          <a:prstGeom prst="straightConnector1">
            <a:avLst/>
          </a:prstGeom>
          <a:noFill/>
          <a:ln w="9525">
            <a:solidFill>
              <a:schemeClr val="tx1"/>
            </a:solidFill>
            <a:round/>
            <a:headEnd/>
            <a:tailEnd/>
          </a:ln>
          <a:effectLst/>
        </p:spPr>
      </p:cxnSp>
      <p:sp>
        <p:nvSpPr>
          <p:cNvPr id="23585" name="Rectangle 33"/>
          <p:cNvSpPr>
            <a:spLocks noChangeArrowheads="1"/>
          </p:cNvSpPr>
          <p:nvPr/>
        </p:nvSpPr>
        <p:spPr bwMode="auto">
          <a:xfrm>
            <a:off x="7239000" y="2819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sp>
        <p:nvSpPr>
          <p:cNvPr id="23586" name="Rectangle 34"/>
          <p:cNvSpPr>
            <a:spLocks noChangeArrowheads="1"/>
          </p:cNvSpPr>
          <p:nvPr/>
        </p:nvSpPr>
        <p:spPr bwMode="auto">
          <a:xfrm>
            <a:off x="7543800" y="21336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cxnSp>
        <p:nvCxnSpPr>
          <p:cNvPr id="23588" name="AutoShape 36"/>
          <p:cNvCxnSpPr>
            <a:cxnSpLocks noChangeShapeType="1"/>
            <a:stCxn id="23586" idx="2"/>
            <a:endCxn id="23578" idx="0"/>
          </p:cNvCxnSpPr>
          <p:nvPr/>
        </p:nvCxnSpPr>
        <p:spPr bwMode="auto">
          <a:xfrm>
            <a:off x="7810500" y="2514600"/>
            <a:ext cx="381000" cy="304800"/>
          </a:xfrm>
          <a:prstGeom prst="straightConnector1">
            <a:avLst/>
          </a:prstGeom>
          <a:noFill/>
          <a:ln w="9525">
            <a:solidFill>
              <a:schemeClr val="tx1"/>
            </a:solidFill>
            <a:round/>
            <a:headEnd/>
            <a:tailEnd/>
          </a:ln>
          <a:effectLst/>
        </p:spPr>
      </p:cxnSp>
      <p:cxnSp>
        <p:nvCxnSpPr>
          <p:cNvPr id="23589" name="AutoShape 37"/>
          <p:cNvCxnSpPr>
            <a:cxnSpLocks noChangeShapeType="1"/>
            <a:stCxn id="23576" idx="2"/>
            <a:endCxn id="23586" idx="0"/>
          </p:cNvCxnSpPr>
          <p:nvPr/>
        </p:nvCxnSpPr>
        <p:spPr bwMode="auto">
          <a:xfrm>
            <a:off x="7277100" y="1828800"/>
            <a:ext cx="533400" cy="304800"/>
          </a:xfrm>
          <a:prstGeom prst="straightConnector1">
            <a:avLst/>
          </a:prstGeom>
          <a:noFill/>
          <a:ln w="9525">
            <a:solidFill>
              <a:schemeClr val="tx1"/>
            </a:solidFill>
            <a:round/>
            <a:headEnd/>
            <a:tailEnd/>
          </a:ln>
          <a:effectLst/>
        </p:spPr>
      </p:cxnSp>
      <p:cxnSp>
        <p:nvCxnSpPr>
          <p:cNvPr id="23591" name="AutoShape 39"/>
          <p:cNvCxnSpPr>
            <a:cxnSpLocks noChangeShapeType="1"/>
            <a:stCxn id="23586" idx="2"/>
            <a:endCxn id="23585" idx="0"/>
          </p:cNvCxnSpPr>
          <p:nvPr/>
        </p:nvCxnSpPr>
        <p:spPr bwMode="auto">
          <a:xfrm flipH="1">
            <a:off x="7505700" y="2514600"/>
            <a:ext cx="304800" cy="304800"/>
          </a:xfrm>
          <a:prstGeom prst="straightConnector1">
            <a:avLst/>
          </a:prstGeom>
          <a:noFill/>
          <a:ln w="9525">
            <a:solidFill>
              <a:schemeClr val="tx1"/>
            </a:solidFill>
            <a:round/>
            <a:headEnd/>
            <a:tailEnd/>
          </a:ln>
          <a:effectLst/>
        </p:spPr>
      </p:cxnSp>
      <p:sp>
        <p:nvSpPr>
          <p:cNvPr id="23592" name="AutoShape 40"/>
          <p:cNvSpPr>
            <a:spLocks noChangeArrowheads="1"/>
          </p:cNvSpPr>
          <p:nvPr/>
        </p:nvSpPr>
        <p:spPr bwMode="auto">
          <a:xfrm>
            <a:off x="3962400" y="1524000"/>
            <a:ext cx="762000" cy="457200"/>
          </a:xfrm>
          <a:prstGeom prst="rightArrow">
            <a:avLst>
              <a:gd name="adj1" fmla="val 50000"/>
              <a:gd name="adj2" fmla="val 41667"/>
            </a:avLst>
          </a:prstGeom>
          <a:solidFill>
            <a:schemeClr val="accent1"/>
          </a:solidFill>
          <a:ln w="9525">
            <a:solidFill>
              <a:schemeClr val="tx1"/>
            </a:solidFill>
            <a:miter lim="800000"/>
            <a:headEnd/>
            <a:tailEnd/>
          </a:ln>
          <a:effectLst/>
        </p:spPr>
        <p:txBody>
          <a:bodyPr wrap="none" anchor="ctr"/>
          <a:lstStyle/>
          <a:p>
            <a:endParaRPr lang="en-IN"/>
          </a:p>
        </p:txBody>
      </p:sp>
      <p:sp>
        <p:nvSpPr>
          <p:cNvPr id="23593" name="Rectangle 41"/>
          <p:cNvSpPr>
            <a:spLocks noChangeArrowheads="1"/>
          </p:cNvSpPr>
          <p:nvPr/>
        </p:nvSpPr>
        <p:spPr bwMode="auto">
          <a:xfrm>
            <a:off x="6400800" y="4114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3594" name="Rectangle 42"/>
          <p:cNvSpPr>
            <a:spLocks noChangeArrowheads="1"/>
          </p:cNvSpPr>
          <p:nvPr/>
        </p:nvSpPr>
        <p:spPr bwMode="auto">
          <a:xfrm>
            <a:off x="70104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3595" name="AutoShape 43"/>
          <p:cNvCxnSpPr>
            <a:cxnSpLocks noChangeShapeType="1"/>
            <a:stCxn id="23593" idx="2"/>
            <a:endCxn id="23594" idx="0"/>
          </p:cNvCxnSpPr>
          <p:nvPr/>
        </p:nvCxnSpPr>
        <p:spPr bwMode="auto">
          <a:xfrm>
            <a:off x="6667500" y="4495800"/>
            <a:ext cx="609600" cy="228600"/>
          </a:xfrm>
          <a:prstGeom prst="straightConnector1">
            <a:avLst/>
          </a:prstGeom>
          <a:noFill/>
          <a:ln w="9525">
            <a:solidFill>
              <a:schemeClr val="tx1"/>
            </a:solidFill>
            <a:round/>
            <a:headEnd/>
            <a:tailEnd/>
          </a:ln>
          <a:effectLst/>
        </p:spPr>
      </p:cxnSp>
      <p:sp>
        <p:nvSpPr>
          <p:cNvPr id="23596" name="Rectangle 44"/>
          <p:cNvSpPr>
            <a:spLocks noChangeArrowheads="1"/>
          </p:cNvSpPr>
          <p:nvPr/>
        </p:nvSpPr>
        <p:spPr bwMode="auto">
          <a:xfrm>
            <a:off x="7924800" y="6096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cxnSp>
        <p:nvCxnSpPr>
          <p:cNvPr id="23598" name="AutoShape 46"/>
          <p:cNvCxnSpPr>
            <a:cxnSpLocks noChangeShapeType="1"/>
            <a:stCxn id="23593" idx="2"/>
            <a:endCxn id="23599" idx="0"/>
          </p:cNvCxnSpPr>
          <p:nvPr/>
        </p:nvCxnSpPr>
        <p:spPr bwMode="auto">
          <a:xfrm flipH="1">
            <a:off x="5981700" y="4495800"/>
            <a:ext cx="685800" cy="228600"/>
          </a:xfrm>
          <a:prstGeom prst="straightConnector1">
            <a:avLst/>
          </a:prstGeom>
          <a:noFill/>
          <a:ln w="9525">
            <a:solidFill>
              <a:schemeClr val="tx1"/>
            </a:solidFill>
            <a:round/>
            <a:headEnd/>
            <a:tailEnd/>
          </a:ln>
          <a:effectLst/>
        </p:spPr>
      </p:cxnSp>
      <p:sp>
        <p:nvSpPr>
          <p:cNvPr id="23599" name="Rectangle 47"/>
          <p:cNvSpPr>
            <a:spLocks noChangeArrowheads="1"/>
          </p:cNvSpPr>
          <p:nvPr/>
        </p:nvSpPr>
        <p:spPr bwMode="auto">
          <a:xfrm>
            <a:off x="57150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sp>
        <p:nvSpPr>
          <p:cNvPr id="23601" name="Rectangle 49"/>
          <p:cNvSpPr>
            <a:spLocks noChangeArrowheads="1"/>
          </p:cNvSpPr>
          <p:nvPr/>
        </p:nvSpPr>
        <p:spPr bwMode="auto">
          <a:xfrm>
            <a:off x="51054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3602" name="AutoShape 50"/>
          <p:cNvCxnSpPr>
            <a:cxnSpLocks noChangeShapeType="1"/>
            <a:stCxn id="23599" idx="2"/>
            <a:endCxn id="23601" idx="0"/>
          </p:cNvCxnSpPr>
          <p:nvPr/>
        </p:nvCxnSpPr>
        <p:spPr bwMode="auto">
          <a:xfrm flipH="1">
            <a:off x="5372100" y="5105400"/>
            <a:ext cx="609600" cy="304800"/>
          </a:xfrm>
          <a:prstGeom prst="straightConnector1">
            <a:avLst/>
          </a:prstGeom>
          <a:noFill/>
          <a:ln w="9525">
            <a:solidFill>
              <a:schemeClr val="tx1"/>
            </a:solidFill>
            <a:round/>
            <a:headEnd/>
            <a:tailEnd/>
          </a:ln>
          <a:effectLst/>
        </p:spPr>
      </p:cxnSp>
      <p:sp>
        <p:nvSpPr>
          <p:cNvPr id="23603" name="Rectangle 51"/>
          <p:cNvSpPr>
            <a:spLocks noChangeArrowheads="1"/>
          </p:cNvSpPr>
          <p:nvPr/>
        </p:nvSpPr>
        <p:spPr bwMode="auto">
          <a:xfrm>
            <a:off x="7239000" y="6096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sp>
        <p:nvSpPr>
          <p:cNvPr id="23604" name="Rectangle 52"/>
          <p:cNvSpPr>
            <a:spLocks noChangeArrowheads="1"/>
          </p:cNvSpPr>
          <p:nvPr/>
        </p:nvSpPr>
        <p:spPr bwMode="auto">
          <a:xfrm>
            <a:off x="75438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cxnSp>
        <p:nvCxnSpPr>
          <p:cNvPr id="23605" name="AutoShape 53"/>
          <p:cNvCxnSpPr>
            <a:cxnSpLocks noChangeShapeType="1"/>
            <a:stCxn id="23604" idx="2"/>
            <a:endCxn id="23596" idx="0"/>
          </p:cNvCxnSpPr>
          <p:nvPr/>
        </p:nvCxnSpPr>
        <p:spPr bwMode="auto">
          <a:xfrm>
            <a:off x="7810500" y="5791200"/>
            <a:ext cx="381000" cy="304800"/>
          </a:xfrm>
          <a:prstGeom prst="straightConnector1">
            <a:avLst/>
          </a:prstGeom>
          <a:noFill/>
          <a:ln w="9525">
            <a:solidFill>
              <a:schemeClr val="tx1"/>
            </a:solidFill>
            <a:round/>
            <a:headEnd/>
            <a:tailEnd/>
          </a:ln>
          <a:effectLst/>
        </p:spPr>
      </p:cxnSp>
      <p:cxnSp>
        <p:nvCxnSpPr>
          <p:cNvPr id="23606" name="AutoShape 54"/>
          <p:cNvCxnSpPr>
            <a:cxnSpLocks noChangeShapeType="1"/>
            <a:stCxn id="23594" idx="2"/>
            <a:endCxn id="23604" idx="0"/>
          </p:cNvCxnSpPr>
          <p:nvPr/>
        </p:nvCxnSpPr>
        <p:spPr bwMode="auto">
          <a:xfrm>
            <a:off x="7277100" y="5105400"/>
            <a:ext cx="533400" cy="304800"/>
          </a:xfrm>
          <a:prstGeom prst="straightConnector1">
            <a:avLst/>
          </a:prstGeom>
          <a:noFill/>
          <a:ln w="9525">
            <a:solidFill>
              <a:schemeClr val="tx1"/>
            </a:solidFill>
            <a:round/>
            <a:headEnd/>
            <a:tailEnd/>
          </a:ln>
          <a:effectLst/>
        </p:spPr>
      </p:cxnSp>
      <p:cxnSp>
        <p:nvCxnSpPr>
          <p:cNvPr id="23607" name="AutoShape 55"/>
          <p:cNvCxnSpPr>
            <a:cxnSpLocks noChangeShapeType="1"/>
            <a:stCxn id="23604" idx="2"/>
            <a:endCxn id="23603" idx="0"/>
          </p:cNvCxnSpPr>
          <p:nvPr/>
        </p:nvCxnSpPr>
        <p:spPr bwMode="auto">
          <a:xfrm flipH="1">
            <a:off x="7505700" y="5791200"/>
            <a:ext cx="304800" cy="304800"/>
          </a:xfrm>
          <a:prstGeom prst="straightConnector1">
            <a:avLst/>
          </a:prstGeom>
          <a:noFill/>
          <a:ln w="9525">
            <a:solidFill>
              <a:schemeClr val="tx1"/>
            </a:solidFill>
            <a:round/>
            <a:headEnd/>
            <a:tailEnd/>
          </a:ln>
          <a:effectLst/>
        </p:spPr>
      </p:cxnSp>
      <p:sp>
        <p:nvSpPr>
          <p:cNvPr id="23608" name="AutoShape 56"/>
          <p:cNvSpPr>
            <a:spLocks noChangeArrowheads="1"/>
          </p:cNvSpPr>
          <p:nvPr/>
        </p:nvSpPr>
        <p:spPr bwMode="auto">
          <a:xfrm>
            <a:off x="5867400" y="2971800"/>
            <a:ext cx="457200" cy="685800"/>
          </a:xfrm>
          <a:prstGeom prst="downArrow">
            <a:avLst>
              <a:gd name="adj1" fmla="val 50000"/>
              <a:gd name="adj2" fmla="val 37500"/>
            </a:avLst>
          </a:prstGeom>
          <a:solidFill>
            <a:schemeClr val="accent1"/>
          </a:solidFill>
          <a:ln w="9525">
            <a:solidFill>
              <a:schemeClr val="tx1"/>
            </a:solidFill>
            <a:miter lim="800000"/>
            <a:headEnd/>
            <a:tailEnd/>
          </a:ln>
          <a:effectLst/>
        </p:spPr>
        <p:txBody>
          <a:bodyPr wrap="none" anchor="ctr"/>
          <a:lstStyle/>
          <a:p>
            <a:endParaRPr lang="en-IN"/>
          </a:p>
        </p:txBody>
      </p:sp>
      <p:sp>
        <p:nvSpPr>
          <p:cNvPr id="23612" name="Rectangle 60"/>
          <p:cNvSpPr>
            <a:spLocks noChangeArrowheads="1"/>
          </p:cNvSpPr>
          <p:nvPr/>
        </p:nvSpPr>
        <p:spPr bwMode="auto">
          <a:xfrm>
            <a:off x="1752600" y="41148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13</a:t>
            </a:r>
          </a:p>
        </p:txBody>
      </p:sp>
      <p:sp>
        <p:nvSpPr>
          <p:cNvPr id="23613" name="Rectangle 61"/>
          <p:cNvSpPr>
            <a:spLocks noChangeArrowheads="1"/>
          </p:cNvSpPr>
          <p:nvPr/>
        </p:nvSpPr>
        <p:spPr bwMode="auto">
          <a:xfrm>
            <a:off x="23622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30</a:t>
            </a:r>
          </a:p>
        </p:txBody>
      </p:sp>
      <p:cxnSp>
        <p:nvCxnSpPr>
          <p:cNvPr id="23614" name="AutoShape 62"/>
          <p:cNvCxnSpPr>
            <a:cxnSpLocks noChangeShapeType="1"/>
            <a:stCxn id="23612" idx="2"/>
            <a:endCxn id="23613" idx="0"/>
          </p:cNvCxnSpPr>
          <p:nvPr/>
        </p:nvCxnSpPr>
        <p:spPr bwMode="auto">
          <a:xfrm>
            <a:off x="2019300" y="4495800"/>
            <a:ext cx="609600" cy="228600"/>
          </a:xfrm>
          <a:prstGeom prst="straightConnector1">
            <a:avLst/>
          </a:prstGeom>
          <a:noFill/>
          <a:ln w="9525">
            <a:solidFill>
              <a:schemeClr val="tx1"/>
            </a:solidFill>
            <a:round/>
            <a:headEnd/>
            <a:tailEnd/>
          </a:ln>
          <a:effectLst/>
        </p:spPr>
      </p:cxnSp>
      <p:sp>
        <p:nvSpPr>
          <p:cNvPr id="23615" name="Rectangle 63"/>
          <p:cNvSpPr>
            <a:spLocks noChangeArrowheads="1"/>
          </p:cNvSpPr>
          <p:nvPr/>
        </p:nvSpPr>
        <p:spPr bwMode="auto">
          <a:xfrm>
            <a:off x="28194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36</a:t>
            </a:r>
          </a:p>
        </p:txBody>
      </p:sp>
      <p:cxnSp>
        <p:nvCxnSpPr>
          <p:cNvPr id="23616" name="AutoShape 64"/>
          <p:cNvCxnSpPr>
            <a:cxnSpLocks noChangeShapeType="1"/>
            <a:stCxn id="23612" idx="2"/>
            <a:endCxn id="23617" idx="0"/>
          </p:cNvCxnSpPr>
          <p:nvPr/>
        </p:nvCxnSpPr>
        <p:spPr bwMode="auto">
          <a:xfrm flipH="1">
            <a:off x="1333500" y="4495800"/>
            <a:ext cx="685800" cy="228600"/>
          </a:xfrm>
          <a:prstGeom prst="straightConnector1">
            <a:avLst/>
          </a:prstGeom>
          <a:noFill/>
          <a:ln w="9525">
            <a:solidFill>
              <a:schemeClr val="tx1"/>
            </a:solidFill>
            <a:round/>
            <a:headEnd/>
            <a:tailEnd/>
          </a:ln>
          <a:effectLst/>
        </p:spPr>
      </p:cxnSp>
      <p:sp>
        <p:nvSpPr>
          <p:cNvPr id="23617" name="Rectangle 65"/>
          <p:cNvSpPr>
            <a:spLocks noChangeArrowheads="1"/>
          </p:cNvSpPr>
          <p:nvPr/>
        </p:nvSpPr>
        <p:spPr bwMode="auto">
          <a:xfrm>
            <a:off x="1066800" y="47244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10</a:t>
            </a:r>
          </a:p>
        </p:txBody>
      </p:sp>
      <p:sp>
        <p:nvSpPr>
          <p:cNvPr id="23618" name="Rectangle 66"/>
          <p:cNvSpPr>
            <a:spLocks noChangeArrowheads="1"/>
          </p:cNvSpPr>
          <p:nvPr/>
        </p:nvSpPr>
        <p:spPr bwMode="auto">
          <a:xfrm>
            <a:off x="4572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7</a:t>
            </a:r>
          </a:p>
        </p:txBody>
      </p:sp>
      <p:cxnSp>
        <p:nvCxnSpPr>
          <p:cNvPr id="23619" name="AutoShape 67"/>
          <p:cNvCxnSpPr>
            <a:cxnSpLocks noChangeShapeType="1"/>
            <a:stCxn id="23617" idx="2"/>
            <a:endCxn id="23618" idx="0"/>
          </p:cNvCxnSpPr>
          <p:nvPr/>
        </p:nvCxnSpPr>
        <p:spPr bwMode="auto">
          <a:xfrm flipH="1">
            <a:off x="723900" y="5105400"/>
            <a:ext cx="609600" cy="304800"/>
          </a:xfrm>
          <a:prstGeom prst="straightConnector1">
            <a:avLst/>
          </a:prstGeom>
          <a:noFill/>
          <a:ln w="9525">
            <a:solidFill>
              <a:schemeClr val="tx1"/>
            </a:solidFill>
            <a:round/>
            <a:headEnd/>
            <a:tailEnd/>
          </a:ln>
          <a:effectLst/>
        </p:spPr>
      </p:cxnSp>
      <p:sp>
        <p:nvSpPr>
          <p:cNvPr id="23620" name="Rectangle 68"/>
          <p:cNvSpPr>
            <a:spLocks noChangeArrowheads="1"/>
          </p:cNvSpPr>
          <p:nvPr/>
        </p:nvSpPr>
        <p:spPr bwMode="auto">
          <a:xfrm>
            <a:off x="2362200" y="60960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25</a:t>
            </a:r>
          </a:p>
        </p:txBody>
      </p:sp>
      <p:sp>
        <p:nvSpPr>
          <p:cNvPr id="23621" name="Rectangle 69"/>
          <p:cNvSpPr>
            <a:spLocks noChangeArrowheads="1"/>
          </p:cNvSpPr>
          <p:nvPr/>
        </p:nvSpPr>
        <p:spPr bwMode="auto">
          <a:xfrm>
            <a:off x="1981200" y="5410200"/>
            <a:ext cx="5334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sz="2000"/>
              <a:t>15</a:t>
            </a:r>
          </a:p>
        </p:txBody>
      </p:sp>
      <p:cxnSp>
        <p:nvCxnSpPr>
          <p:cNvPr id="23622" name="AutoShape 70"/>
          <p:cNvCxnSpPr>
            <a:cxnSpLocks noChangeShapeType="1"/>
            <a:stCxn id="23613" idx="2"/>
            <a:endCxn id="23615" idx="0"/>
          </p:cNvCxnSpPr>
          <p:nvPr/>
        </p:nvCxnSpPr>
        <p:spPr bwMode="auto">
          <a:xfrm>
            <a:off x="2628900" y="5105400"/>
            <a:ext cx="457200" cy="304800"/>
          </a:xfrm>
          <a:prstGeom prst="straightConnector1">
            <a:avLst/>
          </a:prstGeom>
          <a:noFill/>
          <a:ln w="9525">
            <a:solidFill>
              <a:schemeClr val="tx1"/>
            </a:solidFill>
            <a:round/>
            <a:headEnd/>
            <a:tailEnd/>
          </a:ln>
          <a:effectLst/>
        </p:spPr>
      </p:cxnSp>
      <p:cxnSp>
        <p:nvCxnSpPr>
          <p:cNvPr id="23623" name="AutoShape 71"/>
          <p:cNvCxnSpPr>
            <a:cxnSpLocks noChangeShapeType="1"/>
            <a:stCxn id="23613" idx="2"/>
            <a:endCxn id="23621" idx="0"/>
          </p:cNvCxnSpPr>
          <p:nvPr/>
        </p:nvCxnSpPr>
        <p:spPr bwMode="auto">
          <a:xfrm flipH="1">
            <a:off x="2247900" y="5105400"/>
            <a:ext cx="381000" cy="304800"/>
          </a:xfrm>
          <a:prstGeom prst="straightConnector1">
            <a:avLst/>
          </a:prstGeom>
          <a:noFill/>
          <a:ln w="9525">
            <a:solidFill>
              <a:schemeClr val="tx1"/>
            </a:solidFill>
            <a:round/>
            <a:headEnd/>
            <a:tailEnd/>
          </a:ln>
          <a:effectLst/>
        </p:spPr>
      </p:cxnSp>
      <p:cxnSp>
        <p:nvCxnSpPr>
          <p:cNvPr id="23624" name="AutoShape 72"/>
          <p:cNvCxnSpPr>
            <a:cxnSpLocks noChangeShapeType="1"/>
            <a:stCxn id="23621" idx="2"/>
            <a:endCxn id="23620" idx="0"/>
          </p:cNvCxnSpPr>
          <p:nvPr/>
        </p:nvCxnSpPr>
        <p:spPr bwMode="auto">
          <a:xfrm>
            <a:off x="2247900" y="5791200"/>
            <a:ext cx="381000" cy="304800"/>
          </a:xfrm>
          <a:prstGeom prst="straightConnector1">
            <a:avLst/>
          </a:prstGeom>
          <a:noFill/>
          <a:ln w="9525">
            <a:solidFill>
              <a:schemeClr val="tx1"/>
            </a:solidFill>
            <a:round/>
            <a:headEnd/>
            <a:tailEnd/>
          </a:ln>
          <a:effectLst/>
        </p:spPr>
      </p:cxnSp>
      <p:sp>
        <p:nvSpPr>
          <p:cNvPr id="23625" name="AutoShape 73"/>
          <p:cNvSpPr>
            <a:spLocks noChangeArrowheads="1"/>
          </p:cNvSpPr>
          <p:nvPr/>
        </p:nvSpPr>
        <p:spPr bwMode="auto">
          <a:xfrm>
            <a:off x="3810000" y="4495800"/>
            <a:ext cx="762000" cy="381000"/>
          </a:xfrm>
          <a:prstGeom prst="left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5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7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5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58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58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8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5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8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58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58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59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60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59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59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59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59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359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59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60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360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360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360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360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60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60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625"/>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61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61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361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361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361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361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361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361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362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362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362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362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36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5" grpId="0" animBg="1"/>
      <p:bldP spid="23576" grpId="0" animBg="1"/>
      <p:bldP spid="23578" grpId="0" animBg="1"/>
      <p:bldP spid="23579" grpId="0" animBg="1"/>
      <p:bldP spid="23581" grpId="0" animBg="1"/>
      <p:bldP spid="23583" grpId="0" animBg="1"/>
      <p:bldP spid="23585" grpId="0" animBg="1"/>
      <p:bldP spid="23586" grpId="0" animBg="1"/>
      <p:bldP spid="23592" grpId="0" animBg="1"/>
      <p:bldP spid="23593" grpId="0" animBg="1"/>
      <p:bldP spid="23594" grpId="0" animBg="1"/>
      <p:bldP spid="23596" grpId="0" animBg="1"/>
      <p:bldP spid="23599" grpId="0" animBg="1"/>
      <p:bldP spid="23601" grpId="0" animBg="1"/>
      <p:bldP spid="23603" grpId="0" animBg="1"/>
      <p:bldP spid="23604" grpId="0" animBg="1"/>
      <p:bldP spid="23608" grpId="0" animBg="1"/>
      <p:bldP spid="23612" grpId="0" animBg="1"/>
      <p:bldP spid="23613" grpId="0" animBg="1"/>
      <p:bldP spid="23615" grpId="0" animBg="1"/>
      <p:bldP spid="23617" grpId="0" animBg="1"/>
      <p:bldP spid="23618" grpId="0" animBg="1"/>
      <p:bldP spid="23620" grpId="0" animBg="1"/>
      <p:bldP spid="23621" grpId="0" animBg="1"/>
      <p:bldP spid="2362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37582"/>
          </a:xfrm>
        </p:spPr>
        <p:txBody>
          <a:bodyPr>
            <a:normAutofit fontScale="90000"/>
          </a:bodyPr>
          <a:lstStyle/>
          <a:p>
            <a:pPr algn="ctr"/>
            <a:r>
              <a:rPr lang="en-IN" b="1" dirty="0" smtClean="0"/>
              <a:t>Algorithm for insertion in AVL Tree</a:t>
            </a:r>
            <a:endParaRPr lang="en-US" b="1" dirty="0"/>
          </a:p>
        </p:txBody>
      </p:sp>
      <p:sp>
        <p:nvSpPr>
          <p:cNvPr id="4" name="Content Placeholder 3"/>
          <p:cNvSpPr>
            <a:spLocks noGrp="1"/>
          </p:cNvSpPr>
          <p:nvPr>
            <p:ph idx="1"/>
          </p:nvPr>
        </p:nvSpPr>
        <p:spPr/>
        <p:txBody>
          <a:bodyPr>
            <a:normAutofit fontScale="55000" lnSpcReduction="20000"/>
          </a:bodyPr>
          <a:lstStyle/>
          <a:p>
            <a:pPr fontAlgn="base"/>
            <a:r>
              <a:rPr lang="en-US" i="1" dirty="0" smtClean="0"/>
              <a:t>If the current node is NULL, create a new node with the given key.</a:t>
            </a:r>
          </a:p>
          <a:p>
            <a:pPr fontAlgn="base"/>
            <a:r>
              <a:rPr lang="en-US" i="1" dirty="0" smtClean="0"/>
              <a:t>If the key is less than the current node’s key, recursively insert the key in the left </a:t>
            </a:r>
            <a:r>
              <a:rPr lang="en-US" i="1" dirty="0" err="1" smtClean="0"/>
              <a:t>subtree</a:t>
            </a:r>
            <a:r>
              <a:rPr lang="en-US" i="1" dirty="0" smtClean="0"/>
              <a:t>.</a:t>
            </a:r>
          </a:p>
          <a:p>
            <a:pPr fontAlgn="base"/>
            <a:r>
              <a:rPr lang="en-US" i="1" dirty="0" smtClean="0"/>
              <a:t>If the key is greater than the current node’s key, recursively insert the key in the right </a:t>
            </a:r>
            <a:r>
              <a:rPr lang="en-US" i="1" dirty="0" err="1" smtClean="0"/>
              <a:t>subtree</a:t>
            </a:r>
            <a:r>
              <a:rPr lang="en-US" i="1" dirty="0" smtClean="0"/>
              <a:t>.</a:t>
            </a:r>
          </a:p>
          <a:p>
            <a:pPr fontAlgn="base"/>
            <a:r>
              <a:rPr lang="en-US" i="1" dirty="0" smtClean="0"/>
              <a:t>After insertion, update the height of the current node.</a:t>
            </a:r>
          </a:p>
          <a:p>
            <a:pPr fontAlgn="base"/>
            <a:r>
              <a:rPr lang="en-US" i="1" dirty="0" smtClean="0"/>
              <a:t>Calculate the balance factor of the current node.</a:t>
            </a:r>
          </a:p>
          <a:p>
            <a:pPr fontAlgn="base"/>
            <a:r>
              <a:rPr lang="en-US" i="1" dirty="0" smtClean="0"/>
              <a:t>If the balance factor is greater than 1 (left-heavy), check for Left-Left (LL) or Left-Right (LR) case:</a:t>
            </a:r>
          </a:p>
          <a:p>
            <a:pPr lvl="1" fontAlgn="base"/>
            <a:r>
              <a:rPr lang="en-US" b="1" i="1" dirty="0" smtClean="0"/>
              <a:t>LL Case</a:t>
            </a:r>
            <a:r>
              <a:rPr lang="en-US" i="1" dirty="0" smtClean="0"/>
              <a:t>: If the left child’s key is greater than the inserted key, perform a right rotation.</a:t>
            </a:r>
          </a:p>
          <a:p>
            <a:pPr lvl="1" fontAlgn="base"/>
            <a:r>
              <a:rPr lang="en-US" b="1" i="1" dirty="0" smtClean="0"/>
              <a:t>LR Case</a:t>
            </a:r>
            <a:r>
              <a:rPr lang="en-US" i="1" dirty="0" smtClean="0"/>
              <a:t>: If the left child’s key is less than the inserted key, perform a left rotation on the left child, then a right rotation on the current node.</a:t>
            </a:r>
          </a:p>
          <a:p>
            <a:pPr fontAlgn="base"/>
            <a:r>
              <a:rPr lang="en-US" i="1" dirty="0" smtClean="0"/>
              <a:t>If the balance factor is less than -1 (right-heavy), check for Right-Right (RR) or Right-Left (RL) case:</a:t>
            </a:r>
          </a:p>
          <a:p>
            <a:pPr lvl="1" fontAlgn="base"/>
            <a:r>
              <a:rPr lang="en-US" b="1" i="1" dirty="0" smtClean="0"/>
              <a:t>RR Case</a:t>
            </a:r>
            <a:r>
              <a:rPr lang="en-US" i="1" dirty="0" smtClean="0"/>
              <a:t>: If the right child’s key is less than the inserted key, perform a left rotation.</a:t>
            </a:r>
          </a:p>
          <a:p>
            <a:pPr lvl="1" fontAlgn="base"/>
            <a:r>
              <a:rPr lang="en-US" b="1" i="1" dirty="0" smtClean="0"/>
              <a:t>RL Case</a:t>
            </a:r>
            <a:r>
              <a:rPr lang="en-US" i="1" dirty="0" smtClean="0"/>
              <a:t>: If the right child’s key is greater than the inserted key, perform a right rotation on the right child, then a left rotation on the current node.</a:t>
            </a:r>
          </a:p>
          <a:p>
            <a:pPr>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37582"/>
          </a:xfrm>
        </p:spPr>
        <p:txBody>
          <a:bodyPr>
            <a:normAutofit fontScale="90000"/>
          </a:bodyPr>
          <a:lstStyle/>
          <a:p>
            <a:pPr algn="ctr"/>
            <a:r>
              <a:rPr lang="en-IN" b="1" dirty="0" smtClean="0"/>
              <a:t>Algorithm for Deletion in AVL Tree</a:t>
            </a:r>
            <a:endParaRPr lang="en-US" b="1" dirty="0"/>
          </a:p>
        </p:txBody>
      </p:sp>
      <p:sp>
        <p:nvSpPr>
          <p:cNvPr id="4" name="Content Placeholder 3"/>
          <p:cNvSpPr>
            <a:spLocks noGrp="1"/>
          </p:cNvSpPr>
          <p:nvPr>
            <p:ph idx="1"/>
          </p:nvPr>
        </p:nvSpPr>
        <p:spPr/>
        <p:txBody>
          <a:bodyPr>
            <a:normAutofit fontScale="62500" lnSpcReduction="20000"/>
          </a:bodyPr>
          <a:lstStyle/>
          <a:p>
            <a:pPr fontAlgn="base"/>
            <a:r>
              <a:rPr lang="en-US" i="1" dirty="0" smtClean="0"/>
              <a:t>If the node to be deleted is not found, return NULL.</a:t>
            </a:r>
          </a:p>
          <a:p>
            <a:pPr fontAlgn="base"/>
            <a:r>
              <a:rPr lang="en-US" i="1" dirty="0" smtClean="0"/>
              <a:t>If the key to be deleted is less than the current node’s key, recursively delete the key in the left </a:t>
            </a:r>
            <a:r>
              <a:rPr lang="en-US" i="1" dirty="0" err="1" smtClean="0"/>
              <a:t>subtree</a:t>
            </a:r>
            <a:r>
              <a:rPr lang="en-US" i="1" dirty="0" smtClean="0"/>
              <a:t>.</a:t>
            </a:r>
          </a:p>
          <a:p>
            <a:pPr fontAlgn="base"/>
            <a:r>
              <a:rPr lang="en-US" i="1" dirty="0" smtClean="0"/>
              <a:t>If the key to be deleted is greater than the current node’s key, recursively delete the key in the right </a:t>
            </a:r>
            <a:r>
              <a:rPr lang="en-US" i="1" dirty="0" err="1" smtClean="0"/>
              <a:t>subtree</a:t>
            </a:r>
            <a:r>
              <a:rPr lang="en-US" i="1" dirty="0" smtClean="0"/>
              <a:t>.</a:t>
            </a:r>
          </a:p>
          <a:p>
            <a:pPr fontAlgn="base"/>
            <a:r>
              <a:rPr lang="en-US" i="1" dirty="0" smtClean="0"/>
              <a:t>If the key to be deleted is equal to the current node’s key:</a:t>
            </a:r>
          </a:p>
          <a:p>
            <a:pPr lvl="1" fontAlgn="base"/>
            <a:r>
              <a:rPr lang="en-US" i="1" dirty="0" smtClean="0"/>
              <a:t>If the node has only one child or no child, replace the node with its child.</a:t>
            </a:r>
          </a:p>
          <a:p>
            <a:pPr lvl="1" fontAlgn="base"/>
            <a:r>
              <a:rPr lang="en-US" i="1" dirty="0" smtClean="0"/>
              <a:t>If the node has two children, find the in order successor (smallest in the right </a:t>
            </a:r>
            <a:r>
              <a:rPr lang="en-US" i="1" dirty="0" err="1" smtClean="0"/>
              <a:t>subtree</a:t>
            </a:r>
            <a:r>
              <a:rPr lang="en-US" i="1" dirty="0" smtClean="0"/>
              <a:t>), copy its key to the node, and delete the </a:t>
            </a:r>
            <a:r>
              <a:rPr lang="en-US" i="1" dirty="0" err="1" smtClean="0"/>
              <a:t>inorder</a:t>
            </a:r>
            <a:r>
              <a:rPr lang="en-US" i="1" dirty="0" smtClean="0"/>
              <a:t> successor.</a:t>
            </a:r>
          </a:p>
          <a:p>
            <a:pPr fontAlgn="base"/>
            <a:r>
              <a:rPr lang="en-US" i="1" dirty="0" smtClean="0"/>
              <a:t>After deletion, update the height of the current node.</a:t>
            </a:r>
          </a:p>
          <a:p>
            <a:pPr fontAlgn="base"/>
            <a:r>
              <a:rPr lang="en-US" i="1" dirty="0" smtClean="0"/>
              <a:t>Calculate the balance factor of the current node.</a:t>
            </a:r>
          </a:p>
          <a:p>
            <a:pPr fontAlgn="base"/>
            <a:r>
              <a:rPr lang="en-US" i="1" dirty="0" smtClean="0"/>
              <a:t>Check and fix imbalance just like in insertion.</a:t>
            </a:r>
          </a:p>
          <a:p>
            <a:pPr fontAlgn="base"/>
            <a:r>
              <a:rPr lang="en-US" i="1" dirty="0" smtClean="0"/>
              <a:t>Return the node after performing necessary rotations to balance the tree.</a:t>
            </a:r>
            <a:endParaRPr lang="en-US" i="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511156"/>
          </a:xfrm>
        </p:spPr>
        <p:txBody>
          <a:bodyPr>
            <a:normAutofit fontScale="90000"/>
          </a:bodyPr>
          <a:lstStyle/>
          <a:p>
            <a:r>
              <a:rPr lang="en-IN" dirty="0" smtClean="0"/>
              <a:t>HEAPS</a:t>
            </a:r>
            <a:endParaRPr lang="en-US" dirty="0"/>
          </a:p>
        </p:txBody>
      </p:sp>
      <p:sp>
        <p:nvSpPr>
          <p:cNvPr id="3" name="Content Placeholder 2"/>
          <p:cNvSpPr>
            <a:spLocks noGrp="1"/>
          </p:cNvSpPr>
          <p:nvPr>
            <p:ph idx="1"/>
          </p:nvPr>
        </p:nvSpPr>
        <p:spPr>
          <a:xfrm>
            <a:off x="457200" y="714356"/>
            <a:ext cx="8229600" cy="5411807"/>
          </a:xfrm>
        </p:spPr>
        <p:txBody>
          <a:bodyPr>
            <a:normAutofit fontScale="85000" lnSpcReduction="20000"/>
          </a:bodyPr>
          <a:lstStyle/>
          <a:p>
            <a:pPr>
              <a:buNone/>
            </a:pPr>
            <a:r>
              <a:rPr lang="en-US" b="1" dirty="0" smtClean="0"/>
              <a:t>What is a Heap?</a:t>
            </a:r>
          </a:p>
          <a:p>
            <a:r>
              <a:rPr lang="en-US" dirty="0" smtClean="0"/>
              <a:t>Definition: A </a:t>
            </a:r>
            <a:r>
              <a:rPr lang="en-US" b="1" dirty="0" smtClean="0"/>
              <a:t>heap</a:t>
            </a:r>
            <a:r>
              <a:rPr lang="en-US" dirty="0" smtClean="0"/>
              <a:t> is a special </a:t>
            </a:r>
            <a:r>
              <a:rPr lang="en-US" dirty="0" err="1" smtClean="0"/>
              <a:t>tree‑based</a:t>
            </a:r>
            <a:r>
              <a:rPr lang="en-US" dirty="0" smtClean="0"/>
              <a:t> data structure that satisfies the </a:t>
            </a:r>
            <a:r>
              <a:rPr lang="en-US" b="1" dirty="0" smtClean="0"/>
              <a:t>heap property</a:t>
            </a:r>
            <a:r>
              <a:rPr lang="en-US" dirty="0" smtClean="0"/>
              <a:t>, and is usually implemented as a complete binary tree.</a:t>
            </a:r>
          </a:p>
          <a:p>
            <a:r>
              <a:rPr lang="en-US" dirty="0" smtClean="0"/>
              <a:t>Two types:</a:t>
            </a:r>
          </a:p>
          <a:p>
            <a:pPr lvl="1"/>
            <a:r>
              <a:rPr lang="en-US" b="1" dirty="0" smtClean="0"/>
              <a:t>Max‐Heap</a:t>
            </a:r>
            <a:r>
              <a:rPr lang="en-US" dirty="0" smtClean="0"/>
              <a:t>: parent ≥ children</a:t>
            </a:r>
          </a:p>
          <a:p>
            <a:pPr lvl="1"/>
            <a:r>
              <a:rPr lang="en-US" b="1" dirty="0" smtClean="0"/>
              <a:t>Min‐Heap</a:t>
            </a:r>
            <a:r>
              <a:rPr lang="en-US" dirty="0" smtClean="0"/>
              <a:t>: parent ≤ children</a:t>
            </a:r>
          </a:p>
          <a:p>
            <a:r>
              <a:rPr lang="en-US" dirty="0" smtClean="0"/>
              <a:t>Used to implement priority queues</a:t>
            </a:r>
          </a:p>
          <a:p>
            <a:pPr>
              <a:buNone/>
            </a:pPr>
            <a:r>
              <a:rPr lang="en-US" b="1" dirty="0" smtClean="0"/>
              <a:t>Array Representation of Heaps</a:t>
            </a:r>
          </a:p>
          <a:p>
            <a:r>
              <a:rPr lang="en-US" dirty="0" smtClean="0"/>
              <a:t>How a binary heap can be stored in an array:</a:t>
            </a:r>
          </a:p>
          <a:p>
            <a:pPr lvl="1"/>
            <a:r>
              <a:rPr lang="en-US" dirty="0" smtClean="0"/>
              <a:t>For node at index </a:t>
            </a:r>
            <a:r>
              <a:rPr lang="en-US" i="1" dirty="0" err="1" smtClean="0"/>
              <a:t>i</a:t>
            </a:r>
            <a:endParaRPr lang="en-US" dirty="0" smtClean="0"/>
          </a:p>
          <a:p>
            <a:pPr lvl="2"/>
            <a:r>
              <a:rPr lang="en-US" dirty="0" smtClean="0"/>
              <a:t>Left child at 2*</a:t>
            </a:r>
            <a:r>
              <a:rPr lang="en-US" dirty="0" err="1" smtClean="0"/>
              <a:t>i</a:t>
            </a:r>
            <a:r>
              <a:rPr lang="en-US" dirty="0" smtClean="0"/>
              <a:t> </a:t>
            </a:r>
          </a:p>
          <a:p>
            <a:pPr lvl="2"/>
            <a:r>
              <a:rPr lang="en-US" dirty="0" smtClean="0"/>
              <a:t>Right child at 2*</a:t>
            </a:r>
            <a:r>
              <a:rPr lang="en-US" dirty="0" err="1" smtClean="0"/>
              <a:t>i</a:t>
            </a:r>
            <a:r>
              <a:rPr lang="en-US" dirty="0" smtClean="0"/>
              <a:t> + 1</a:t>
            </a:r>
          </a:p>
          <a:p>
            <a:pPr lvl="2"/>
            <a:r>
              <a:rPr lang="en-US" dirty="0" smtClean="0"/>
              <a:t>Parent at (</a:t>
            </a:r>
            <a:r>
              <a:rPr lang="en-US" dirty="0" err="1" smtClean="0"/>
              <a:t>i</a:t>
            </a:r>
            <a:r>
              <a:rPr lang="en-US" dirty="0" smtClean="0"/>
              <a:t>)/2 (integer division)</a:t>
            </a:r>
          </a:p>
          <a:p>
            <a:endParaRPr lang="en-US" dirty="0" smtClean="0"/>
          </a:p>
          <a:p>
            <a:pPr>
              <a:buNone/>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fontScale="90000"/>
          </a:bodyPr>
          <a:lstStyle/>
          <a:p>
            <a:r>
              <a:rPr lang="en-US" b="1" dirty="0" smtClean="0"/>
              <a:t>Properties of Heap</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dirty="0" smtClean="0"/>
              <a:t>The minimum or maximum element is always at the root of the heap, allowing constant-time access.</a:t>
            </a:r>
          </a:p>
          <a:p>
            <a:pPr fontAlgn="base"/>
            <a:r>
              <a:rPr lang="en-US" dirty="0" smtClean="0"/>
              <a:t>The relationship between a parent node at index </a:t>
            </a:r>
            <a:r>
              <a:rPr lang="en-US" b="1" dirty="0" smtClean="0"/>
              <a:t>'</a:t>
            </a:r>
            <a:r>
              <a:rPr lang="en-US" b="1" dirty="0" err="1" smtClean="0"/>
              <a:t>i</a:t>
            </a:r>
            <a:r>
              <a:rPr lang="en-US" b="1" dirty="0" smtClean="0"/>
              <a:t>'</a:t>
            </a:r>
            <a:r>
              <a:rPr lang="en-US" dirty="0" smtClean="0"/>
              <a:t> and its children is given by the formulas: left child at index</a:t>
            </a:r>
            <a:r>
              <a:rPr lang="en-US" b="1" dirty="0" smtClean="0"/>
              <a:t> 2i+1</a:t>
            </a:r>
            <a:r>
              <a:rPr lang="en-US" dirty="0" smtClean="0"/>
              <a:t> and right child at index</a:t>
            </a:r>
            <a:r>
              <a:rPr lang="en-US" b="1" dirty="0" smtClean="0"/>
              <a:t> 2i+2 </a:t>
            </a:r>
            <a:r>
              <a:rPr lang="en-US" dirty="0" smtClean="0"/>
              <a:t>for 0-based indexing of node numbers.</a:t>
            </a:r>
          </a:p>
          <a:p>
            <a:pPr fontAlgn="base"/>
            <a:r>
              <a:rPr lang="en-US" dirty="0" smtClean="0"/>
              <a:t>As the tree is complete binary, all levels are filled except possibly the last level. And the last level is filled from left to right.</a:t>
            </a:r>
          </a:p>
          <a:p>
            <a:pPr fontAlgn="base"/>
            <a:r>
              <a:rPr lang="en-US" dirty="0" smtClean="0"/>
              <a:t>When we insert an item, we insert it at the last available slot and then rearrange the nodes so that the heap property is maintained.</a:t>
            </a:r>
          </a:p>
          <a:p>
            <a:pPr fontAlgn="base"/>
            <a:r>
              <a:rPr lang="en-US" dirty="0" smtClean="0"/>
              <a:t>When we remove an item, we swap root with the last node to make sure either the max or min item is removed. Then we rearrange the remaining nodes to ensure heap property (max or min)</a:t>
            </a:r>
          </a:p>
          <a:p>
            <a:pPr>
              <a:buNone/>
            </a:pP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582594"/>
          </a:xfrm>
        </p:spPr>
        <p:txBody>
          <a:bodyPr>
            <a:normAutofit fontScale="90000"/>
          </a:bodyPr>
          <a:lstStyle/>
          <a:p>
            <a:r>
              <a:rPr lang="en-IN" dirty="0" smtClean="0"/>
              <a:t>HEAPS</a:t>
            </a:r>
            <a:endParaRPr lang="en-US" dirty="0"/>
          </a:p>
        </p:txBody>
      </p:sp>
      <p:sp>
        <p:nvSpPr>
          <p:cNvPr id="3" name="Content Placeholder 2"/>
          <p:cNvSpPr>
            <a:spLocks noGrp="1"/>
          </p:cNvSpPr>
          <p:nvPr>
            <p:ph idx="1"/>
          </p:nvPr>
        </p:nvSpPr>
        <p:spPr>
          <a:xfrm>
            <a:off x="457200" y="785794"/>
            <a:ext cx="8229600" cy="5340369"/>
          </a:xfrm>
        </p:spPr>
        <p:txBody>
          <a:bodyPr>
            <a:normAutofit fontScale="85000" lnSpcReduction="10000"/>
          </a:bodyPr>
          <a:lstStyle/>
          <a:p>
            <a:pPr>
              <a:buNone/>
            </a:pPr>
            <a:r>
              <a:rPr lang="en-US" b="1" dirty="0" smtClean="0"/>
              <a:t>Heap Operations</a:t>
            </a:r>
          </a:p>
          <a:p>
            <a:r>
              <a:rPr lang="en-US" b="1" dirty="0" smtClean="0"/>
              <a:t>Insert</a:t>
            </a:r>
            <a:r>
              <a:rPr lang="en-US" dirty="0" smtClean="0"/>
              <a:t> (or push)</a:t>
            </a:r>
          </a:p>
          <a:p>
            <a:r>
              <a:rPr lang="en-US" b="1" dirty="0" smtClean="0"/>
              <a:t>Extract-Min / Extract-Max</a:t>
            </a:r>
            <a:endParaRPr lang="en-US" dirty="0" smtClean="0"/>
          </a:p>
          <a:p>
            <a:r>
              <a:rPr lang="en-US" b="1" dirty="0" smtClean="0"/>
              <a:t>Peek / Find-Min / Find-Max</a:t>
            </a:r>
            <a:endParaRPr lang="en-US" dirty="0" smtClean="0"/>
          </a:p>
          <a:p>
            <a:r>
              <a:rPr lang="en-US" b="1" dirty="0" smtClean="0"/>
              <a:t>Build-Heap</a:t>
            </a:r>
            <a:r>
              <a:rPr lang="en-US" dirty="0" smtClean="0"/>
              <a:t> (from an unsorted array)</a:t>
            </a:r>
          </a:p>
          <a:p>
            <a:pPr>
              <a:buNone/>
            </a:pPr>
            <a:r>
              <a:rPr lang="en-US" b="1" dirty="0" err="1" smtClean="0"/>
              <a:t>Heapify</a:t>
            </a:r>
            <a:r>
              <a:rPr lang="en-US" b="1" dirty="0" smtClean="0"/>
              <a:t> (</a:t>
            </a:r>
            <a:r>
              <a:rPr lang="en-US" b="1" dirty="0" err="1" smtClean="0"/>
              <a:t>Sift‑Down</a:t>
            </a:r>
            <a:r>
              <a:rPr lang="en-US" b="1" dirty="0" smtClean="0"/>
              <a:t> / </a:t>
            </a:r>
            <a:r>
              <a:rPr lang="en-US" b="1" dirty="0" err="1" smtClean="0"/>
              <a:t>Sift‑Up</a:t>
            </a:r>
            <a:r>
              <a:rPr lang="en-US" b="1" dirty="0" smtClean="0"/>
              <a:t>)(percolate up/percolate down)</a:t>
            </a:r>
            <a:endParaRPr lang="en-US" b="1" dirty="0" smtClean="0"/>
          </a:p>
          <a:p>
            <a:r>
              <a:rPr lang="en-US" dirty="0" smtClean="0"/>
              <a:t>Explain </a:t>
            </a:r>
            <a:r>
              <a:rPr lang="en-US" i="1" dirty="0" err="1" smtClean="0"/>
              <a:t>sift‑up</a:t>
            </a:r>
            <a:r>
              <a:rPr lang="en-US" dirty="0" smtClean="0"/>
              <a:t> (used during insertion): comparing child with its parent, swapping until heap property restored.</a:t>
            </a:r>
          </a:p>
          <a:p>
            <a:r>
              <a:rPr lang="en-US" dirty="0" smtClean="0"/>
              <a:t>Explain </a:t>
            </a:r>
            <a:r>
              <a:rPr lang="en-US" i="1" dirty="0" err="1" smtClean="0"/>
              <a:t>sift‑down</a:t>
            </a:r>
            <a:r>
              <a:rPr lang="en-US" dirty="0" smtClean="0"/>
              <a:t> (used during extraction or in building heap): swap with appropriate child and continue down</a:t>
            </a:r>
            <a:r>
              <a:rPr lang="en-US" dirty="0" smtClean="0"/>
              <a:t>.</a:t>
            </a:r>
          </a:p>
          <a:p>
            <a:r>
              <a:rPr lang="en-US" dirty="0" err="1" smtClean="0"/>
              <a:t>int</a:t>
            </a:r>
            <a:r>
              <a:rPr lang="en-US" dirty="0" smtClean="0"/>
              <a:t> heap[] = {30, 15, 25, 5, 10, 20};</a:t>
            </a:r>
            <a:endParaRPr lang="en-US" dirty="0" smtClean="0"/>
          </a:p>
          <a:p>
            <a:pPr>
              <a:buNone/>
            </a:pPr>
            <a:endParaRPr lang="en-US" dirty="0" smtClean="0"/>
          </a:p>
          <a:p>
            <a:pPr>
              <a:buNone/>
            </a:pP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Algorithm for Min heap</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IN" b="1" dirty="0" smtClean="0"/>
              <a:t>INSERTION:</a:t>
            </a:r>
          </a:p>
          <a:p>
            <a:pPr marL="514350" indent="-514350">
              <a:buFont typeface="+mj-lt"/>
              <a:buAutoNum type="arabicPeriod"/>
            </a:pPr>
            <a:r>
              <a:rPr lang="en-IN" dirty="0" smtClean="0"/>
              <a:t>Insert an element in a heap tree</a:t>
            </a:r>
          </a:p>
          <a:p>
            <a:pPr marL="514350" indent="-514350">
              <a:buFont typeface="+mj-lt"/>
              <a:buAutoNum type="arabicPeriod"/>
            </a:pPr>
            <a:r>
              <a:rPr lang="en-IN" dirty="0" smtClean="0"/>
              <a:t>Compare the value of child node with its parent </a:t>
            </a:r>
          </a:p>
          <a:p>
            <a:pPr marL="514350" indent="-514350">
              <a:buFont typeface="+mj-lt"/>
              <a:buAutoNum type="arabicPeriod"/>
            </a:pPr>
            <a:r>
              <a:rPr lang="en-IN" dirty="0" smtClean="0"/>
              <a:t>If the value of parent is greater than child, then swap them</a:t>
            </a:r>
          </a:p>
          <a:p>
            <a:pPr marL="514350" indent="-514350">
              <a:buFont typeface="+mj-lt"/>
              <a:buAutoNum type="arabicPeriod"/>
            </a:pPr>
            <a:r>
              <a:rPr lang="en-IN" dirty="0" smtClean="0"/>
              <a:t>Repeat step 2 &amp; 3 until heap property satisfies</a:t>
            </a:r>
          </a:p>
          <a:p>
            <a:pPr marL="514350" indent="-514350">
              <a:buNone/>
            </a:pPr>
            <a:endParaRPr lang="en-IN" dirty="0" smtClean="0"/>
          </a:p>
          <a:p>
            <a:pPr>
              <a:buNone/>
            </a:pPr>
            <a:r>
              <a:rPr lang="en-IN" b="1" dirty="0" smtClean="0"/>
              <a:t>DELETION:</a:t>
            </a:r>
          </a:p>
          <a:p>
            <a:pPr marL="514350" indent="-514350">
              <a:buFont typeface="+mj-lt"/>
              <a:buAutoNum type="arabicPeriod"/>
            </a:pPr>
            <a:r>
              <a:rPr lang="en-IN" dirty="0" smtClean="0"/>
              <a:t>Delete the root node</a:t>
            </a:r>
          </a:p>
          <a:p>
            <a:pPr marL="514350" indent="-514350">
              <a:buFont typeface="+mj-lt"/>
              <a:buAutoNum type="arabicPeriod"/>
            </a:pPr>
            <a:r>
              <a:rPr lang="en-IN" dirty="0" smtClean="0"/>
              <a:t>Move the last element of last level to root</a:t>
            </a:r>
          </a:p>
          <a:p>
            <a:pPr marL="514350" indent="-514350">
              <a:buFont typeface="+mj-lt"/>
              <a:buAutoNum type="arabicPeriod"/>
            </a:pPr>
            <a:r>
              <a:rPr lang="en-IN" dirty="0" smtClean="0"/>
              <a:t>Compare the value of child node with its parent </a:t>
            </a:r>
          </a:p>
          <a:p>
            <a:pPr marL="514350" indent="-514350">
              <a:buFont typeface="+mj-lt"/>
              <a:buAutoNum type="arabicPeriod"/>
            </a:pPr>
            <a:r>
              <a:rPr lang="en-IN" dirty="0" smtClean="0"/>
              <a:t>If the value of parent is greater than child, then swap them</a:t>
            </a:r>
          </a:p>
          <a:p>
            <a:pPr marL="514350" indent="-514350">
              <a:buFont typeface="+mj-lt"/>
              <a:buAutoNum type="arabicPeriod"/>
            </a:pPr>
            <a:r>
              <a:rPr lang="en-IN" dirty="0" smtClean="0"/>
              <a:t>Repeat step 3 &amp; 4 until heap property satisfies</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868346"/>
          </a:xfrm>
        </p:spPr>
        <p:txBody>
          <a:bodyPr/>
          <a:lstStyle/>
          <a:p>
            <a:r>
              <a:rPr lang="en-US" dirty="0" smtClean="0"/>
              <a:t>Routine for MIN heap</a:t>
            </a:r>
            <a:endParaRPr lang="en-US" dirty="0"/>
          </a:p>
        </p:txBody>
      </p:sp>
      <p:sp>
        <p:nvSpPr>
          <p:cNvPr id="4" name="Content Placeholder 3"/>
          <p:cNvSpPr>
            <a:spLocks noGrp="1"/>
          </p:cNvSpPr>
          <p:nvPr>
            <p:ph sz="half" idx="1"/>
          </p:nvPr>
        </p:nvSpPr>
        <p:spPr>
          <a:xfrm>
            <a:off x="457200" y="857232"/>
            <a:ext cx="4038600" cy="5268931"/>
          </a:xfrm>
        </p:spPr>
        <p:txBody>
          <a:bodyPr>
            <a:normAutofit fontScale="92500" lnSpcReduction="10000"/>
          </a:bodyPr>
          <a:lstStyle/>
          <a:p>
            <a:pPr>
              <a:buNone/>
            </a:pPr>
            <a:r>
              <a:rPr lang="en-US" dirty="0" smtClean="0"/>
              <a:t>Insert(A, n, value)</a:t>
            </a:r>
          </a:p>
          <a:p>
            <a:pPr>
              <a:buNone/>
            </a:pPr>
            <a:r>
              <a:rPr lang="en-US" dirty="0" smtClean="0"/>
              <a:t>{ n=n+1;</a:t>
            </a:r>
          </a:p>
          <a:p>
            <a:pPr>
              <a:buNone/>
            </a:pPr>
            <a:r>
              <a:rPr lang="en-US" dirty="0" smtClean="0"/>
              <a:t>  A[n]=value;</a:t>
            </a:r>
          </a:p>
          <a:p>
            <a:pPr>
              <a:buNone/>
            </a:pPr>
            <a:r>
              <a:rPr lang="en-US" dirty="0" smtClean="0"/>
              <a:t>  </a:t>
            </a:r>
            <a:r>
              <a:rPr lang="en-US" dirty="0" err="1" smtClean="0"/>
              <a:t>i</a:t>
            </a:r>
            <a:r>
              <a:rPr lang="en-US" dirty="0" smtClean="0"/>
              <a:t>=n;</a:t>
            </a:r>
          </a:p>
          <a:p>
            <a:pPr>
              <a:buNone/>
            </a:pPr>
            <a:r>
              <a:rPr lang="en-US" dirty="0" smtClean="0"/>
              <a:t>While(</a:t>
            </a:r>
            <a:r>
              <a:rPr lang="en-US" dirty="0" err="1" smtClean="0"/>
              <a:t>i</a:t>
            </a:r>
            <a:r>
              <a:rPr lang="en-US" dirty="0" smtClean="0"/>
              <a:t>&gt;1)</a:t>
            </a:r>
          </a:p>
          <a:p>
            <a:pPr>
              <a:buNone/>
            </a:pPr>
            <a:r>
              <a:rPr lang="en-US" dirty="0" smtClean="0"/>
              <a:t>{ parent =floor(</a:t>
            </a:r>
            <a:r>
              <a:rPr lang="en-US" dirty="0" err="1" smtClean="0"/>
              <a:t>i</a:t>
            </a:r>
            <a:r>
              <a:rPr lang="en-US" dirty="0" smtClean="0"/>
              <a:t>/2);</a:t>
            </a:r>
          </a:p>
          <a:p>
            <a:pPr>
              <a:buNone/>
            </a:pPr>
            <a:r>
              <a:rPr lang="en-US" dirty="0" smtClean="0"/>
              <a:t>If(A[parent]&lt;=A[</a:t>
            </a:r>
            <a:r>
              <a:rPr lang="en-US" dirty="0" err="1" smtClean="0"/>
              <a:t>i</a:t>
            </a:r>
            <a:r>
              <a:rPr lang="en-US" dirty="0" smtClean="0"/>
              <a:t>])</a:t>
            </a:r>
          </a:p>
          <a:p>
            <a:pPr>
              <a:buNone/>
            </a:pPr>
            <a:r>
              <a:rPr lang="en-US" dirty="0" smtClean="0"/>
              <a:t>   swap(A[parent],A[</a:t>
            </a:r>
            <a:r>
              <a:rPr lang="en-US" dirty="0" err="1" smtClean="0"/>
              <a:t>i</a:t>
            </a:r>
            <a:r>
              <a:rPr lang="en-US" dirty="0" smtClean="0"/>
              <a:t>]);</a:t>
            </a:r>
          </a:p>
          <a:p>
            <a:pPr>
              <a:buNone/>
            </a:pPr>
            <a:r>
              <a:rPr lang="en-US" dirty="0" smtClean="0"/>
              <a:t>Else</a:t>
            </a:r>
          </a:p>
          <a:p>
            <a:pPr>
              <a:buNone/>
            </a:pPr>
            <a:r>
              <a:rPr lang="en-US" dirty="0" smtClean="0"/>
              <a:t>   return;</a:t>
            </a:r>
          </a:p>
          <a:p>
            <a:pPr>
              <a:buNone/>
            </a:pPr>
            <a:r>
              <a:rPr lang="en-US" dirty="0" smtClean="0"/>
              <a:t>}}</a:t>
            </a:r>
          </a:p>
          <a:p>
            <a:pPr>
              <a:buNone/>
            </a:pPr>
            <a:endParaRPr lang="en-US" dirty="0" smtClean="0"/>
          </a:p>
          <a:p>
            <a:pPr>
              <a:buNone/>
            </a:pPr>
            <a:endParaRPr lang="en-US" dirty="0"/>
          </a:p>
        </p:txBody>
      </p:sp>
      <p:sp>
        <p:nvSpPr>
          <p:cNvPr id="5" name="Content Placeholder 4"/>
          <p:cNvSpPr>
            <a:spLocks noGrp="1"/>
          </p:cNvSpPr>
          <p:nvPr>
            <p:ph sz="half" idx="2"/>
          </p:nvPr>
        </p:nvSpPr>
        <p:spPr>
          <a:xfrm>
            <a:off x="4648200" y="857232"/>
            <a:ext cx="4038600" cy="5268931"/>
          </a:xfrm>
        </p:spPr>
        <p:txBody>
          <a:bodyPr>
            <a:normAutofit fontScale="92500" lnSpcReduction="10000"/>
          </a:bodyPr>
          <a:lstStyle/>
          <a:p>
            <a:pPr>
              <a:buNone/>
            </a:pPr>
            <a:r>
              <a:rPr lang="en-IN" dirty="0" smtClean="0"/>
              <a:t>Delete(A[], value)</a:t>
            </a:r>
          </a:p>
          <a:p>
            <a:pPr>
              <a:buNone/>
            </a:pPr>
            <a:r>
              <a:rPr lang="en-IN" dirty="0" smtClean="0"/>
              <a:t>{Root=A[1];</a:t>
            </a:r>
          </a:p>
          <a:p>
            <a:pPr>
              <a:buNone/>
            </a:pPr>
            <a:r>
              <a:rPr lang="en-IN" dirty="0" smtClean="0"/>
              <a:t>Left= 2i;</a:t>
            </a:r>
          </a:p>
          <a:p>
            <a:pPr>
              <a:buNone/>
            </a:pPr>
            <a:r>
              <a:rPr lang="en-IN" dirty="0" smtClean="0"/>
              <a:t>Right=2i+1;i=n;</a:t>
            </a:r>
          </a:p>
          <a:p>
            <a:pPr>
              <a:buNone/>
            </a:pPr>
            <a:r>
              <a:rPr lang="en-US" dirty="0" smtClean="0"/>
              <a:t>While(</a:t>
            </a:r>
            <a:r>
              <a:rPr lang="en-US" dirty="0" err="1" smtClean="0"/>
              <a:t>i</a:t>
            </a:r>
            <a:r>
              <a:rPr lang="en-US" dirty="0" smtClean="0"/>
              <a:t>&gt;=1)</a:t>
            </a:r>
          </a:p>
          <a:p>
            <a:pPr>
              <a:buNone/>
            </a:pPr>
            <a:r>
              <a:rPr lang="en-IN" dirty="0" smtClean="0"/>
              <a:t>{ Root=NULL</a:t>
            </a:r>
          </a:p>
          <a:p>
            <a:pPr>
              <a:buNone/>
            </a:pPr>
            <a:r>
              <a:rPr lang="en-IN" dirty="0" smtClean="0"/>
              <a:t>Swap(A[n-1],root)</a:t>
            </a:r>
          </a:p>
          <a:p>
            <a:pPr>
              <a:buNone/>
            </a:pPr>
            <a:r>
              <a:rPr lang="en-US" dirty="0" smtClean="0"/>
              <a:t>If(A[parent</a:t>
            </a:r>
            <a:r>
              <a:rPr lang="en-US" dirty="0" smtClean="0"/>
              <a:t>]&lt;=</a:t>
            </a:r>
            <a:r>
              <a:rPr lang="en-US" dirty="0" smtClean="0"/>
              <a:t>A[</a:t>
            </a:r>
            <a:r>
              <a:rPr lang="en-US" dirty="0" err="1" smtClean="0"/>
              <a:t>i</a:t>
            </a:r>
            <a:r>
              <a:rPr lang="en-US" dirty="0" smtClean="0"/>
              <a:t>])</a:t>
            </a:r>
          </a:p>
          <a:p>
            <a:pPr>
              <a:buNone/>
            </a:pPr>
            <a:r>
              <a:rPr lang="en-US" dirty="0" smtClean="0"/>
              <a:t>   swap(A[parent],A[</a:t>
            </a:r>
            <a:r>
              <a:rPr lang="en-US" dirty="0" err="1" smtClean="0"/>
              <a:t>i</a:t>
            </a:r>
            <a:r>
              <a:rPr lang="en-US" dirty="0" smtClean="0"/>
              <a:t>]);</a:t>
            </a:r>
          </a:p>
          <a:p>
            <a:pPr>
              <a:buNone/>
            </a:pPr>
            <a:r>
              <a:rPr lang="en-IN" dirty="0" smtClean="0"/>
              <a:t>Else</a:t>
            </a:r>
          </a:p>
          <a:p>
            <a:pPr>
              <a:buNone/>
            </a:pPr>
            <a:r>
              <a:rPr lang="en-IN" dirty="0" smtClean="0"/>
              <a:t> return</a:t>
            </a:r>
          </a:p>
          <a:p>
            <a:pPr>
              <a:buNone/>
            </a:pPr>
            <a:r>
              <a:rPr lang="en-IN" dirty="0" smtClean="0"/>
              <a:t>}}</a:t>
            </a:r>
          </a:p>
          <a:p>
            <a:pPr>
              <a:buNone/>
            </a:pP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Algorithm for Max heap</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IN" b="1" dirty="0" smtClean="0"/>
              <a:t>INSERTION:</a:t>
            </a:r>
          </a:p>
          <a:p>
            <a:pPr marL="514350" indent="-514350">
              <a:buFont typeface="+mj-lt"/>
              <a:buAutoNum type="arabicPeriod"/>
            </a:pPr>
            <a:r>
              <a:rPr lang="en-IN" dirty="0" smtClean="0"/>
              <a:t>Insert an element in a heap tree</a:t>
            </a:r>
          </a:p>
          <a:p>
            <a:pPr marL="514350" indent="-514350">
              <a:buFont typeface="+mj-lt"/>
              <a:buAutoNum type="arabicPeriod"/>
            </a:pPr>
            <a:r>
              <a:rPr lang="en-IN" dirty="0" smtClean="0"/>
              <a:t>Compare the value of child node with its parent </a:t>
            </a:r>
          </a:p>
          <a:p>
            <a:pPr marL="514350" indent="-514350">
              <a:buFont typeface="+mj-lt"/>
              <a:buAutoNum type="arabicPeriod"/>
            </a:pPr>
            <a:r>
              <a:rPr lang="en-IN" dirty="0" smtClean="0"/>
              <a:t>If the value of parent is Lesser than child, then swap them</a:t>
            </a:r>
          </a:p>
          <a:p>
            <a:pPr marL="514350" indent="-514350">
              <a:buFont typeface="+mj-lt"/>
              <a:buAutoNum type="arabicPeriod"/>
            </a:pPr>
            <a:r>
              <a:rPr lang="en-IN" dirty="0" smtClean="0"/>
              <a:t>Repeat step 2 &amp; 3 until heap property satisfies</a:t>
            </a:r>
          </a:p>
          <a:p>
            <a:pPr marL="514350" indent="-514350">
              <a:buNone/>
            </a:pPr>
            <a:endParaRPr lang="en-IN" dirty="0" smtClean="0"/>
          </a:p>
          <a:p>
            <a:pPr>
              <a:buNone/>
            </a:pPr>
            <a:r>
              <a:rPr lang="en-IN" b="1" dirty="0" smtClean="0"/>
              <a:t>DELETION:</a:t>
            </a:r>
          </a:p>
          <a:p>
            <a:pPr marL="514350" indent="-514350">
              <a:buFont typeface="+mj-lt"/>
              <a:buAutoNum type="arabicPeriod"/>
            </a:pPr>
            <a:r>
              <a:rPr lang="en-IN" dirty="0" smtClean="0"/>
              <a:t>Delete the root node</a:t>
            </a:r>
          </a:p>
          <a:p>
            <a:pPr marL="514350" indent="-514350">
              <a:buFont typeface="+mj-lt"/>
              <a:buAutoNum type="arabicPeriod"/>
            </a:pPr>
            <a:r>
              <a:rPr lang="en-IN" dirty="0" smtClean="0"/>
              <a:t>Move the last element of last level to root</a:t>
            </a:r>
          </a:p>
          <a:p>
            <a:pPr marL="514350" indent="-514350">
              <a:buFont typeface="+mj-lt"/>
              <a:buAutoNum type="arabicPeriod"/>
            </a:pPr>
            <a:r>
              <a:rPr lang="en-IN" dirty="0" smtClean="0"/>
              <a:t>Compare the value of child node with its parent </a:t>
            </a:r>
          </a:p>
          <a:p>
            <a:pPr marL="514350" indent="-514350">
              <a:buFont typeface="+mj-lt"/>
              <a:buAutoNum type="arabicPeriod"/>
            </a:pPr>
            <a:r>
              <a:rPr lang="en-IN" dirty="0" smtClean="0"/>
              <a:t>If the value of parent is lesser than child, then swap them</a:t>
            </a:r>
          </a:p>
          <a:p>
            <a:pPr marL="514350" indent="-514350">
              <a:buFont typeface="+mj-lt"/>
              <a:buAutoNum type="arabicPeriod"/>
            </a:pPr>
            <a:r>
              <a:rPr lang="en-IN" dirty="0" smtClean="0"/>
              <a:t>Repeat step 3 &amp; 4 until heap property satisfies</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868346"/>
          </a:xfrm>
        </p:spPr>
        <p:txBody>
          <a:bodyPr/>
          <a:lstStyle/>
          <a:p>
            <a:r>
              <a:rPr lang="en-US" dirty="0" smtClean="0"/>
              <a:t>Routine for MAX heap</a:t>
            </a:r>
            <a:endParaRPr lang="en-US" dirty="0"/>
          </a:p>
        </p:txBody>
      </p:sp>
      <p:sp>
        <p:nvSpPr>
          <p:cNvPr id="4" name="Content Placeholder 3"/>
          <p:cNvSpPr>
            <a:spLocks noGrp="1"/>
          </p:cNvSpPr>
          <p:nvPr>
            <p:ph sz="half" idx="1"/>
          </p:nvPr>
        </p:nvSpPr>
        <p:spPr>
          <a:xfrm>
            <a:off x="457200" y="857232"/>
            <a:ext cx="4038600" cy="5268931"/>
          </a:xfrm>
        </p:spPr>
        <p:txBody>
          <a:bodyPr>
            <a:normAutofit fontScale="92500" lnSpcReduction="10000"/>
          </a:bodyPr>
          <a:lstStyle/>
          <a:p>
            <a:pPr>
              <a:buNone/>
            </a:pPr>
            <a:r>
              <a:rPr lang="en-US" dirty="0" smtClean="0"/>
              <a:t>Insert(A, n, value)</a:t>
            </a:r>
          </a:p>
          <a:p>
            <a:pPr>
              <a:buNone/>
            </a:pPr>
            <a:r>
              <a:rPr lang="en-US" dirty="0" smtClean="0"/>
              <a:t>{ n=n+1;</a:t>
            </a:r>
          </a:p>
          <a:p>
            <a:pPr>
              <a:buNone/>
            </a:pPr>
            <a:r>
              <a:rPr lang="en-US" dirty="0" smtClean="0"/>
              <a:t>  A[n]=value;</a:t>
            </a:r>
          </a:p>
          <a:p>
            <a:pPr>
              <a:buNone/>
            </a:pPr>
            <a:r>
              <a:rPr lang="en-US" dirty="0" smtClean="0"/>
              <a:t>  </a:t>
            </a:r>
            <a:r>
              <a:rPr lang="en-US" dirty="0" err="1" smtClean="0"/>
              <a:t>i</a:t>
            </a:r>
            <a:r>
              <a:rPr lang="en-US" dirty="0" smtClean="0"/>
              <a:t>=n;</a:t>
            </a:r>
          </a:p>
          <a:p>
            <a:pPr>
              <a:buNone/>
            </a:pPr>
            <a:r>
              <a:rPr lang="en-US" dirty="0" smtClean="0"/>
              <a:t>While(</a:t>
            </a:r>
            <a:r>
              <a:rPr lang="en-US" dirty="0" err="1" smtClean="0"/>
              <a:t>i</a:t>
            </a:r>
            <a:r>
              <a:rPr lang="en-US" dirty="0" smtClean="0"/>
              <a:t>&gt;1)</a:t>
            </a:r>
          </a:p>
          <a:p>
            <a:pPr>
              <a:buNone/>
            </a:pPr>
            <a:r>
              <a:rPr lang="en-US" dirty="0" smtClean="0"/>
              <a:t>{ parent =floor(</a:t>
            </a:r>
            <a:r>
              <a:rPr lang="en-US" dirty="0" err="1" smtClean="0"/>
              <a:t>i</a:t>
            </a:r>
            <a:r>
              <a:rPr lang="en-US" dirty="0" smtClean="0"/>
              <a:t>/2);</a:t>
            </a:r>
          </a:p>
          <a:p>
            <a:pPr>
              <a:buNone/>
            </a:pPr>
            <a:r>
              <a:rPr lang="en-US" dirty="0" smtClean="0"/>
              <a:t>If(A[parent]&gt;=A[</a:t>
            </a:r>
            <a:r>
              <a:rPr lang="en-US" dirty="0" err="1" smtClean="0"/>
              <a:t>i</a:t>
            </a:r>
            <a:r>
              <a:rPr lang="en-US" dirty="0" smtClean="0"/>
              <a:t>])</a:t>
            </a:r>
          </a:p>
          <a:p>
            <a:pPr>
              <a:buNone/>
            </a:pPr>
            <a:r>
              <a:rPr lang="en-US" dirty="0" smtClean="0"/>
              <a:t>   swap(A[parent],A[</a:t>
            </a:r>
            <a:r>
              <a:rPr lang="en-US" dirty="0" err="1" smtClean="0"/>
              <a:t>i</a:t>
            </a:r>
            <a:r>
              <a:rPr lang="en-US" dirty="0" smtClean="0"/>
              <a:t>]);</a:t>
            </a:r>
          </a:p>
          <a:p>
            <a:pPr>
              <a:buNone/>
            </a:pPr>
            <a:r>
              <a:rPr lang="en-US" dirty="0" smtClean="0"/>
              <a:t>Else</a:t>
            </a:r>
          </a:p>
          <a:p>
            <a:pPr>
              <a:buNone/>
            </a:pPr>
            <a:r>
              <a:rPr lang="en-US" dirty="0" smtClean="0"/>
              <a:t>   return;</a:t>
            </a:r>
          </a:p>
          <a:p>
            <a:pPr>
              <a:buNone/>
            </a:pPr>
            <a:r>
              <a:rPr lang="en-US" dirty="0" smtClean="0"/>
              <a:t>}}</a:t>
            </a:r>
          </a:p>
          <a:p>
            <a:pPr>
              <a:buNone/>
            </a:pPr>
            <a:endParaRPr lang="en-US" dirty="0" smtClean="0"/>
          </a:p>
          <a:p>
            <a:pPr>
              <a:buNone/>
            </a:pPr>
            <a:endParaRPr lang="en-US" dirty="0"/>
          </a:p>
        </p:txBody>
      </p:sp>
      <p:sp>
        <p:nvSpPr>
          <p:cNvPr id="5" name="Content Placeholder 4"/>
          <p:cNvSpPr>
            <a:spLocks noGrp="1"/>
          </p:cNvSpPr>
          <p:nvPr>
            <p:ph sz="half" idx="2"/>
          </p:nvPr>
        </p:nvSpPr>
        <p:spPr>
          <a:xfrm>
            <a:off x="4648200" y="857232"/>
            <a:ext cx="4038600" cy="5268931"/>
          </a:xfrm>
        </p:spPr>
        <p:txBody>
          <a:bodyPr>
            <a:normAutofit fontScale="92500" lnSpcReduction="10000"/>
          </a:bodyPr>
          <a:lstStyle/>
          <a:p>
            <a:pPr>
              <a:buNone/>
            </a:pPr>
            <a:r>
              <a:rPr lang="en-IN" dirty="0" smtClean="0"/>
              <a:t>Delete(A[], value)</a:t>
            </a:r>
          </a:p>
          <a:p>
            <a:pPr>
              <a:buNone/>
            </a:pPr>
            <a:r>
              <a:rPr lang="en-IN" dirty="0" smtClean="0"/>
              <a:t>{Root=A[1];</a:t>
            </a:r>
          </a:p>
          <a:p>
            <a:pPr>
              <a:buNone/>
            </a:pPr>
            <a:r>
              <a:rPr lang="en-IN" dirty="0" smtClean="0"/>
              <a:t>Left= 2i;</a:t>
            </a:r>
          </a:p>
          <a:p>
            <a:pPr>
              <a:buNone/>
            </a:pPr>
            <a:r>
              <a:rPr lang="en-IN" dirty="0" smtClean="0"/>
              <a:t>Right=2i+1;i=n;</a:t>
            </a:r>
          </a:p>
          <a:p>
            <a:pPr>
              <a:buNone/>
            </a:pPr>
            <a:r>
              <a:rPr lang="en-US" dirty="0" smtClean="0"/>
              <a:t>While(</a:t>
            </a:r>
            <a:r>
              <a:rPr lang="en-US" dirty="0" err="1" smtClean="0"/>
              <a:t>i</a:t>
            </a:r>
            <a:r>
              <a:rPr lang="en-US" dirty="0" smtClean="0"/>
              <a:t>&gt;=1</a:t>
            </a:r>
            <a:r>
              <a:rPr lang="en-US" dirty="0" smtClean="0"/>
              <a:t>)</a:t>
            </a:r>
          </a:p>
          <a:p>
            <a:pPr>
              <a:buNone/>
            </a:pPr>
            <a:r>
              <a:rPr lang="en-IN" dirty="0" smtClean="0"/>
              <a:t>{ Root=NULL</a:t>
            </a:r>
          </a:p>
          <a:p>
            <a:pPr>
              <a:buNone/>
            </a:pPr>
            <a:r>
              <a:rPr lang="en-IN" dirty="0" smtClean="0"/>
              <a:t>Swap(A[n-1],root)</a:t>
            </a:r>
          </a:p>
          <a:p>
            <a:pPr>
              <a:buNone/>
            </a:pPr>
            <a:r>
              <a:rPr lang="en-US" dirty="0" smtClean="0"/>
              <a:t>If(A[parent]&gt;=A[</a:t>
            </a:r>
            <a:r>
              <a:rPr lang="en-US" dirty="0" err="1" smtClean="0"/>
              <a:t>i</a:t>
            </a:r>
            <a:r>
              <a:rPr lang="en-US" dirty="0" smtClean="0"/>
              <a:t>])</a:t>
            </a:r>
          </a:p>
          <a:p>
            <a:pPr>
              <a:buNone/>
            </a:pPr>
            <a:r>
              <a:rPr lang="en-US" dirty="0" smtClean="0"/>
              <a:t>   swap(A[parent],A[</a:t>
            </a:r>
            <a:r>
              <a:rPr lang="en-US" dirty="0" err="1" smtClean="0"/>
              <a:t>i</a:t>
            </a:r>
            <a:r>
              <a:rPr lang="en-US" dirty="0" smtClean="0"/>
              <a:t>]);</a:t>
            </a:r>
          </a:p>
          <a:p>
            <a:pPr>
              <a:buNone/>
            </a:pPr>
            <a:r>
              <a:rPr lang="en-IN" dirty="0" smtClean="0"/>
              <a:t>Else</a:t>
            </a:r>
          </a:p>
          <a:p>
            <a:pPr>
              <a:buNone/>
            </a:pPr>
            <a:r>
              <a:rPr lang="en-IN" dirty="0" smtClean="0"/>
              <a:t> return</a:t>
            </a:r>
          </a:p>
          <a:p>
            <a:pPr>
              <a:buNone/>
            </a:pPr>
            <a:r>
              <a:rPr lang="en-IN" dirty="0" smtClean="0"/>
              <a:t>}}</a:t>
            </a:r>
          </a:p>
          <a:p>
            <a:pPr>
              <a:buNone/>
            </a:pPr>
            <a:endParaRPr lang="en-IN" dirty="0" smtClean="0"/>
          </a:p>
          <a:p>
            <a:pPr>
              <a:buNone/>
            </a:pPr>
            <a:endParaRPr lang="en-IN" dirty="0" smtClean="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smtClean="0"/>
              <a:t>Applications of Heaps</a:t>
            </a:r>
            <a:endParaRPr lang="en-US" dirty="0"/>
          </a:p>
        </p:txBody>
      </p:sp>
      <p:sp>
        <p:nvSpPr>
          <p:cNvPr id="3" name="Content Placeholder 2"/>
          <p:cNvSpPr>
            <a:spLocks noGrp="1"/>
          </p:cNvSpPr>
          <p:nvPr>
            <p:ph idx="1"/>
          </p:nvPr>
        </p:nvSpPr>
        <p:spPr>
          <a:xfrm>
            <a:off x="457200" y="928670"/>
            <a:ext cx="8229600" cy="5572164"/>
          </a:xfrm>
        </p:spPr>
        <p:txBody>
          <a:bodyPr>
            <a:noAutofit/>
          </a:bodyPr>
          <a:lstStyle/>
          <a:p>
            <a:pPr fontAlgn="base"/>
            <a:r>
              <a:rPr lang="en-US" sz="2000" b="1" dirty="0" smtClean="0"/>
              <a:t>priority Queues</a:t>
            </a:r>
            <a:r>
              <a:rPr lang="en-US" sz="2000" dirty="0" smtClean="0"/>
              <a:t>: Heaps are commonly used to implement priority queues, where elements with higher priority are extracted first. This is useful in many applications such as scheduling tasks, handling interruptions, and processing events.</a:t>
            </a:r>
          </a:p>
          <a:p>
            <a:pPr fontAlgn="base"/>
            <a:r>
              <a:rPr lang="en-US" sz="2000" b="1" dirty="0" smtClean="0"/>
              <a:t>Sorting Algorithms</a:t>
            </a:r>
            <a:r>
              <a:rPr lang="en-US" sz="2000" dirty="0" smtClean="0"/>
              <a:t>: </a:t>
            </a:r>
            <a:r>
              <a:rPr lang="en-US" sz="2000" dirty="0" err="1" smtClean="0"/>
              <a:t>Heapsort</a:t>
            </a:r>
            <a:r>
              <a:rPr lang="en-US" sz="2000" dirty="0" smtClean="0"/>
              <a:t>, a comparison-based sorting algorithm, is implemented using the Heap data structure. It has a time complexity of O(n log n), making it efficient for large datasets.</a:t>
            </a:r>
          </a:p>
          <a:p>
            <a:pPr fontAlgn="base"/>
            <a:r>
              <a:rPr lang="en-US" sz="2000" b="1" dirty="0" smtClean="0"/>
              <a:t>Graph algorithms</a:t>
            </a:r>
            <a:r>
              <a:rPr lang="en-US" sz="2000" dirty="0" smtClean="0"/>
              <a:t>: Heaps are used in graph algorithms such as </a:t>
            </a:r>
            <a:r>
              <a:rPr lang="en-US" sz="2000" u="sng" dirty="0" smtClean="0">
                <a:hlinkClick r:id="rId2"/>
              </a:rPr>
              <a:t>Prim's Algorithm</a:t>
            </a:r>
            <a:r>
              <a:rPr lang="en-US" sz="2000" dirty="0" smtClean="0"/>
              <a:t>, </a:t>
            </a:r>
            <a:r>
              <a:rPr lang="en-US" sz="2000" u="sng" dirty="0" err="1" smtClean="0">
                <a:hlinkClick r:id="rId3"/>
              </a:rPr>
              <a:t>Dijkstra's</a:t>
            </a:r>
            <a:r>
              <a:rPr lang="en-US" sz="2000" u="sng" dirty="0" smtClean="0">
                <a:hlinkClick r:id="rId3"/>
              </a:rPr>
              <a:t> algorithm</a:t>
            </a:r>
            <a:r>
              <a:rPr lang="en-US" sz="2000" dirty="0" smtClean="0"/>
              <a:t>., and the </a:t>
            </a:r>
            <a:r>
              <a:rPr lang="en-US" sz="2000" u="sng" dirty="0" smtClean="0">
                <a:hlinkClick r:id="rId4"/>
              </a:rPr>
              <a:t>A* search algorithm.</a:t>
            </a:r>
            <a:endParaRPr lang="en-US" sz="2000" dirty="0" smtClean="0"/>
          </a:p>
          <a:p>
            <a:pPr fontAlgn="base"/>
            <a:r>
              <a:rPr lang="en-US" sz="2000" b="1" dirty="0" smtClean="0"/>
              <a:t>Lossless Compression</a:t>
            </a:r>
            <a:r>
              <a:rPr lang="en-US" sz="2000" dirty="0" smtClean="0"/>
              <a:t>: Heaps are used in data compression algorithms such as Huffman coding, which uses a priority queue implemented as a min-heap to build a Huffman tree.</a:t>
            </a:r>
          </a:p>
          <a:p>
            <a:pPr fontAlgn="base"/>
            <a:r>
              <a:rPr lang="en-US" sz="2000" b="1" dirty="0" smtClean="0"/>
              <a:t>Medical Applications</a:t>
            </a:r>
            <a:r>
              <a:rPr lang="en-US" sz="2000" dirty="0" smtClean="0"/>
              <a:t>: In medical applications, heaps are used to store and manage patient information based on priority, such as vital signs, treatments, and test results.</a:t>
            </a:r>
          </a:p>
          <a:p>
            <a:pPr>
              <a:buNone/>
            </a:pP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IN" dirty="0" smtClean="0"/>
              <a:t>Applications of Heaps</a:t>
            </a:r>
            <a:endParaRPr lang="en-US" dirty="0"/>
          </a:p>
        </p:txBody>
      </p:sp>
      <p:sp>
        <p:nvSpPr>
          <p:cNvPr id="3" name="Content Placeholder 2"/>
          <p:cNvSpPr>
            <a:spLocks noGrp="1"/>
          </p:cNvSpPr>
          <p:nvPr>
            <p:ph idx="1"/>
          </p:nvPr>
        </p:nvSpPr>
        <p:spPr>
          <a:xfrm>
            <a:off x="457200" y="1285860"/>
            <a:ext cx="8229600" cy="4840303"/>
          </a:xfrm>
        </p:spPr>
        <p:txBody>
          <a:bodyPr>
            <a:normAutofit fontScale="70000" lnSpcReduction="20000"/>
          </a:bodyPr>
          <a:lstStyle/>
          <a:p>
            <a:pPr fontAlgn="base"/>
            <a:r>
              <a:rPr lang="en-US" b="1" dirty="0" smtClean="0"/>
              <a:t>Load balancing</a:t>
            </a:r>
            <a:r>
              <a:rPr lang="en-US" dirty="0" smtClean="0"/>
              <a:t>: Heaps are used in load balancing algorithms to distribute tasks or requests to servers, by processing elements with the lowest load first.</a:t>
            </a:r>
          </a:p>
          <a:p>
            <a:pPr fontAlgn="base"/>
            <a:r>
              <a:rPr lang="en-US" b="1" i="1" dirty="0" smtClean="0"/>
              <a:t>Order statistics</a:t>
            </a:r>
            <a:r>
              <a:rPr lang="en-US" i="1" dirty="0" smtClean="0"/>
              <a:t>:</a:t>
            </a:r>
            <a:r>
              <a:rPr lang="en-US" dirty="0" smtClean="0"/>
              <a:t> The Heap data structure can be used to efficiently find the </a:t>
            </a:r>
            <a:r>
              <a:rPr lang="en-US" dirty="0" err="1" smtClean="0"/>
              <a:t>kth</a:t>
            </a:r>
            <a:r>
              <a:rPr lang="en-US" dirty="0" smtClean="0"/>
              <a:t> smallest (or largest) element in an array. See method 4 and 6 of </a:t>
            </a:r>
            <a:r>
              <a:rPr lang="en-US" u="sng" dirty="0" smtClean="0">
                <a:hlinkClick r:id="rId2"/>
              </a:rPr>
              <a:t>this</a:t>
            </a:r>
            <a:r>
              <a:rPr lang="en-US" dirty="0" smtClean="0"/>
              <a:t> post for details. </a:t>
            </a:r>
          </a:p>
          <a:p>
            <a:pPr fontAlgn="base"/>
            <a:r>
              <a:rPr lang="en-US" b="1" dirty="0" smtClean="0"/>
              <a:t>Resource allocation: </a:t>
            </a:r>
            <a:r>
              <a:rPr lang="en-US" dirty="0" smtClean="0"/>
              <a:t>Heaps can be used to efficiently allocate resources in a system, such as memory blocks or CPU time, by assigning a priority to each resource and processing requests in order of priority.</a:t>
            </a:r>
          </a:p>
          <a:p>
            <a:pPr fontAlgn="base"/>
            <a:r>
              <a:rPr lang="en-US" b="1" dirty="0" smtClean="0"/>
              <a:t>Job scheduling</a:t>
            </a:r>
            <a:r>
              <a:rPr lang="en-US" dirty="0" smtClean="0"/>
              <a:t>: The heap data structure is used in job scheduling algorithms, where tasks are scheduled based on their priority or deadline. The heap data structure allows efficient access to the highest-priority task, making it a useful data structure for job scheduling applications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3958</Words>
  <Application>Microsoft Office PowerPoint</Application>
  <PresentationFormat>On-screen Show (4:3)</PresentationFormat>
  <Paragraphs>743</Paragraphs>
  <Slides>81</Slides>
  <Notes>3</Notes>
  <HiddenSlides>0</HiddenSlides>
  <MMClips>0</MMClip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Office Theme</vt:lpstr>
      <vt:lpstr>UNIT 3 – TREE DATA STRUCTURES</vt:lpstr>
      <vt:lpstr>INTRODUCTION</vt:lpstr>
      <vt:lpstr>Tree ADT</vt:lpstr>
      <vt:lpstr>Tree Terminologies </vt:lpstr>
      <vt:lpstr>Slide 5</vt:lpstr>
      <vt:lpstr>Slide 6</vt:lpstr>
      <vt:lpstr>Slide 7</vt:lpstr>
      <vt:lpstr>Slide 8</vt:lpstr>
      <vt:lpstr>Slide 9</vt:lpstr>
      <vt:lpstr>Slide 10</vt:lpstr>
      <vt:lpstr>Types of tree</vt:lpstr>
      <vt:lpstr>Types of tree</vt:lpstr>
      <vt:lpstr>Types of tree</vt:lpstr>
      <vt:lpstr>Types of tree</vt:lpstr>
      <vt:lpstr>Binary tree</vt:lpstr>
      <vt:lpstr>Types of Binary tree</vt:lpstr>
      <vt:lpstr>Slide 17</vt:lpstr>
      <vt:lpstr>Slide 18</vt:lpstr>
      <vt:lpstr>Properties of Binary Trees </vt:lpstr>
      <vt:lpstr>Properties of Binary Trees </vt:lpstr>
      <vt:lpstr>Properties of Binary Trees </vt:lpstr>
      <vt:lpstr>Binary Tree Properties- </vt:lpstr>
      <vt:lpstr>Slide 23</vt:lpstr>
      <vt:lpstr>Tree Traversal</vt:lpstr>
      <vt:lpstr>Slide 25</vt:lpstr>
      <vt:lpstr>Slide 26</vt:lpstr>
      <vt:lpstr>Slide 27</vt:lpstr>
      <vt:lpstr>Slide 28</vt:lpstr>
      <vt:lpstr>Slide 29</vt:lpstr>
      <vt:lpstr>Binary search tree</vt:lpstr>
      <vt:lpstr>Binary Search Tree</vt:lpstr>
      <vt:lpstr>BST Node Structure in C </vt:lpstr>
      <vt:lpstr>Basic Operations </vt:lpstr>
      <vt:lpstr>Example</vt:lpstr>
      <vt:lpstr>Slide 35</vt:lpstr>
      <vt:lpstr>Slide 36</vt:lpstr>
      <vt:lpstr>INSERTION ON BST</vt:lpstr>
      <vt:lpstr>Searching in Binary search tree </vt:lpstr>
      <vt:lpstr>SEARCH IN BST</vt:lpstr>
      <vt:lpstr>Deletion in Binary Search tree </vt:lpstr>
      <vt:lpstr>Slide 41</vt:lpstr>
      <vt:lpstr>Slide 42</vt:lpstr>
      <vt:lpstr>Slide 43</vt:lpstr>
      <vt:lpstr>Slide 44</vt:lpstr>
      <vt:lpstr>AVL tree</vt:lpstr>
      <vt:lpstr>Operations on AVL tree</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In Class Exercises</vt:lpstr>
      <vt:lpstr>Slide 67</vt:lpstr>
      <vt:lpstr>Slide 68</vt:lpstr>
      <vt:lpstr>Slide 69</vt:lpstr>
      <vt:lpstr>Slide 70</vt:lpstr>
      <vt:lpstr>Algorithm for insertion in AVL Tree</vt:lpstr>
      <vt:lpstr>Algorithm for Deletion in AVL Tree</vt:lpstr>
      <vt:lpstr>HEAPS</vt:lpstr>
      <vt:lpstr>Properties of Heap </vt:lpstr>
      <vt:lpstr>HEAPS</vt:lpstr>
      <vt:lpstr>Algorithm for Min heap</vt:lpstr>
      <vt:lpstr>Routine for MIN heap</vt:lpstr>
      <vt:lpstr>Algorithm for Max heap</vt:lpstr>
      <vt:lpstr>Routine for MAX heap</vt:lpstr>
      <vt:lpstr>Applications of Heaps</vt:lpstr>
      <vt:lpstr>Applications of Heaps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Aishwarya Chandrasekaran</dc:creator>
  <cp:lastModifiedBy>Aishwarya Chandrasekaran</cp:lastModifiedBy>
  <cp:revision>15</cp:revision>
  <dcterms:created xsi:type="dcterms:W3CDTF">2025-08-25T05:09:19Z</dcterms:created>
  <dcterms:modified xsi:type="dcterms:W3CDTF">2025-09-16T03:45:54Z</dcterms:modified>
</cp:coreProperties>
</file>