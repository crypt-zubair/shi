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80" r:id="rId8"/>
    <p:sldId id="281" r:id="rId9"/>
    <p:sldId id="282" r:id="rId10"/>
    <p:sldId id="283" r:id="rId11"/>
    <p:sldId id="284"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9" r:id="rId31"/>
    <p:sldId id="285" r:id="rId32"/>
    <p:sldId id="286" r:id="rId33"/>
    <p:sldId id="287" r:id="rId34"/>
    <p:sldId id="288" r:id="rId35"/>
    <p:sldId id="290" r:id="rId36"/>
    <p:sldId id="291" r:id="rId37"/>
    <p:sldId id="292" r:id="rId38"/>
    <p:sldId id="293" r:id="rId39"/>
    <p:sldId id="294" r:id="rId40"/>
    <p:sldId id="295" r:id="rId41"/>
    <p:sldId id="296" r:id="rId42"/>
    <p:sldId id="297"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5" d="100"/>
          <a:sy n="75" d="100"/>
        </p:scale>
        <p:origin x="-1016" y="-5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688C54-2733-4E9D-AA2B-83DB3F5884B3}" type="datetimeFigureOut">
              <a:rPr lang="en-US" smtClean="0"/>
              <a:pPr/>
              <a:t>9/19/2025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907536-699A-40CF-8751-D236AD0A122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p:cNvSpPr>
          <p:nvPr>
            <p:ph type="sldImg"/>
          </p:nvPr>
        </p:nvSpPr>
        <p:spPr>
          <a:ln/>
        </p:spPr>
      </p:sp>
      <p:sp>
        <p:nvSpPr>
          <p:cNvPr id="66562" name="Notes Placeholder 2"/>
          <p:cNvSpPr>
            <a:spLocks noGrp="1"/>
          </p:cNvSpPr>
          <p:nvPr>
            <p:ph type="body" idx="1"/>
          </p:nvPr>
        </p:nvSpPr>
        <p:spPr/>
        <p:txBody>
          <a:bodyPr/>
          <a:lstStyle/>
          <a:p>
            <a:pPr eaLnBrk="1" hangingPunct="1"/>
            <a:endParaRPr lang="en-US" smtClean="0">
              <a:latin typeface="Arial" charset="0"/>
            </a:endParaRPr>
          </a:p>
        </p:txBody>
      </p:sp>
      <p:sp>
        <p:nvSpPr>
          <p:cNvPr id="66563" name="Slide Number Placeholder 3"/>
          <p:cNvSpPr>
            <a:spLocks noGrp="1"/>
          </p:cNvSpPr>
          <p:nvPr>
            <p:ph type="sldNum" sz="quarter" idx="5"/>
          </p:nvPr>
        </p:nvSpPr>
        <p:spPr>
          <a:noFill/>
        </p:spPr>
        <p:txBody>
          <a:bodyPr/>
          <a:lstStyle/>
          <a:p>
            <a:fld id="{DE9EA7E0-5880-4A0F-974F-4E4DD4409A30}" type="slidenum">
              <a:rPr lang="en-US"/>
              <a:pPr/>
              <a:t>12</a:t>
            </a:fld>
            <a:endParaRPr lang="en-US"/>
          </a:p>
        </p:txBody>
      </p:sp>
    </p:spTree>
    <p:extLst>
      <p:ext uri="{BB962C8B-B14F-4D97-AF65-F5344CB8AC3E}">
        <p14:creationId xmlns="" xmlns:p14="http://schemas.microsoft.com/office/powerpoint/2010/main" val="2527377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D39209-C7B2-4FD3-8C08-07474450B86A}"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D39209-C7B2-4FD3-8C08-07474450B86A}"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D39209-C7B2-4FD3-8C08-07474450B86A}"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D39209-C7B2-4FD3-8C08-07474450B86A}"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D39209-C7B2-4FD3-8C08-07474450B86A}" type="datetimeFigureOut">
              <a:rPr lang="en-US" smtClean="0"/>
              <a:pPr/>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D39209-C7B2-4FD3-8C08-07474450B86A}" type="datetimeFigureOut">
              <a:rPr lang="en-US" smtClean="0"/>
              <a:pPr/>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D39209-C7B2-4FD3-8C08-07474450B86A}" type="datetimeFigureOut">
              <a:rPr lang="en-US" smtClean="0"/>
              <a:pPr/>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D39209-C7B2-4FD3-8C08-07474450B86A}"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D39209-C7B2-4FD3-8C08-07474450B86A}"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D39209-C7B2-4FD3-8C08-07474450B86A}"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D39209-C7B2-4FD3-8C08-07474450B86A}"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3EE1D-3CCD-4691-AE76-8FAE310C57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D39209-C7B2-4FD3-8C08-07474450B86A}" type="datetimeFigureOut">
              <a:rPr lang="en-US" smtClean="0"/>
              <a:pPr/>
              <a:t>9/19/2025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F3EE1D-3CCD-4691-AE76-8FAE310C57A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714356"/>
            <a:ext cx="7772400" cy="1470025"/>
          </a:xfrm>
        </p:spPr>
        <p:txBody>
          <a:bodyPr>
            <a:normAutofit/>
          </a:bodyPr>
          <a:lstStyle/>
          <a:p>
            <a:r>
              <a:rPr lang="en-IN" sz="4000" dirty="0" smtClean="0"/>
              <a:t>UNIT 4 – GRAPH DATA STRUCTURES</a:t>
            </a:r>
            <a:endParaRPr lang="en-US" sz="4000" dirty="0"/>
          </a:p>
        </p:txBody>
      </p:sp>
      <p:sp>
        <p:nvSpPr>
          <p:cNvPr id="3" name="Subtitle 2"/>
          <p:cNvSpPr>
            <a:spLocks noGrp="1"/>
          </p:cNvSpPr>
          <p:nvPr>
            <p:ph type="subTitle" idx="1"/>
          </p:nvPr>
        </p:nvSpPr>
        <p:spPr>
          <a:xfrm>
            <a:off x="500034" y="1857364"/>
            <a:ext cx="8286808" cy="3781436"/>
          </a:xfrm>
        </p:spPr>
        <p:txBody>
          <a:bodyPr>
            <a:normAutofit/>
          </a:bodyPr>
          <a:lstStyle/>
          <a:p>
            <a:pPr algn="just"/>
            <a:r>
              <a:rPr lang="en-US" dirty="0"/>
              <a:t>Graph Terminology – Directed Graphs – Representation of Graphs – Graph Traversal Algorithms – Breadth First Search Algorithm – Depth First Search Algorithm – Shortest Path Algorithms: Minimum spanning tree – Prim’s Algorithm – </a:t>
            </a:r>
            <a:r>
              <a:rPr lang="en-US" dirty="0" err="1"/>
              <a:t>Kruskal’s</a:t>
            </a:r>
            <a:r>
              <a:rPr lang="en-US" dirty="0"/>
              <a:t> Algorithm- </a:t>
            </a:r>
            <a:r>
              <a:rPr lang="en-US" dirty="0" err="1"/>
              <a:t>Dijkstra’s</a:t>
            </a:r>
            <a:r>
              <a:rPr lang="en-US" dirty="0"/>
              <a:t> Algorithm – Applications of Graphs.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654032"/>
          </a:xfrm>
        </p:spPr>
        <p:txBody>
          <a:bodyPr>
            <a:normAutofit fontScale="90000"/>
          </a:bodyPr>
          <a:lstStyle/>
          <a:p>
            <a:r>
              <a:rPr lang="en-IN" dirty="0" smtClean="0"/>
              <a:t>DEFINITION OF GRAPH</a:t>
            </a:r>
            <a:endParaRPr lang="en-US" dirty="0"/>
          </a:p>
        </p:txBody>
      </p:sp>
      <p:sp>
        <p:nvSpPr>
          <p:cNvPr id="3" name="Content Placeholder 2"/>
          <p:cNvSpPr>
            <a:spLocks noGrp="1"/>
          </p:cNvSpPr>
          <p:nvPr>
            <p:ph idx="1"/>
          </p:nvPr>
        </p:nvSpPr>
        <p:spPr>
          <a:xfrm>
            <a:off x="457200" y="928670"/>
            <a:ext cx="8229600" cy="5197493"/>
          </a:xfrm>
        </p:spPr>
        <p:txBody>
          <a:bodyPr>
            <a:normAutofit/>
          </a:bodyPr>
          <a:lstStyle/>
          <a:p>
            <a:r>
              <a:rPr lang="en-US" sz="2400" dirty="0" smtClean="0"/>
              <a:t>A graph is defined as Graph is a collection of vertices and arcs which connects vertices in the graph. </a:t>
            </a:r>
          </a:p>
          <a:p>
            <a:r>
              <a:rPr lang="en-US" sz="2400" dirty="0" smtClean="0"/>
              <a:t>A graph G is represented as G = ( V , E ), where V is set of vertices and E is set of edges. </a:t>
            </a:r>
          </a:p>
          <a:p>
            <a:r>
              <a:rPr lang="en-US" sz="2400" dirty="0" smtClean="0"/>
              <a:t>Example: graph G can be defined as G = ( V , E ) Where V = {A,B,C,D,E} and E = {(A,B),(A,C)(A,D),(B,D),(C,D),(B,E),(E,D)}. </a:t>
            </a:r>
          </a:p>
          <a:p>
            <a:pPr>
              <a:buNone/>
            </a:pPr>
            <a:endParaRPr lang="en-US" sz="2400" dirty="0"/>
          </a:p>
          <a:p>
            <a:pPr>
              <a:buNone/>
            </a:pPr>
            <a:r>
              <a:rPr lang="en-US" sz="2400" dirty="0" smtClean="0"/>
              <a:t>This is a graph with 5 vertices and 6 edges.</a:t>
            </a:r>
          </a:p>
          <a:p>
            <a:pPr>
              <a:buNone/>
            </a:pPr>
            <a:endParaRPr lang="en-US" sz="2400" dirty="0" smtClean="0"/>
          </a:p>
          <a:p>
            <a:pPr>
              <a:buNone/>
            </a:pPr>
            <a:endParaRPr lang="en-US" sz="2400" dirty="0"/>
          </a:p>
        </p:txBody>
      </p:sp>
      <p:pic>
        <p:nvPicPr>
          <p:cNvPr id="1029" name="Picture 5"/>
          <p:cNvPicPr>
            <a:picLocks noChangeAspect="1" noChangeArrowheads="1"/>
          </p:cNvPicPr>
          <p:nvPr/>
        </p:nvPicPr>
        <p:blipFill>
          <a:blip r:embed="rId2"/>
          <a:srcRect/>
          <a:stretch>
            <a:fillRect/>
          </a:stretch>
        </p:blipFill>
        <p:spPr bwMode="auto">
          <a:xfrm>
            <a:off x="2500298" y="4429132"/>
            <a:ext cx="3721100" cy="1928826"/>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725470"/>
          </a:xfrm>
        </p:spPr>
        <p:txBody>
          <a:bodyPr>
            <a:normAutofit fontScale="90000"/>
          </a:bodyPr>
          <a:lstStyle/>
          <a:p>
            <a:r>
              <a:rPr lang="en-IN" dirty="0" smtClean="0"/>
              <a:t>GRAPH TERMINOLOGY</a:t>
            </a:r>
            <a:endParaRPr lang="en-US" dirty="0"/>
          </a:p>
        </p:txBody>
      </p:sp>
      <p:sp>
        <p:nvSpPr>
          <p:cNvPr id="3" name="Content Placeholder 2"/>
          <p:cNvSpPr>
            <a:spLocks noGrp="1"/>
          </p:cNvSpPr>
          <p:nvPr>
            <p:ph idx="1"/>
          </p:nvPr>
        </p:nvSpPr>
        <p:spPr>
          <a:xfrm>
            <a:off x="457200" y="928670"/>
            <a:ext cx="8229600" cy="5197493"/>
          </a:xfrm>
        </p:spPr>
        <p:txBody>
          <a:bodyPr>
            <a:normAutofit fontScale="70000" lnSpcReduction="20000"/>
          </a:bodyPr>
          <a:lstStyle/>
          <a:p>
            <a:pPr>
              <a:buNone/>
            </a:pPr>
            <a:r>
              <a:rPr lang="en-US" b="1" dirty="0" smtClean="0"/>
              <a:t>1.Vertex :</a:t>
            </a:r>
            <a:r>
              <a:rPr lang="en-US" dirty="0" smtClean="0"/>
              <a:t> An individual data element of a graph is called as Vertex. Vertex is also known as node. In above example graph, A, B, C, D &amp; E are known as vertices. </a:t>
            </a:r>
          </a:p>
          <a:p>
            <a:pPr>
              <a:buNone/>
            </a:pPr>
            <a:r>
              <a:rPr lang="en-US" b="1" dirty="0" smtClean="0"/>
              <a:t>2.Edge :</a:t>
            </a:r>
            <a:r>
              <a:rPr lang="en-US" dirty="0" smtClean="0"/>
              <a:t> An edge is a connecting link between two vertices. Edge is also known as Arc. An edge is represented as (starting Vertex, ending Vertex). </a:t>
            </a:r>
          </a:p>
          <a:p>
            <a:pPr>
              <a:buNone/>
            </a:pPr>
            <a:r>
              <a:rPr lang="en-US" dirty="0" smtClean="0"/>
              <a:t>In above graph, the link between vertices A and B is represented as (A,B). </a:t>
            </a:r>
          </a:p>
          <a:p>
            <a:pPr>
              <a:buNone/>
            </a:pPr>
            <a:r>
              <a:rPr lang="en-US" dirty="0" smtClean="0"/>
              <a:t>Edges are three types: </a:t>
            </a:r>
          </a:p>
          <a:p>
            <a:pPr>
              <a:buNone/>
            </a:pPr>
            <a:r>
              <a:rPr lang="en-US" b="1" dirty="0" smtClean="0"/>
              <a:t>1.Undirected Edge </a:t>
            </a:r>
            <a:r>
              <a:rPr lang="en-US" dirty="0" smtClean="0"/>
              <a:t>- An undirected edge is a bidirectional edge. If there is an undirected edge between vertices A and B then edge (A , B) is equal to edge (B , A). </a:t>
            </a:r>
          </a:p>
          <a:p>
            <a:pPr>
              <a:buNone/>
            </a:pPr>
            <a:r>
              <a:rPr lang="en-US" b="1" dirty="0" smtClean="0"/>
              <a:t>2.Directed Edge </a:t>
            </a:r>
            <a:r>
              <a:rPr lang="en-US" dirty="0" smtClean="0"/>
              <a:t>- A directed edge is a unidirectional edge. If there is a directed edge between vertices A and B then edge (A , B) is not equal to edge (B , A).</a:t>
            </a:r>
          </a:p>
          <a:p>
            <a:pPr>
              <a:buNone/>
            </a:pPr>
            <a:r>
              <a:rPr lang="en-US" b="1" dirty="0" smtClean="0"/>
              <a:t>3.Weighted Edge </a:t>
            </a:r>
            <a:r>
              <a:rPr lang="en-US" dirty="0" smtClean="0"/>
              <a:t>- A weighted edge is an edge with cost on it.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582594"/>
          </a:xfrm>
        </p:spPr>
        <p:txBody>
          <a:bodyPr>
            <a:normAutofit fontScale="90000"/>
          </a:bodyPr>
          <a:lstStyle/>
          <a:p>
            <a:r>
              <a:rPr lang="en-US" dirty="0" smtClean="0"/>
              <a:t>Types of Graphs</a:t>
            </a:r>
            <a:endParaRPr lang="en-US" dirty="0"/>
          </a:p>
        </p:txBody>
      </p:sp>
      <p:sp>
        <p:nvSpPr>
          <p:cNvPr id="3" name="Content Placeholder 2"/>
          <p:cNvSpPr>
            <a:spLocks noGrp="1"/>
          </p:cNvSpPr>
          <p:nvPr>
            <p:ph idx="1"/>
          </p:nvPr>
        </p:nvSpPr>
        <p:spPr>
          <a:xfrm>
            <a:off x="457200" y="642918"/>
            <a:ext cx="8229600" cy="5483245"/>
          </a:xfrm>
        </p:spPr>
        <p:txBody>
          <a:bodyPr>
            <a:normAutofit/>
          </a:bodyPr>
          <a:lstStyle/>
          <a:p>
            <a:pPr>
              <a:buNone/>
            </a:pPr>
            <a:r>
              <a:rPr lang="en-US" sz="1900" b="1" dirty="0" smtClean="0"/>
              <a:t>1.Undirected Graph :</a:t>
            </a:r>
            <a:r>
              <a:rPr lang="en-US" sz="1900" dirty="0" smtClean="0"/>
              <a:t>A graph with only undirected edges is said to be undirected graph. </a:t>
            </a:r>
          </a:p>
          <a:p>
            <a:pPr>
              <a:buNone/>
            </a:pPr>
            <a:endParaRPr lang="en-IN" sz="1900" dirty="0" smtClean="0"/>
          </a:p>
          <a:p>
            <a:pPr>
              <a:buNone/>
            </a:pPr>
            <a:endParaRPr lang="en-US" sz="1900" dirty="0" smtClean="0"/>
          </a:p>
          <a:p>
            <a:pPr>
              <a:buNone/>
            </a:pPr>
            <a:r>
              <a:rPr lang="en-US" sz="1900" b="1" dirty="0" smtClean="0"/>
              <a:t>2.Directed Graph:  </a:t>
            </a:r>
            <a:r>
              <a:rPr lang="en-US" sz="1900" dirty="0" smtClean="0"/>
              <a:t>A graph with only directed edges is said to be directed graph.</a:t>
            </a:r>
          </a:p>
          <a:p>
            <a:pPr>
              <a:buNone/>
            </a:pPr>
            <a:endParaRPr lang="en-IN" sz="1900" dirty="0"/>
          </a:p>
          <a:p>
            <a:pPr>
              <a:buNone/>
            </a:pPr>
            <a:endParaRPr lang="en-IN" sz="1900" dirty="0" smtClean="0"/>
          </a:p>
          <a:p>
            <a:pPr>
              <a:buNone/>
            </a:pPr>
            <a:endParaRPr lang="en-IN" sz="1900" dirty="0"/>
          </a:p>
          <a:p>
            <a:pPr>
              <a:buNone/>
            </a:pPr>
            <a:endParaRPr lang="en-US" sz="1900" dirty="0" smtClean="0"/>
          </a:p>
          <a:p>
            <a:pPr>
              <a:buNone/>
            </a:pPr>
            <a:r>
              <a:rPr lang="en-US" sz="1900" b="1" dirty="0" smtClean="0"/>
              <a:t>3.Complete Graph:</a:t>
            </a:r>
            <a:r>
              <a:rPr lang="en-US" sz="1900" dirty="0" smtClean="0"/>
              <a:t> A graph in which any V node is adjacent to all other nodes present in the graph is known as a complete graph. An undirected graph contains the edges that are equal to edges = n(n-1)/2 where n is the number of vertices present in the graph.</a:t>
            </a:r>
          </a:p>
          <a:p>
            <a:pPr>
              <a:buNone/>
            </a:pPr>
            <a:endParaRPr lang="en-US" dirty="0"/>
          </a:p>
        </p:txBody>
      </p:sp>
      <p:pic>
        <p:nvPicPr>
          <p:cNvPr id="2053" name="Picture 5"/>
          <p:cNvPicPr>
            <a:picLocks noChangeAspect="1" noChangeArrowheads="1"/>
          </p:cNvPicPr>
          <p:nvPr/>
        </p:nvPicPr>
        <p:blipFill>
          <a:blip r:embed="rId2"/>
          <a:srcRect/>
          <a:stretch>
            <a:fillRect/>
          </a:stretch>
        </p:blipFill>
        <p:spPr bwMode="auto">
          <a:xfrm>
            <a:off x="2857488" y="1000108"/>
            <a:ext cx="2743200" cy="1071570"/>
          </a:xfrm>
          <a:prstGeom prst="rect">
            <a:avLst/>
          </a:prstGeom>
          <a:noFill/>
          <a:ln w="9525">
            <a:noFill/>
            <a:miter lim="800000"/>
            <a:headEnd/>
            <a:tailEnd/>
          </a:ln>
          <a:effectLst/>
        </p:spPr>
      </p:pic>
      <p:pic>
        <p:nvPicPr>
          <p:cNvPr id="2054" name="Picture 6"/>
          <p:cNvPicPr>
            <a:picLocks noChangeAspect="1" noChangeArrowheads="1"/>
          </p:cNvPicPr>
          <p:nvPr/>
        </p:nvPicPr>
        <p:blipFill>
          <a:blip r:embed="rId3"/>
          <a:srcRect/>
          <a:stretch>
            <a:fillRect/>
          </a:stretch>
        </p:blipFill>
        <p:spPr bwMode="auto">
          <a:xfrm>
            <a:off x="2928926" y="2428868"/>
            <a:ext cx="2844800" cy="1111250"/>
          </a:xfrm>
          <a:prstGeom prst="rect">
            <a:avLst/>
          </a:prstGeom>
          <a:noFill/>
          <a:ln w="9525">
            <a:noFill/>
            <a:miter lim="800000"/>
            <a:headEnd/>
            <a:tailEnd/>
          </a:ln>
          <a:effectLst/>
        </p:spPr>
      </p:pic>
      <p:pic>
        <p:nvPicPr>
          <p:cNvPr id="2055" name="Picture 7"/>
          <p:cNvPicPr>
            <a:picLocks noChangeAspect="1" noChangeArrowheads="1"/>
          </p:cNvPicPr>
          <p:nvPr/>
        </p:nvPicPr>
        <p:blipFill>
          <a:blip r:embed="rId4"/>
          <a:srcRect/>
          <a:stretch>
            <a:fillRect/>
          </a:stretch>
        </p:blipFill>
        <p:spPr bwMode="auto">
          <a:xfrm>
            <a:off x="2786050" y="4929198"/>
            <a:ext cx="2844800" cy="1720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0"/>
            <a:ext cx="8229600" cy="6715148"/>
          </a:xfrm>
        </p:spPr>
        <p:txBody>
          <a:bodyPr>
            <a:normAutofit/>
          </a:bodyPr>
          <a:lstStyle/>
          <a:p>
            <a:pPr>
              <a:buNone/>
            </a:pPr>
            <a:r>
              <a:rPr lang="en-US" sz="2000" b="1" dirty="0" smtClean="0"/>
              <a:t>4.Regular Graph :</a:t>
            </a:r>
            <a:r>
              <a:rPr lang="en-US" sz="2000" dirty="0" smtClean="0"/>
              <a:t>Regular graph is the graph in which nodes are adjacent to each other, i.e., each node is accessible from any other node. </a:t>
            </a:r>
          </a:p>
          <a:p>
            <a:pPr>
              <a:buNone/>
            </a:pPr>
            <a:endParaRPr lang="en-IN" sz="2000" dirty="0" smtClean="0"/>
          </a:p>
          <a:p>
            <a:pPr>
              <a:buNone/>
            </a:pPr>
            <a:endParaRPr lang="en-IN" sz="2000" dirty="0"/>
          </a:p>
          <a:p>
            <a:pPr>
              <a:buNone/>
            </a:pPr>
            <a:r>
              <a:rPr lang="en-US" sz="2000" b="1" dirty="0" smtClean="0"/>
              <a:t>5.Cycle Graph :</a:t>
            </a:r>
            <a:r>
              <a:rPr lang="en-US" sz="2000" dirty="0" smtClean="0"/>
              <a:t>A graph having cycle is called cycle graph. In this case the first and last nodes are the same. A closed simple path is a cycle. </a:t>
            </a:r>
          </a:p>
          <a:p>
            <a:pPr>
              <a:buNone/>
            </a:pPr>
            <a:endParaRPr lang="en-IN" sz="2000" dirty="0"/>
          </a:p>
          <a:p>
            <a:pPr>
              <a:buNone/>
            </a:pPr>
            <a:endParaRPr lang="en-US" sz="2000" dirty="0" smtClean="0"/>
          </a:p>
          <a:p>
            <a:pPr>
              <a:buNone/>
            </a:pPr>
            <a:r>
              <a:rPr lang="en-US" sz="2000" b="1" dirty="0" smtClean="0"/>
              <a:t>6.Acyclic Graph:</a:t>
            </a:r>
            <a:r>
              <a:rPr lang="en-US" sz="2000" dirty="0" smtClean="0"/>
              <a:t> A graph without cycle is called acyclic graphs. </a:t>
            </a:r>
          </a:p>
          <a:p>
            <a:pPr>
              <a:buNone/>
            </a:pPr>
            <a:endParaRPr lang="en-US" sz="2000" dirty="0" smtClean="0"/>
          </a:p>
          <a:p>
            <a:pPr>
              <a:buNone/>
            </a:pPr>
            <a:endParaRPr lang="en-US" sz="2000" b="1" dirty="0" smtClean="0"/>
          </a:p>
          <a:p>
            <a:pPr>
              <a:buNone/>
            </a:pPr>
            <a:endParaRPr lang="en-US" sz="2000" b="1" dirty="0" smtClean="0"/>
          </a:p>
          <a:p>
            <a:pPr>
              <a:buNone/>
            </a:pPr>
            <a:r>
              <a:rPr lang="en-US" sz="2000" b="1" dirty="0" smtClean="0"/>
              <a:t>7. Weighted Graph :</a:t>
            </a:r>
            <a:r>
              <a:rPr lang="en-US" sz="2000" dirty="0" smtClean="0"/>
              <a:t>A graph is said to be weighted if there are some non negative value assigned to each edges of the graph. The value is equal to the length between two vertices. Weighted graph is also called a network. </a:t>
            </a:r>
            <a:endParaRPr lang="en-US" sz="2000" dirty="0"/>
          </a:p>
        </p:txBody>
      </p:sp>
      <p:pic>
        <p:nvPicPr>
          <p:cNvPr id="3080" name="Picture 8"/>
          <p:cNvPicPr>
            <a:picLocks noChangeAspect="1" noChangeArrowheads="1"/>
          </p:cNvPicPr>
          <p:nvPr/>
        </p:nvPicPr>
        <p:blipFill>
          <a:blip r:embed="rId2"/>
          <a:srcRect r="11103"/>
          <a:stretch>
            <a:fillRect/>
          </a:stretch>
        </p:blipFill>
        <p:spPr bwMode="auto">
          <a:xfrm>
            <a:off x="6500826" y="285728"/>
            <a:ext cx="1729893" cy="1082248"/>
          </a:xfrm>
          <a:prstGeom prst="rect">
            <a:avLst/>
          </a:prstGeom>
          <a:noFill/>
          <a:ln w="9525">
            <a:noFill/>
            <a:miter lim="800000"/>
            <a:headEnd/>
            <a:tailEnd/>
          </a:ln>
          <a:effectLst/>
        </p:spPr>
      </p:pic>
      <p:pic>
        <p:nvPicPr>
          <p:cNvPr id="3081" name="Picture 9"/>
          <p:cNvPicPr>
            <a:picLocks noChangeAspect="1" noChangeArrowheads="1"/>
          </p:cNvPicPr>
          <p:nvPr/>
        </p:nvPicPr>
        <p:blipFill>
          <a:blip r:embed="rId3"/>
          <a:srcRect/>
          <a:stretch>
            <a:fillRect/>
          </a:stretch>
        </p:blipFill>
        <p:spPr bwMode="auto">
          <a:xfrm>
            <a:off x="6858017" y="1785926"/>
            <a:ext cx="2143140" cy="1071570"/>
          </a:xfrm>
          <a:prstGeom prst="rect">
            <a:avLst/>
          </a:prstGeom>
          <a:noFill/>
          <a:ln w="9525">
            <a:noFill/>
            <a:miter lim="800000"/>
            <a:headEnd/>
            <a:tailEnd/>
          </a:ln>
          <a:effectLst/>
        </p:spPr>
      </p:pic>
      <p:pic>
        <p:nvPicPr>
          <p:cNvPr id="3082" name="Picture 10"/>
          <p:cNvPicPr>
            <a:picLocks noChangeAspect="1" noChangeArrowheads="1"/>
          </p:cNvPicPr>
          <p:nvPr/>
        </p:nvPicPr>
        <p:blipFill>
          <a:blip r:embed="rId4"/>
          <a:srcRect/>
          <a:stretch>
            <a:fillRect/>
          </a:stretch>
        </p:blipFill>
        <p:spPr bwMode="auto">
          <a:xfrm>
            <a:off x="6643702" y="2928934"/>
            <a:ext cx="2318048" cy="1188000"/>
          </a:xfrm>
          <a:prstGeom prst="rect">
            <a:avLst/>
          </a:prstGeom>
          <a:noFill/>
          <a:ln w="9525">
            <a:noFill/>
            <a:miter lim="800000"/>
            <a:headEnd/>
            <a:tailEnd/>
          </a:ln>
          <a:effectLst/>
        </p:spPr>
      </p:pic>
      <p:pic>
        <p:nvPicPr>
          <p:cNvPr id="3083" name="Picture 11"/>
          <p:cNvPicPr>
            <a:picLocks noChangeAspect="1" noChangeArrowheads="1"/>
          </p:cNvPicPr>
          <p:nvPr/>
        </p:nvPicPr>
        <p:blipFill>
          <a:blip r:embed="rId5"/>
          <a:srcRect/>
          <a:stretch>
            <a:fillRect/>
          </a:stretch>
        </p:blipFill>
        <p:spPr bwMode="auto">
          <a:xfrm>
            <a:off x="6500826" y="5357826"/>
            <a:ext cx="2387600" cy="131445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Autofit/>
          </a:bodyPr>
          <a:lstStyle/>
          <a:p>
            <a:pPr algn="just">
              <a:buNone/>
            </a:pPr>
            <a:r>
              <a:rPr lang="en-US" sz="2400" b="1" dirty="0" smtClean="0"/>
              <a:t>Outgoing Edge: </a:t>
            </a:r>
            <a:r>
              <a:rPr lang="en-US" sz="2400" dirty="0" smtClean="0"/>
              <a:t>A directed edge is said to be outgoing edge on its </a:t>
            </a:r>
            <a:r>
              <a:rPr lang="en-US" sz="2400" dirty="0" err="1" smtClean="0"/>
              <a:t>orign</a:t>
            </a:r>
            <a:r>
              <a:rPr lang="en-US" sz="2400" dirty="0" smtClean="0"/>
              <a:t> vertex. </a:t>
            </a:r>
          </a:p>
          <a:p>
            <a:pPr algn="just">
              <a:buNone/>
            </a:pPr>
            <a:r>
              <a:rPr lang="en-US" sz="2400" b="1" dirty="0" smtClean="0"/>
              <a:t>Incoming Edge:</a:t>
            </a:r>
            <a:r>
              <a:rPr lang="en-US" sz="2400" dirty="0" smtClean="0"/>
              <a:t> A directed edge is said to be incoming edge on its destination vertex. </a:t>
            </a:r>
          </a:p>
          <a:p>
            <a:pPr algn="just">
              <a:buNone/>
            </a:pPr>
            <a:r>
              <a:rPr lang="en-US" sz="2400" b="1" dirty="0" smtClean="0"/>
              <a:t>Degree :</a:t>
            </a:r>
            <a:r>
              <a:rPr lang="en-US" sz="2400" dirty="0" smtClean="0"/>
              <a:t>Total number of edges connected to a vertex is said to be degree of that vertex. </a:t>
            </a:r>
          </a:p>
          <a:p>
            <a:pPr algn="just">
              <a:buNone/>
            </a:pPr>
            <a:r>
              <a:rPr lang="en-US" sz="2400" b="1" dirty="0" err="1" smtClean="0"/>
              <a:t>Indegree</a:t>
            </a:r>
            <a:r>
              <a:rPr lang="en-US" sz="2400" b="1" dirty="0" smtClean="0"/>
              <a:t>:</a:t>
            </a:r>
            <a:r>
              <a:rPr lang="en-US" sz="2400" dirty="0" smtClean="0"/>
              <a:t> Total number of incoming edges connected to a vertex is said to be </a:t>
            </a:r>
            <a:r>
              <a:rPr lang="en-US" sz="2400" dirty="0" err="1" smtClean="0"/>
              <a:t>indegree</a:t>
            </a:r>
            <a:r>
              <a:rPr lang="en-US" sz="2400" dirty="0" smtClean="0"/>
              <a:t> of that vertex. </a:t>
            </a:r>
          </a:p>
          <a:p>
            <a:pPr algn="just">
              <a:buNone/>
            </a:pPr>
            <a:r>
              <a:rPr lang="en-US" sz="2400" b="1" dirty="0" err="1" smtClean="0"/>
              <a:t>Outdegree</a:t>
            </a:r>
            <a:r>
              <a:rPr lang="en-US" sz="2400" b="1" dirty="0" smtClean="0"/>
              <a:t>:</a:t>
            </a:r>
            <a:r>
              <a:rPr lang="en-US" sz="2400" dirty="0" smtClean="0"/>
              <a:t> Total number of outgoing edges connected to a vertex is said to be </a:t>
            </a:r>
            <a:r>
              <a:rPr lang="en-US" sz="2400" dirty="0" err="1" smtClean="0"/>
              <a:t>outdegree</a:t>
            </a:r>
            <a:r>
              <a:rPr lang="en-US" sz="2400" dirty="0" smtClean="0"/>
              <a:t> of that vertex. </a:t>
            </a:r>
          </a:p>
          <a:p>
            <a:pPr algn="just">
              <a:buNone/>
            </a:pPr>
            <a:r>
              <a:rPr lang="en-US" sz="2400" b="1" dirty="0" smtClean="0"/>
              <a:t>Parallel edges or Multiple edges: </a:t>
            </a:r>
            <a:r>
              <a:rPr lang="en-US" sz="2400" dirty="0" smtClean="0"/>
              <a:t>If there are two undirected edges to have the same end vertices, and for two directed edges to have the same origin and the same destination. Such edges are called parallel edges or multiple edges. </a:t>
            </a:r>
          </a:p>
          <a:p>
            <a:pPr algn="just">
              <a:buNone/>
            </a:pPr>
            <a:r>
              <a:rPr lang="en-US" sz="2400" b="1" dirty="0" smtClean="0"/>
              <a:t>Self-loop:</a:t>
            </a:r>
            <a:r>
              <a:rPr lang="en-US" sz="2400" dirty="0" smtClean="0"/>
              <a:t> An edge (undirected or directed) is a self-loop if its two endpoints coincide.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500034" y="285728"/>
            <a:ext cx="8215370" cy="584043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571472" y="428604"/>
            <a:ext cx="8072494" cy="5697559"/>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srcRect/>
          <a:stretch>
            <a:fillRect/>
          </a:stretch>
        </p:blipFill>
        <p:spPr bwMode="auto">
          <a:xfrm>
            <a:off x="357158" y="428604"/>
            <a:ext cx="8358246" cy="5697559"/>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428596" y="285728"/>
            <a:ext cx="8358246" cy="584043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srcRect/>
          <a:stretch>
            <a:fillRect/>
          </a:stretch>
        </p:blipFill>
        <p:spPr bwMode="auto">
          <a:xfrm>
            <a:off x="500034" y="428604"/>
            <a:ext cx="8001055" cy="5697559"/>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custDataLst>
              <p:tags r:id="rId1"/>
            </p:custDataLst>
          </p:nvPr>
        </p:nvSpPr>
        <p:spPr>
          <a:xfrm>
            <a:off x="457200" y="274638"/>
            <a:ext cx="8229600" cy="582594"/>
          </a:xfrm>
        </p:spPr>
        <p:txBody>
          <a:bodyPr>
            <a:normAutofit fontScale="90000"/>
          </a:bodyPr>
          <a:lstStyle/>
          <a:p>
            <a:r>
              <a:rPr lang="en-US" dirty="0" smtClean="0"/>
              <a:t>Graph Traversals</a:t>
            </a:r>
          </a:p>
        </p:txBody>
      </p:sp>
      <p:sp>
        <p:nvSpPr>
          <p:cNvPr id="65538" name="Content Placeholder 2"/>
          <p:cNvSpPr>
            <a:spLocks noGrp="1"/>
          </p:cNvSpPr>
          <p:nvPr>
            <p:ph idx="1"/>
            <p:custDataLst>
              <p:tags r:id="rId2"/>
            </p:custDataLst>
          </p:nvPr>
        </p:nvSpPr>
        <p:spPr>
          <a:xfrm>
            <a:off x="109182" y="762000"/>
            <a:ext cx="8806218" cy="5486400"/>
          </a:xfrm>
        </p:spPr>
        <p:txBody>
          <a:bodyPr>
            <a:noAutofit/>
          </a:bodyPr>
          <a:lstStyle/>
          <a:p>
            <a:pPr algn="just"/>
            <a:r>
              <a:rPr lang="en-US" sz="2000" dirty="0"/>
              <a:t>Graph traversal is a technique used for searching a vertex in a graph. </a:t>
            </a:r>
            <a:endParaRPr lang="en-US" sz="2000" dirty="0" smtClean="0"/>
          </a:p>
          <a:p>
            <a:pPr algn="just"/>
            <a:r>
              <a:rPr lang="en-US" sz="2000" dirty="0" smtClean="0"/>
              <a:t>The </a:t>
            </a:r>
            <a:r>
              <a:rPr lang="en-US" sz="2000" dirty="0"/>
              <a:t>graph traversal is also used to decide the order of vertices is visited in the search process. </a:t>
            </a:r>
            <a:endParaRPr lang="en-US" sz="2000" dirty="0" smtClean="0"/>
          </a:p>
          <a:p>
            <a:pPr algn="just"/>
            <a:r>
              <a:rPr lang="en-US" sz="2000" dirty="0" smtClean="0"/>
              <a:t>A </a:t>
            </a:r>
            <a:r>
              <a:rPr lang="en-US" sz="2000" dirty="0"/>
              <a:t>graph traversal finds the edges to be used in the search process without creating </a:t>
            </a:r>
            <a:r>
              <a:rPr lang="en-US" sz="2000" dirty="0" smtClean="0"/>
              <a:t>loops.</a:t>
            </a:r>
          </a:p>
          <a:p>
            <a:pPr algn="just"/>
            <a:r>
              <a:rPr lang="en-US" sz="2000" dirty="0" smtClean="0"/>
              <a:t>There </a:t>
            </a:r>
            <a:r>
              <a:rPr lang="en-US" sz="2000" dirty="0"/>
              <a:t>are two graph traversal techniques and they are as follows...</a:t>
            </a:r>
          </a:p>
          <a:p>
            <a:pPr algn="just"/>
            <a:r>
              <a:rPr lang="en-US" sz="2000" b="1" dirty="0"/>
              <a:t>DFS (Depth First Search)</a:t>
            </a:r>
          </a:p>
          <a:p>
            <a:pPr algn="just"/>
            <a:r>
              <a:rPr lang="en-US" sz="2000" b="1" dirty="0"/>
              <a:t>BFS (Breadth First Search</a:t>
            </a:r>
            <a:r>
              <a:rPr lang="en-US" sz="2000" b="1" dirty="0" smtClean="0"/>
              <a:t>)</a:t>
            </a:r>
            <a:endParaRPr lang="en-US" sz="2000" dirty="0" smtClean="0"/>
          </a:p>
          <a:p>
            <a:pPr marL="0" indent="0" algn="just">
              <a:buNone/>
            </a:pPr>
            <a:r>
              <a:rPr lang="en-US" sz="2000" dirty="0" smtClean="0"/>
              <a:t>Basic Algorithm for Traversals: </a:t>
            </a:r>
          </a:p>
          <a:p>
            <a:pPr algn="just"/>
            <a:r>
              <a:rPr lang="en-US" sz="2000" dirty="0" smtClean="0"/>
              <a:t>Select a starting node</a:t>
            </a:r>
          </a:p>
          <a:p>
            <a:pPr algn="just"/>
            <a:r>
              <a:rPr lang="en-US" sz="2000" dirty="0" smtClean="0"/>
              <a:t>Make a set of nodes adjacent to current node</a:t>
            </a:r>
          </a:p>
          <a:p>
            <a:pPr algn="just"/>
            <a:r>
              <a:rPr lang="en-US" sz="2000" dirty="0" smtClean="0"/>
              <a:t>Visit each node in the set but "mark" each nodes after visiting them so you don't revisit them (and eventually stop)</a:t>
            </a:r>
          </a:p>
          <a:p>
            <a:pPr algn="just"/>
            <a:r>
              <a:rPr lang="en-US" sz="2000" dirty="0" smtClean="0"/>
              <a:t>Repeat above but skip "marked nodes"</a:t>
            </a:r>
          </a:p>
        </p:txBody>
      </p:sp>
      <p:sp>
        <p:nvSpPr>
          <p:cNvPr id="4" name="Slide Number Placeholder 3"/>
          <p:cNvSpPr>
            <a:spLocks noGrp="1"/>
          </p:cNvSpPr>
          <p:nvPr>
            <p:ph type="sldNum" sz="quarter" idx="12"/>
          </p:nvPr>
        </p:nvSpPr>
        <p:spPr/>
        <p:txBody>
          <a:bodyPr/>
          <a:lstStyle/>
          <a:p>
            <a:fld id="{2781ADA0-3BB4-460A-B7EB-C1A8DEAFE2E2}" type="slidenum">
              <a:rPr lang="en-US" smtClean="0"/>
              <a:pPr/>
              <a:t>12</a:t>
            </a:fld>
            <a:endParaRPr lang="en-US"/>
          </a:p>
        </p:txBody>
      </p:sp>
    </p:spTree>
    <p:extLst>
      <p:ext uri="{BB962C8B-B14F-4D97-AF65-F5344CB8AC3E}">
        <p14:creationId xmlns="" xmlns:p14="http://schemas.microsoft.com/office/powerpoint/2010/main" val="1666366338"/>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487362"/>
          </a:xfrm>
        </p:spPr>
        <p:txBody>
          <a:bodyPr>
            <a:normAutofit fontScale="90000"/>
          </a:bodyPr>
          <a:lstStyle/>
          <a:p>
            <a:r>
              <a:rPr lang="en-US" b="1" dirty="0"/>
              <a:t>DFS (Depth First Search)</a:t>
            </a:r>
            <a:br>
              <a:rPr lang="en-US" b="1" dirty="0"/>
            </a:br>
            <a:endParaRPr lang="en-US" dirty="0"/>
          </a:p>
        </p:txBody>
      </p:sp>
      <p:sp>
        <p:nvSpPr>
          <p:cNvPr id="3" name="Content Placeholder 2"/>
          <p:cNvSpPr>
            <a:spLocks noGrp="1"/>
          </p:cNvSpPr>
          <p:nvPr>
            <p:ph idx="1"/>
          </p:nvPr>
        </p:nvSpPr>
        <p:spPr>
          <a:xfrm>
            <a:off x="0" y="762000"/>
            <a:ext cx="9144000" cy="5486400"/>
          </a:xfrm>
        </p:spPr>
        <p:txBody>
          <a:bodyPr>
            <a:noAutofit/>
          </a:bodyPr>
          <a:lstStyle/>
          <a:p>
            <a:r>
              <a:rPr lang="en-US" sz="2200" dirty="0" smtClean="0"/>
              <a:t>DFS </a:t>
            </a:r>
            <a:r>
              <a:rPr lang="en-US" sz="2200" dirty="0"/>
              <a:t>traversal of a graph produces a </a:t>
            </a:r>
            <a:r>
              <a:rPr lang="en-US" sz="2200" b="1" dirty="0"/>
              <a:t>spanning tree</a:t>
            </a:r>
            <a:r>
              <a:rPr lang="en-US" sz="2200" dirty="0"/>
              <a:t> as final result. </a:t>
            </a:r>
            <a:r>
              <a:rPr lang="en-US" sz="2200" b="1" dirty="0"/>
              <a:t>Spanning Tree</a:t>
            </a:r>
            <a:r>
              <a:rPr lang="en-US" sz="2200" dirty="0"/>
              <a:t> is a graph without loops. </a:t>
            </a:r>
            <a:endParaRPr lang="en-US" sz="2200" dirty="0" smtClean="0"/>
          </a:p>
          <a:p>
            <a:r>
              <a:rPr lang="en-US" sz="2200" dirty="0"/>
              <a:t>U</a:t>
            </a:r>
            <a:r>
              <a:rPr lang="en-US" sz="2200" dirty="0" smtClean="0"/>
              <a:t>se</a:t>
            </a:r>
            <a:r>
              <a:rPr lang="en-US" sz="2200" dirty="0"/>
              <a:t> </a:t>
            </a:r>
            <a:r>
              <a:rPr lang="en-US" sz="2200" b="1" dirty="0"/>
              <a:t>Stack data structure</a:t>
            </a:r>
            <a:r>
              <a:rPr lang="en-US" sz="2200" dirty="0"/>
              <a:t> with maximum size of total number of vertices in the graph to implement DFS </a:t>
            </a:r>
            <a:r>
              <a:rPr lang="en-US" sz="2200" dirty="0" smtClean="0"/>
              <a:t>traversal.</a:t>
            </a:r>
            <a:endParaRPr lang="en-US" sz="2200" dirty="0"/>
          </a:p>
          <a:p>
            <a:pPr marL="0" indent="0">
              <a:buNone/>
            </a:pPr>
            <a:r>
              <a:rPr lang="en-US" sz="2200" dirty="0"/>
              <a:t>T</a:t>
            </a:r>
            <a:r>
              <a:rPr lang="en-US" sz="2200" dirty="0" smtClean="0"/>
              <a:t>he </a:t>
            </a:r>
            <a:r>
              <a:rPr lang="en-US" sz="2200" dirty="0"/>
              <a:t>following steps to implement DFS traversal...</a:t>
            </a:r>
          </a:p>
          <a:p>
            <a:r>
              <a:rPr lang="en-US" sz="2200" b="1" dirty="0"/>
              <a:t>Step 1 - </a:t>
            </a:r>
            <a:r>
              <a:rPr lang="en-US" sz="2200" dirty="0"/>
              <a:t>Define a Stack of size total number of vertices in the graph.</a:t>
            </a:r>
          </a:p>
          <a:p>
            <a:r>
              <a:rPr lang="en-US" sz="2200" b="1" dirty="0"/>
              <a:t>Step 2 - </a:t>
            </a:r>
            <a:r>
              <a:rPr lang="en-US" sz="2200" dirty="0"/>
              <a:t>Select any vertex as </a:t>
            </a:r>
            <a:r>
              <a:rPr lang="en-US" sz="2200" b="1" dirty="0"/>
              <a:t>starting point</a:t>
            </a:r>
            <a:r>
              <a:rPr lang="en-US" sz="2200" dirty="0"/>
              <a:t> for traversal. Visit that vertex and push it on to the Stack.</a:t>
            </a:r>
          </a:p>
          <a:p>
            <a:r>
              <a:rPr lang="en-US" sz="2200" b="1" dirty="0"/>
              <a:t>Step 3 - </a:t>
            </a:r>
            <a:r>
              <a:rPr lang="en-US" sz="2200" dirty="0"/>
              <a:t>Visit any one of the non-visited </a:t>
            </a:r>
            <a:r>
              <a:rPr lang="en-US" sz="2200" b="1" dirty="0"/>
              <a:t>adjacent</a:t>
            </a:r>
            <a:r>
              <a:rPr lang="en-US" sz="2200" dirty="0"/>
              <a:t> vertices of a vertex which is at the top of stack and push it on to the stack.</a:t>
            </a:r>
          </a:p>
          <a:p>
            <a:r>
              <a:rPr lang="en-US" sz="2200" b="1" dirty="0"/>
              <a:t>Step 4 - </a:t>
            </a:r>
            <a:r>
              <a:rPr lang="en-US" sz="2200" dirty="0"/>
              <a:t>Repeat step 3 until there is no new vertex to be visited from the vertex which is at the top of the stack.</a:t>
            </a:r>
          </a:p>
          <a:p>
            <a:pPr marL="0" indent="0">
              <a:buNone/>
            </a:pPr>
            <a:r>
              <a:rPr lang="en-US" sz="2200" dirty="0"/>
              <a:t/>
            </a:r>
            <a:br>
              <a:rPr lang="en-US" sz="2200" dirty="0"/>
            </a:br>
            <a:endParaRPr lang="en-US" sz="2200" dirty="0"/>
          </a:p>
        </p:txBody>
      </p:sp>
      <p:sp>
        <p:nvSpPr>
          <p:cNvPr id="6" name="Slide Number Placeholder 5"/>
          <p:cNvSpPr>
            <a:spLocks noGrp="1"/>
          </p:cNvSpPr>
          <p:nvPr>
            <p:ph type="sldNum" sz="quarter" idx="12"/>
          </p:nvPr>
        </p:nvSpPr>
        <p:spPr/>
        <p:txBody>
          <a:bodyPr/>
          <a:lstStyle/>
          <a:p>
            <a:fld id="{2781ADA0-3BB4-460A-B7EB-C1A8DEAFE2E2}" type="slidenum">
              <a:rPr lang="en-US" smtClean="0"/>
              <a:pPr/>
              <a:t>13</a:t>
            </a:fld>
            <a:endParaRPr lang="en-US"/>
          </a:p>
        </p:txBody>
      </p:sp>
    </p:spTree>
    <p:extLst>
      <p:ext uri="{BB962C8B-B14F-4D97-AF65-F5344CB8AC3E}">
        <p14:creationId xmlns="" xmlns:p14="http://schemas.microsoft.com/office/powerpoint/2010/main" val="1689528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0125"/>
            <a:ext cx="9048466" cy="6098275"/>
          </a:xfrm>
        </p:spPr>
        <p:txBody>
          <a:bodyPr>
            <a:normAutofit/>
          </a:bodyPr>
          <a:lstStyle/>
          <a:p>
            <a:r>
              <a:rPr lang="en-US" sz="2200" b="1" dirty="0"/>
              <a:t>Step 5 - </a:t>
            </a:r>
            <a:r>
              <a:rPr lang="en-US" sz="2200" dirty="0"/>
              <a:t>When there is no new vertex to visit then use </a:t>
            </a:r>
            <a:r>
              <a:rPr lang="en-US" sz="2200" b="1" dirty="0"/>
              <a:t>back tracking</a:t>
            </a:r>
            <a:r>
              <a:rPr lang="en-US" sz="2200" dirty="0"/>
              <a:t> and pop one vertex from the stack.</a:t>
            </a:r>
          </a:p>
          <a:p>
            <a:r>
              <a:rPr lang="en-US" sz="2200" b="1" dirty="0"/>
              <a:t>Step 6 - </a:t>
            </a:r>
            <a:r>
              <a:rPr lang="en-US" sz="2200" dirty="0"/>
              <a:t>Repeat steps 3, 4 and 5 until stack becomes Empty.</a:t>
            </a:r>
          </a:p>
          <a:p>
            <a:r>
              <a:rPr lang="en-US" sz="2200" b="1" dirty="0"/>
              <a:t>Step 7 - </a:t>
            </a:r>
            <a:r>
              <a:rPr lang="en-US" sz="2200" dirty="0"/>
              <a:t>When stack becomes Empty, then produce final spanning tree by removing unused edges from the graph</a:t>
            </a:r>
          </a:p>
          <a:p>
            <a:r>
              <a:rPr lang="en-US" sz="2200" b="1" dirty="0"/>
              <a:t>Back tracking</a:t>
            </a:r>
            <a:r>
              <a:rPr lang="en-US" sz="2200" dirty="0"/>
              <a:t> is coming back to the vertex from which we reached the current vertex.</a:t>
            </a:r>
          </a:p>
        </p:txBody>
      </p:sp>
      <p:sp>
        <p:nvSpPr>
          <p:cNvPr id="6" name="Slide Number Placeholder 5"/>
          <p:cNvSpPr>
            <a:spLocks noGrp="1"/>
          </p:cNvSpPr>
          <p:nvPr>
            <p:ph type="sldNum" sz="quarter" idx="12"/>
          </p:nvPr>
        </p:nvSpPr>
        <p:spPr/>
        <p:txBody>
          <a:bodyPr/>
          <a:lstStyle/>
          <a:p>
            <a:fld id="{2781ADA0-3BB4-460A-B7EB-C1A8DEAFE2E2}" type="slidenum">
              <a:rPr lang="en-US" smtClean="0"/>
              <a:pPr/>
              <a:t>14</a:t>
            </a:fld>
            <a:endParaRPr lang="en-US"/>
          </a:p>
        </p:txBody>
      </p:sp>
      <p:pic>
        <p:nvPicPr>
          <p:cNvPr id="7" name="Picture 6"/>
          <p:cNvPicPr>
            <a:picLocks noChangeAspect="1"/>
          </p:cNvPicPr>
          <p:nvPr/>
        </p:nvPicPr>
        <p:blipFill>
          <a:blip r:embed="rId2"/>
          <a:stretch>
            <a:fillRect/>
          </a:stretch>
        </p:blipFill>
        <p:spPr>
          <a:xfrm>
            <a:off x="47767" y="3199262"/>
            <a:ext cx="9048466" cy="2714625"/>
          </a:xfrm>
          <a:prstGeom prst="rect">
            <a:avLst/>
          </a:prstGeom>
        </p:spPr>
      </p:pic>
    </p:spTree>
    <p:extLst>
      <p:ext uri="{BB962C8B-B14F-4D97-AF65-F5344CB8AC3E}">
        <p14:creationId xmlns="" xmlns:p14="http://schemas.microsoft.com/office/powerpoint/2010/main" val="3783085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95534"/>
            <a:ext cx="9144000" cy="3193576"/>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15</a:t>
            </a:fld>
            <a:endParaRPr lang="en-US"/>
          </a:p>
        </p:txBody>
      </p:sp>
      <p:pic>
        <p:nvPicPr>
          <p:cNvPr id="8" name="Picture 7"/>
          <p:cNvPicPr>
            <a:picLocks noChangeAspect="1"/>
          </p:cNvPicPr>
          <p:nvPr/>
        </p:nvPicPr>
        <p:blipFill>
          <a:blip r:embed="rId3"/>
          <a:stretch>
            <a:fillRect/>
          </a:stretch>
        </p:blipFill>
        <p:spPr>
          <a:xfrm>
            <a:off x="0" y="3289110"/>
            <a:ext cx="9143999" cy="3009900"/>
          </a:xfrm>
          <a:prstGeom prst="rect">
            <a:avLst/>
          </a:prstGeom>
        </p:spPr>
      </p:pic>
    </p:spTree>
    <p:extLst>
      <p:ext uri="{BB962C8B-B14F-4D97-AF65-F5344CB8AC3E}">
        <p14:creationId xmlns="" xmlns:p14="http://schemas.microsoft.com/office/powerpoint/2010/main" val="1879574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0"/>
            <a:ext cx="9034818" cy="3207224"/>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16</a:t>
            </a:fld>
            <a:endParaRPr lang="en-US"/>
          </a:p>
        </p:txBody>
      </p:sp>
      <p:pic>
        <p:nvPicPr>
          <p:cNvPr id="8" name="Picture 7"/>
          <p:cNvPicPr>
            <a:picLocks noChangeAspect="1"/>
          </p:cNvPicPr>
          <p:nvPr/>
        </p:nvPicPr>
        <p:blipFill>
          <a:blip r:embed="rId3"/>
          <a:stretch>
            <a:fillRect/>
          </a:stretch>
        </p:blipFill>
        <p:spPr>
          <a:xfrm>
            <a:off x="0" y="3207224"/>
            <a:ext cx="9034818" cy="2933700"/>
          </a:xfrm>
          <a:prstGeom prst="rect">
            <a:avLst/>
          </a:prstGeom>
        </p:spPr>
      </p:pic>
    </p:spTree>
    <p:extLst>
      <p:ext uri="{BB962C8B-B14F-4D97-AF65-F5344CB8AC3E}">
        <p14:creationId xmlns="" xmlns:p14="http://schemas.microsoft.com/office/powerpoint/2010/main" val="2457488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smtClean="0"/>
              <a:t>July 23, 2012</a:t>
            </a:r>
            <a:endParaRPr lang="en-US"/>
          </a:p>
        </p:txBody>
      </p:sp>
      <p:sp>
        <p:nvSpPr>
          <p:cNvPr id="5" name="Footer Placeholder 4"/>
          <p:cNvSpPr>
            <a:spLocks noGrp="1"/>
          </p:cNvSpPr>
          <p:nvPr>
            <p:ph type="ftr" sz="quarter" idx="11"/>
          </p:nvPr>
        </p:nvSpPr>
        <p:spPr/>
        <p:txBody>
          <a:bodyPr/>
          <a:lstStyle/>
          <a:p>
            <a:r>
              <a:rPr lang="en-US" smtClean="0"/>
              <a:t>CSE 332 Data Abstractions, Summer 2012</a:t>
            </a:r>
            <a:endParaRPr lang="en-US"/>
          </a:p>
        </p:txBody>
      </p:sp>
      <p:sp>
        <p:nvSpPr>
          <p:cNvPr id="6" name="Slide Number Placeholder 5"/>
          <p:cNvSpPr>
            <a:spLocks noGrp="1"/>
          </p:cNvSpPr>
          <p:nvPr>
            <p:ph type="sldNum" sz="quarter" idx="12"/>
          </p:nvPr>
        </p:nvSpPr>
        <p:spPr/>
        <p:txBody>
          <a:bodyPr/>
          <a:lstStyle/>
          <a:p>
            <a:fld id="{2781ADA0-3BB4-460A-B7EB-C1A8DEAFE2E2}" type="slidenum">
              <a:rPr lang="en-US" smtClean="0"/>
              <a:pPr/>
              <a:t>17</a:t>
            </a:fld>
            <a:endParaRPr lang="en-US"/>
          </a:p>
        </p:txBody>
      </p:sp>
      <p:pic>
        <p:nvPicPr>
          <p:cNvPr id="7" name="Picture 6"/>
          <p:cNvPicPr>
            <a:picLocks noChangeAspect="1"/>
          </p:cNvPicPr>
          <p:nvPr/>
        </p:nvPicPr>
        <p:blipFill>
          <a:blip r:embed="rId2"/>
          <a:stretch>
            <a:fillRect/>
          </a:stretch>
        </p:blipFill>
        <p:spPr>
          <a:xfrm>
            <a:off x="0" y="-1"/>
            <a:ext cx="9144000" cy="3152633"/>
          </a:xfrm>
          <a:prstGeom prst="rect">
            <a:avLst/>
          </a:prstGeom>
        </p:spPr>
      </p:pic>
      <p:pic>
        <p:nvPicPr>
          <p:cNvPr id="8" name="Picture 7"/>
          <p:cNvPicPr>
            <a:picLocks noChangeAspect="1"/>
          </p:cNvPicPr>
          <p:nvPr/>
        </p:nvPicPr>
        <p:blipFill>
          <a:blip r:embed="rId3"/>
          <a:stretch>
            <a:fillRect/>
          </a:stretch>
        </p:blipFill>
        <p:spPr>
          <a:xfrm>
            <a:off x="0" y="3257478"/>
            <a:ext cx="9144000" cy="2886075"/>
          </a:xfrm>
          <a:prstGeom prst="rect">
            <a:avLst/>
          </a:prstGeom>
        </p:spPr>
      </p:pic>
    </p:spTree>
    <p:extLst>
      <p:ext uri="{BB962C8B-B14F-4D97-AF65-F5344CB8AC3E}">
        <p14:creationId xmlns="" xmlns:p14="http://schemas.microsoft.com/office/powerpoint/2010/main" val="1233171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smtClean="0"/>
              <a:t>July 23, 2012</a:t>
            </a:r>
            <a:endParaRPr lang="en-US"/>
          </a:p>
        </p:txBody>
      </p:sp>
      <p:sp>
        <p:nvSpPr>
          <p:cNvPr id="5" name="Footer Placeholder 4"/>
          <p:cNvSpPr>
            <a:spLocks noGrp="1"/>
          </p:cNvSpPr>
          <p:nvPr>
            <p:ph type="ftr" sz="quarter" idx="11"/>
          </p:nvPr>
        </p:nvSpPr>
        <p:spPr/>
        <p:txBody>
          <a:bodyPr/>
          <a:lstStyle/>
          <a:p>
            <a:r>
              <a:rPr lang="en-US" smtClean="0"/>
              <a:t>CSE 332 Data Abstractions, Summer 2012</a:t>
            </a:r>
            <a:endParaRPr lang="en-US"/>
          </a:p>
        </p:txBody>
      </p:sp>
      <p:sp>
        <p:nvSpPr>
          <p:cNvPr id="6" name="Slide Number Placeholder 5"/>
          <p:cNvSpPr>
            <a:spLocks noGrp="1"/>
          </p:cNvSpPr>
          <p:nvPr>
            <p:ph type="sldNum" sz="quarter" idx="12"/>
          </p:nvPr>
        </p:nvSpPr>
        <p:spPr/>
        <p:txBody>
          <a:bodyPr/>
          <a:lstStyle/>
          <a:p>
            <a:fld id="{2781ADA0-3BB4-460A-B7EB-C1A8DEAFE2E2}" type="slidenum">
              <a:rPr lang="en-US" smtClean="0"/>
              <a:pPr/>
              <a:t>18</a:t>
            </a:fld>
            <a:endParaRPr lang="en-US"/>
          </a:p>
        </p:txBody>
      </p:sp>
      <p:pic>
        <p:nvPicPr>
          <p:cNvPr id="7" name="Picture 6"/>
          <p:cNvPicPr>
            <a:picLocks noChangeAspect="1"/>
          </p:cNvPicPr>
          <p:nvPr/>
        </p:nvPicPr>
        <p:blipFill>
          <a:blip r:embed="rId2"/>
          <a:stretch>
            <a:fillRect/>
          </a:stretch>
        </p:blipFill>
        <p:spPr>
          <a:xfrm>
            <a:off x="1" y="120341"/>
            <a:ext cx="9144000" cy="3332543"/>
          </a:xfrm>
          <a:prstGeom prst="rect">
            <a:avLst/>
          </a:prstGeom>
        </p:spPr>
      </p:pic>
      <p:pic>
        <p:nvPicPr>
          <p:cNvPr id="8" name="Picture 7"/>
          <p:cNvPicPr>
            <a:picLocks noChangeAspect="1"/>
          </p:cNvPicPr>
          <p:nvPr/>
        </p:nvPicPr>
        <p:blipFill>
          <a:blip r:embed="rId3"/>
          <a:stretch>
            <a:fillRect/>
          </a:stretch>
        </p:blipFill>
        <p:spPr>
          <a:xfrm>
            <a:off x="1" y="3560834"/>
            <a:ext cx="9143999" cy="2914650"/>
          </a:xfrm>
          <a:prstGeom prst="rect">
            <a:avLst/>
          </a:prstGeom>
        </p:spPr>
      </p:pic>
    </p:spTree>
    <p:extLst>
      <p:ext uri="{BB962C8B-B14F-4D97-AF65-F5344CB8AC3E}">
        <p14:creationId xmlns="" xmlns:p14="http://schemas.microsoft.com/office/powerpoint/2010/main" val="2505784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54591" y="0"/>
            <a:ext cx="9034818" cy="3179928"/>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19</a:t>
            </a:fld>
            <a:endParaRPr lang="en-US"/>
          </a:p>
        </p:txBody>
      </p:sp>
      <p:pic>
        <p:nvPicPr>
          <p:cNvPr id="8" name="Picture 7"/>
          <p:cNvPicPr>
            <a:picLocks noChangeAspect="1"/>
          </p:cNvPicPr>
          <p:nvPr/>
        </p:nvPicPr>
        <p:blipFill>
          <a:blip r:embed="rId3"/>
          <a:stretch>
            <a:fillRect/>
          </a:stretch>
        </p:blipFill>
        <p:spPr>
          <a:xfrm>
            <a:off x="54591" y="3310814"/>
            <a:ext cx="9034818" cy="2914650"/>
          </a:xfrm>
          <a:prstGeom prst="rect">
            <a:avLst/>
          </a:prstGeom>
        </p:spPr>
      </p:pic>
    </p:spTree>
    <p:extLst>
      <p:ext uri="{BB962C8B-B14F-4D97-AF65-F5344CB8AC3E}">
        <p14:creationId xmlns="" xmlns:p14="http://schemas.microsoft.com/office/powerpoint/2010/main" val="4269126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95535"/>
            <a:ext cx="9048466" cy="3010256"/>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20</a:t>
            </a:fld>
            <a:endParaRPr lang="en-US"/>
          </a:p>
        </p:txBody>
      </p:sp>
      <p:pic>
        <p:nvPicPr>
          <p:cNvPr id="8" name="Picture 7"/>
          <p:cNvPicPr>
            <a:picLocks noChangeAspect="1"/>
          </p:cNvPicPr>
          <p:nvPr/>
        </p:nvPicPr>
        <p:blipFill>
          <a:blip r:embed="rId3"/>
          <a:stretch>
            <a:fillRect/>
          </a:stretch>
        </p:blipFill>
        <p:spPr>
          <a:xfrm>
            <a:off x="0" y="3307083"/>
            <a:ext cx="9143999" cy="2847975"/>
          </a:xfrm>
          <a:prstGeom prst="rect">
            <a:avLst/>
          </a:prstGeom>
        </p:spPr>
      </p:pic>
    </p:spTree>
    <p:extLst>
      <p:ext uri="{BB962C8B-B14F-4D97-AF65-F5344CB8AC3E}">
        <p14:creationId xmlns="" xmlns:p14="http://schemas.microsoft.com/office/powerpoint/2010/main" val="47060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111171"/>
            <a:ext cx="9021170" cy="3150643"/>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21</a:t>
            </a:fld>
            <a:endParaRPr lang="en-US"/>
          </a:p>
        </p:txBody>
      </p:sp>
      <p:pic>
        <p:nvPicPr>
          <p:cNvPr id="8" name="Picture 7"/>
          <p:cNvPicPr>
            <a:picLocks noChangeAspect="1"/>
          </p:cNvPicPr>
          <p:nvPr/>
        </p:nvPicPr>
        <p:blipFill>
          <a:blip r:embed="rId3"/>
          <a:stretch>
            <a:fillRect/>
          </a:stretch>
        </p:blipFill>
        <p:spPr>
          <a:xfrm>
            <a:off x="0" y="3261814"/>
            <a:ext cx="9144000" cy="2990850"/>
          </a:xfrm>
          <a:prstGeom prst="rect">
            <a:avLst/>
          </a:prstGeom>
        </p:spPr>
      </p:pic>
    </p:spTree>
    <p:extLst>
      <p:ext uri="{BB962C8B-B14F-4D97-AF65-F5344CB8AC3E}">
        <p14:creationId xmlns="" xmlns:p14="http://schemas.microsoft.com/office/powerpoint/2010/main" val="3637923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72955" y="1624084"/>
            <a:ext cx="8642445" cy="3362537"/>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22</a:t>
            </a:fld>
            <a:endParaRPr lang="en-US"/>
          </a:p>
        </p:txBody>
      </p:sp>
    </p:spTree>
    <p:extLst>
      <p:ext uri="{BB962C8B-B14F-4D97-AF65-F5344CB8AC3E}">
        <p14:creationId xmlns="" xmlns:p14="http://schemas.microsoft.com/office/powerpoint/2010/main" val="2240037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6081"/>
            <a:ext cx="8458200" cy="487362"/>
          </a:xfrm>
        </p:spPr>
        <p:txBody>
          <a:bodyPr>
            <a:normAutofit fontScale="90000"/>
          </a:bodyPr>
          <a:lstStyle/>
          <a:p>
            <a:r>
              <a:rPr lang="en-US" b="1" dirty="0"/>
              <a:t>BFS (Breadth First Search)</a:t>
            </a:r>
            <a:br>
              <a:rPr lang="en-US" b="1" dirty="0"/>
            </a:br>
            <a:endParaRPr lang="en-US" dirty="0"/>
          </a:p>
        </p:txBody>
      </p:sp>
      <p:sp>
        <p:nvSpPr>
          <p:cNvPr id="3" name="Content Placeholder 2"/>
          <p:cNvSpPr>
            <a:spLocks noGrp="1"/>
          </p:cNvSpPr>
          <p:nvPr>
            <p:ph idx="1"/>
          </p:nvPr>
        </p:nvSpPr>
        <p:spPr>
          <a:xfrm>
            <a:off x="0" y="762000"/>
            <a:ext cx="8915400" cy="5486400"/>
          </a:xfrm>
        </p:spPr>
        <p:txBody>
          <a:bodyPr>
            <a:noAutofit/>
          </a:bodyPr>
          <a:lstStyle/>
          <a:p>
            <a:pPr algn="just"/>
            <a:r>
              <a:rPr lang="en-US" sz="2200" dirty="0" smtClean="0"/>
              <a:t>BFS </a:t>
            </a:r>
            <a:r>
              <a:rPr lang="en-US" sz="2200" dirty="0"/>
              <a:t>traversal of a graph produces a </a:t>
            </a:r>
            <a:r>
              <a:rPr lang="en-US" sz="2200" b="1" dirty="0"/>
              <a:t>spanning tree</a:t>
            </a:r>
            <a:r>
              <a:rPr lang="en-US" sz="2200" dirty="0"/>
              <a:t> as final result. </a:t>
            </a:r>
            <a:r>
              <a:rPr lang="en-US" sz="2200" b="1" dirty="0"/>
              <a:t>Spanning Tree</a:t>
            </a:r>
            <a:r>
              <a:rPr lang="en-US" sz="2200" dirty="0"/>
              <a:t> is a graph without loops. </a:t>
            </a:r>
          </a:p>
          <a:p>
            <a:pPr algn="just"/>
            <a:r>
              <a:rPr lang="en-US" sz="2200" dirty="0"/>
              <a:t>U</a:t>
            </a:r>
            <a:r>
              <a:rPr lang="en-US" sz="2200" dirty="0" smtClean="0"/>
              <a:t>se</a:t>
            </a:r>
            <a:r>
              <a:rPr lang="en-US" sz="2200" dirty="0"/>
              <a:t> </a:t>
            </a:r>
            <a:r>
              <a:rPr lang="en-US" sz="2200" b="1" dirty="0"/>
              <a:t>Queue data structure</a:t>
            </a:r>
            <a:r>
              <a:rPr lang="en-US" sz="2200" dirty="0"/>
              <a:t> with maximum size of total number of vertices in the graph to implement BFS traversal</a:t>
            </a:r>
            <a:r>
              <a:rPr lang="en-US" sz="2200" dirty="0" smtClean="0"/>
              <a:t>.</a:t>
            </a:r>
            <a:endParaRPr lang="en-US" sz="2200" dirty="0"/>
          </a:p>
          <a:p>
            <a:pPr marL="0" indent="0" algn="just">
              <a:buNone/>
            </a:pPr>
            <a:r>
              <a:rPr lang="en-US" sz="2200" dirty="0"/>
              <a:t>T</a:t>
            </a:r>
            <a:r>
              <a:rPr lang="en-US" sz="2200" dirty="0" smtClean="0"/>
              <a:t>he </a:t>
            </a:r>
            <a:r>
              <a:rPr lang="en-US" sz="2200" dirty="0"/>
              <a:t>following steps to implement BFS traversal...</a:t>
            </a:r>
          </a:p>
          <a:p>
            <a:pPr algn="just"/>
            <a:r>
              <a:rPr lang="en-US" sz="2200" b="1" dirty="0"/>
              <a:t>Step 1 - </a:t>
            </a:r>
            <a:r>
              <a:rPr lang="en-US" sz="2200" dirty="0"/>
              <a:t>Define a Queue of size total number of vertices in the graph.</a:t>
            </a:r>
          </a:p>
          <a:p>
            <a:pPr algn="just"/>
            <a:r>
              <a:rPr lang="en-US" sz="2200" b="1" dirty="0"/>
              <a:t>Step 2 - </a:t>
            </a:r>
            <a:r>
              <a:rPr lang="en-US" sz="2200" dirty="0"/>
              <a:t>Select any vertex as </a:t>
            </a:r>
            <a:r>
              <a:rPr lang="en-US" sz="2200" b="1" dirty="0"/>
              <a:t>starting point</a:t>
            </a:r>
            <a:r>
              <a:rPr lang="en-US" sz="2200" dirty="0"/>
              <a:t> for traversal. Visit that vertex and insert it into the Queue.</a:t>
            </a:r>
          </a:p>
          <a:p>
            <a:pPr algn="just"/>
            <a:r>
              <a:rPr lang="en-US" sz="2200" b="1" dirty="0"/>
              <a:t>Step 3 - </a:t>
            </a:r>
            <a:r>
              <a:rPr lang="en-US" sz="2200" dirty="0"/>
              <a:t>Visit all the non-visited </a:t>
            </a:r>
            <a:r>
              <a:rPr lang="en-US" sz="2200" b="1" dirty="0"/>
              <a:t>adjacent</a:t>
            </a:r>
            <a:r>
              <a:rPr lang="en-US" sz="2200" dirty="0"/>
              <a:t> vertices of the vertex which is at front of the Queue and insert them into the Queue.</a:t>
            </a:r>
          </a:p>
          <a:p>
            <a:pPr marL="0" indent="0" algn="just">
              <a:buNone/>
            </a:pPr>
            <a:endParaRPr lang="en-US" sz="2200" dirty="0"/>
          </a:p>
        </p:txBody>
      </p:sp>
      <p:sp>
        <p:nvSpPr>
          <p:cNvPr id="6" name="Slide Number Placeholder 5"/>
          <p:cNvSpPr>
            <a:spLocks noGrp="1"/>
          </p:cNvSpPr>
          <p:nvPr>
            <p:ph type="sldNum" sz="quarter" idx="12"/>
          </p:nvPr>
        </p:nvSpPr>
        <p:spPr/>
        <p:txBody>
          <a:bodyPr/>
          <a:lstStyle/>
          <a:p>
            <a:fld id="{2781ADA0-3BB4-460A-B7EB-C1A8DEAFE2E2}" type="slidenum">
              <a:rPr lang="en-US" smtClean="0"/>
              <a:pPr/>
              <a:t>23</a:t>
            </a:fld>
            <a:endParaRPr lang="en-US"/>
          </a:p>
        </p:txBody>
      </p:sp>
    </p:spTree>
    <p:extLst>
      <p:ext uri="{BB962C8B-B14F-4D97-AF65-F5344CB8AC3E}">
        <p14:creationId xmlns="" xmlns:p14="http://schemas.microsoft.com/office/powerpoint/2010/main" val="18699707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2830"/>
            <a:ext cx="8458200" cy="6125570"/>
          </a:xfrm>
        </p:spPr>
        <p:txBody>
          <a:bodyPr>
            <a:normAutofit/>
          </a:bodyPr>
          <a:lstStyle/>
          <a:p>
            <a:pPr algn="just"/>
            <a:r>
              <a:rPr lang="en-US" sz="2200" b="1" dirty="0"/>
              <a:t>Step 4 - </a:t>
            </a:r>
            <a:r>
              <a:rPr lang="en-US" sz="2200" dirty="0"/>
              <a:t>When there is no new vertex to be visited from the vertex which is at front of the Queue then delete that vertex.</a:t>
            </a:r>
          </a:p>
          <a:p>
            <a:pPr algn="just"/>
            <a:r>
              <a:rPr lang="en-US" sz="2200" b="1" dirty="0"/>
              <a:t>Step 5 - </a:t>
            </a:r>
            <a:r>
              <a:rPr lang="en-US" sz="2200" dirty="0"/>
              <a:t>Repeat steps 3 and 4 until queue becomes empty.</a:t>
            </a:r>
          </a:p>
          <a:p>
            <a:pPr algn="just"/>
            <a:r>
              <a:rPr lang="en-US" sz="2200" b="1" dirty="0"/>
              <a:t>Step 6 - </a:t>
            </a:r>
            <a:r>
              <a:rPr lang="en-US" sz="2200" dirty="0"/>
              <a:t>When queue becomes empty, then produce final spanning tree by removing unused edges from the graph</a:t>
            </a:r>
          </a:p>
          <a:p>
            <a:endParaRPr lang="en-US" sz="2200" dirty="0"/>
          </a:p>
        </p:txBody>
      </p:sp>
      <p:sp>
        <p:nvSpPr>
          <p:cNvPr id="6" name="Slide Number Placeholder 5"/>
          <p:cNvSpPr>
            <a:spLocks noGrp="1"/>
          </p:cNvSpPr>
          <p:nvPr>
            <p:ph type="sldNum" sz="quarter" idx="12"/>
          </p:nvPr>
        </p:nvSpPr>
        <p:spPr/>
        <p:txBody>
          <a:bodyPr/>
          <a:lstStyle/>
          <a:p>
            <a:fld id="{2781ADA0-3BB4-460A-B7EB-C1A8DEAFE2E2}" type="slidenum">
              <a:rPr lang="en-US" smtClean="0"/>
              <a:pPr/>
              <a:t>24</a:t>
            </a:fld>
            <a:endParaRPr lang="en-US"/>
          </a:p>
        </p:txBody>
      </p:sp>
      <p:pic>
        <p:nvPicPr>
          <p:cNvPr id="7" name="Picture 6"/>
          <p:cNvPicPr>
            <a:picLocks noChangeAspect="1"/>
          </p:cNvPicPr>
          <p:nvPr/>
        </p:nvPicPr>
        <p:blipFill>
          <a:blip r:embed="rId2"/>
          <a:stretch>
            <a:fillRect/>
          </a:stretch>
        </p:blipFill>
        <p:spPr>
          <a:xfrm>
            <a:off x="177421" y="3185615"/>
            <a:ext cx="8737979" cy="2790825"/>
          </a:xfrm>
          <a:prstGeom prst="rect">
            <a:avLst/>
          </a:prstGeom>
        </p:spPr>
      </p:pic>
    </p:spTree>
    <p:extLst>
      <p:ext uri="{BB962C8B-B14F-4D97-AF65-F5344CB8AC3E}">
        <p14:creationId xmlns="" xmlns:p14="http://schemas.microsoft.com/office/powerpoint/2010/main" val="388740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0"/>
            <a:ext cx="9144000" cy="3316406"/>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25</a:t>
            </a:fld>
            <a:endParaRPr lang="en-US"/>
          </a:p>
        </p:txBody>
      </p:sp>
      <p:pic>
        <p:nvPicPr>
          <p:cNvPr id="8" name="Picture 7"/>
          <p:cNvPicPr>
            <a:picLocks noChangeAspect="1"/>
          </p:cNvPicPr>
          <p:nvPr/>
        </p:nvPicPr>
        <p:blipFill>
          <a:blip r:embed="rId3"/>
          <a:stretch>
            <a:fillRect/>
          </a:stretch>
        </p:blipFill>
        <p:spPr>
          <a:xfrm>
            <a:off x="0" y="3316406"/>
            <a:ext cx="9144000" cy="3039944"/>
          </a:xfrm>
          <a:prstGeom prst="rect">
            <a:avLst/>
          </a:prstGeom>
        </p:spPr>
      </p:pic>
    </p:spTree>
    <p:extLst>
      <p:ext uri="{BB962C8B-B14F-4D97-AF65-F5344CB8AC3E}">
        <p14:creationId xmlns="" xmlns:p14="http://schemas.microsoft.com/office/powerpoint/2010/main" val="3393931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0"/>
            <a:ext cx="9144000" cy="3357349"/>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26</a:t>
            </a:fld>
            <a:endParaRPr lang="en-US"/>
          </a:p>
        </p:txBody>
      </p:sp>
      <p:pic>
        <p:nvPicPr>
          <p:cNvPr id="8" name="Picture 7"/>
          <p:cNvPicPr>
            <a:picLocks noChangeAspect="1"/>
          </p:cNvPicPr>
          <p:nvPr/>
        </p:nvPicPr>
        <p:blipFill>
          <a:blip r:embed="rId3"/>
          <a:stretch>
            <a:fillRect/>
          </a:stretch>
        </p:blipFill>
        <p:spPr>
          <a:xfrm>
            <a:off x="0" y="3580499"/>
            <a:ext cx="9144000" cy="2656528"/>
          </a:xfrm>
          <a:prstGeom prst="rect">
            <a:avLst/>
          </a:prstGeom>
        </p:spPr>
      </p:pic>
    </p:spTree>
    <p:extLst>
      <p:ext uri="{BB962C8B-B14F-4D97-AF65-F5344CB8AC3E}">
        <p14:creationId xmlns="" xmlns:p14="http://schemas.microsoft.com/office/powerpoint/2010/main" val="3713503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0"/>
            <a:ext cx="9144000" cy="3261815"/>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27</a:t>
            </a:fld>
            <a:endParaRPr lang="en-US"/>
          </a:p>
        </p:txBody>
      </p:sp>
      <p:pic>
        <p:nvPicPr>
          <p:cNvPr id="8" name="Picture 7"/>
          <p:cNvPicPr>
            <a:picLocks noChangeAspect="1"/>
          </p:cNvPicPr>
          <p:nvPr/>
        </p:nvPicPr>
        <p:blipFill>
          <a:blip r:embed="rId3"/>
          <a:stretch>
            <a:fillRect/>
          </a:stretch>
        </p:blipFill>
        <p:spPr>
          <a:xfrm>
            <a:off x="0" y="3429000"/>
            <a:ext cx="9144000" cy="2927350"/>
          </a:xfrm>
          <a:prstGeom prst="rect">
            <a:avLst/>
          </a:prstGeom>
        </p:spPr>
      </p:pic>
    </p:spTree>
    <p:extLst>
      <p:ext uri="{BB962C8B-B14F-4D97-AF65-F5344CB8AC3E}">
        <p14:creationId xmlns="" xmlns:p14="http://schemas.microsoft.com/office/powerpoint/2010/main" val="3117840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64826" y="3302837"/>
            <a:ext cx="9079173" cy="2825008"/>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28</a:t>
            </a:fld>
            <a:endParaRPr lang="en-US"/>
          </a:p>
        </p:txBody>
      </p:sp>
      <p:pic>
        <p:nvPicPr>
          <p:cNvPr id="7" name="Picture 6"/>
          <p:cNvPicPr>
            <a:picLocks noChangeAspect="1"/>
          </p:cNvPicPr>
          <p:nvPr/>
        </p:nvPicPr>
        <p:blipFill>
          <a:blip r:embed="rId3"/>
          <a:stretch>
            <a:fillRect/>
          </a:stretch>
        </p:blipFill>
        <p:spPr>
          <a:xfrm>
            <a:off x="0" y="-9501"/>
            <a:ext cx="9144000" cy="3148486"/>
          </a:xfrm>
          <a:prstGeom prst="rect">
            <a:avLst/>
          </a:prstGeom>
        </p:spPr>
      </p:pic>
    </p:spTree>
    <p:extLst>
      <p:ext uri="{BB962C8B-B14F-4D97-AF65-F5344CB8AC3E}">
        <p14:creationId xmlns="" xmlns:p14="http://schemas.microsoft.com/office/powerpoint/2010/main" val="4116358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04716" y="1665027"/>
            <a:ext cx="8710683" cy="3121285"/>
          </a:xfrm>
          <a:prstGeom prst="rect">
            <a:avLst/>
          </a:prstGeom>
        </p:spPr>
      </p:pic>
      <p:sp>
        <p:nvSpPr>
          <p:cNvPr id="6" name="Slide Number Placeholder 5"/>
          <p:cNvSpPr>
            <a:spLocks noGrp="1"/>
          </p:cNvSpPr>
          <p:nvPr>
            <p:ph type="sldNum" sz="quarter" idx="12"/>
          </p:nvPr>
        </p:nvSpPr>
        <p:spPr/>
        <p:txBody>
          <a:bodyPr/>
          <a:lstStyle/>
          <a:p>
            <a:fld id="{2781ADA0-3BB4-460A-B7EB-C1A8DEAFE2E2}" type="slidenum">
              <a:rPr lang="en-US" smtClean="0"/>
              <a:pPr/>
              <a:t>29</a:t>
            </a:fld>
            <a:endParaRPr lang="en-US"/>
          </a:p>
        </p:txBody>
      </p:sp>
    </p:spTree>
    <p:extLst>
      <p:ext uri="{BB962C8B-B14F-4D97-AF65-F5344CB8AC3E}">
        <p14:creationId xmlns="" xmlns:p14="http://schemas.microsoft.com/office/powerpoint/2010/main" val="3543981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80349"/>
          </a:xfrm>
        </p:spPr>
        <p:txBody>
          <a:bodyPr/>
          <a:lstStyle/>
          <a:p>
            <a:pPr algn="ctr"/>
            <a:r>
              <a:rPr lang="en-US" b="1" dirty="0" smtClean="0"/>
              <a:t>Shortest Path</a:t>
            </a:r>
            <a:endParaRPr lang="en-US" b="1" dirty="0"/>
          </a:p>
        </p:txBody>
      </p:sp>
      <p:sp>
        <p:nvSpPr>
          <p:cNvPr id="3" name="Content Placeholder 2"/>
          <p:cNvSpPr>
            <a:spLocks noGrp="1"/>
          </p:cNvSpPr>
          <p:nvPr>
            <p:ph idx="1"/>
          </p:nvPr>
        </p:nvSpPr>
        <p:spPr>
          <a:xfrm>
            <a:off x="628650" y="1825626"/>
            <a:ext cx="7886700" cy="3869781"/>
          </a:xfrm>
        </p:spPr>
        <p:txBody>
          <a:bodyPr>
            <a:normAutofit fontScale="77500" lnSpcReduction="20000"/>
          </a:bodyPr>
          <a:lstStyle/>
          <a:p>
            <a:pPr marL="0" indent="0" algn="just">
              <a:buNone/>
            </a:pPr>
            <a:r>
              <a:rPr lang="en-US" dirty="0"/>
              <a:t>The target of shortest path algorithms is to find a route between any pair of vertices along the edges, so the sum of weights of edges is minimum. If the edges are of equal weights, the shortest path algorithm aims to find a route having minimum number </a:t>
            </a:r>
            <a:endParaRPr lang="en-US" dirty="0" smtClean="0"/>
          </a:p>
          <a:p>
            <a:pPr marL="0" indent="0">
              <a:buNone/>
            </a:pPr>
            <a:r>
              <a:rPr lang="en-US" b="1" dirty="0" smtClean="0"/>
              <a:t>Types of shortest path</a:t>
            </a:r>
          </a:p>
          <a:p>
            <a:r>
              <a:rPr lang="en-US" dirty="0" smtClean="0"/>
              <a:t>Bellman </a:t>
            </a:r>
            <a:r>
              <a:rPr lang="en-US" dirty="0"/>
              <a:t>Ford's </a:t>
            </a:r>
            <a:r>
              <a:rPr lang="en-US" dirty="0" smtClean="0"/>
              <a:t>Algorithm</a:t>
            </a:r>
          </a:p>
          <a:p>
            <a:r>
              <a:rPr lang="en-US" dirty="0" err="1"/>
              <a:t>Dijkstra's</a:t>
            </a:r>
            <a:r>
              <a:rPr lang="en-US" dirty="0"/>
              <a:t> </a:t>
            </a:r>
            <a:r>
              <a:rPr lang="en-US" dirty="0" smtClean="0"/>
              <a:t>Algorithm</a:t>
            </a:r>
          </a:p>
          <a:p>
            <a:r>
              <a:rPr lang="en-US" dirty="0"/>
              <a:t>Floyd </a:t>
            </a:r>
            <a:r>
              <a:rPr lang="en-US" dirty="0" err="1"/>
              <a:t>Warshall's</a:t>
            </a:r>
            <a:r>
              <a:rPr lang="en-US" dirty="0"/>
              <a:t> Algorithm</a:t>
            </a:r>
            <a:br>
              <a:rPr lang="en-US" dirty="0"/>
            </a:br>
            <a:r>
              <a:rPr lang="en-US" dirty="0" smtClean="0"/>
              <a:t/>
            </a:r>
            <a:br>
              <a:rPr lang="en-US" dirty="0" smtClean="0"/>
            </a:br>
            <a:endParaRPr lang="en-US" dirty="0"/>
          </a:p>
        </p:txBody>
      </p:sp>
    </p:spTree>
    <p:extLst>
      <p:ext uri="{BB962C8B-B14F-4D97-AF65-F5344CB8AC3E}">
        <p14:creationId xmlns:p14="http://schemas.microsoft.com/office/powerpoint/2010/main" xmlns="" val="2461944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23149"/>
          </a:xfrm>
        </p:spPr>
        <p:txBody>
          <a:bodyPr>
            <a:noAutofit/>
          </a:bodyPr>
          <a:lstStyle/>
          <a:p>
            <a:pPr algn="ctr"/>
            <a:r>
              <a:rPr lang="en-US" sz="3200" dirty="0" err="1" smtClean="0"/>
              <a:t>Dijkstra's</a:t>
            </a:r>
            <a:r>
              <a:rPr lang="en-US" sz="3200" dirty="0" smtClean="0"/>
              <a:t> Algorithm</a:t>
            </a:r>
            <a:endParaRPr lang="en-US" sz="3200" dirty="0"/>
          </a:p>
        </p:txBody>
      </p:sp>
      <p:sp>
        <p:nvSpPr>
          <p:cNvPr id="3" name="Content Placeholder 2"/>
          <p:cNvSpPr>
            <a:spLocks noGrp="1"/>
          </p:cNvSpPr>
          <p:nvPr>
            <p:ph idx="1"/>
          </p:nvPr>
        </p:nvSpPr>
        <p:spPr>
          <a:xfrm>
            <a:off x="501287" y="1094105"/>
            <a:ext cx="7886700" cy="4351338"/>
          </a:xfrm>
        </p:spPr>
        <p:txBody>
          <a:bodyPr>
            <a:normAutofit fontScale="55000" lnSpcReduction="20000"/>
          </a:bodyPr>
          <a:lstStyle/>
          <a:p>
            <a:pPr marL="0" indent="0">
              <a:buNone/>
            </a:pPr>
            <a:r>
              <a:rPr lang="en-US" dirty="0" err="1" smtClean="0"/>
              <a:t>Dijkstra's</a:t>
            </a:r>
            <a:r>
              <a:rPr lang="en-US" dirty="0" smtClean="0"/>
              <a:t> </a:t>
            </a:r>
            <a:r>
              <a:rPr lang="en-US" dirty="0"/>
              <a:t>algorithm has many variants but the most common one is to find the shortest paths from the source vertex to all other vertices in the graph.</a:t>
            </a:r>
          </a:p>
          <a:p>
            <a:pPr marL="0" indent="0">
              <a:buNone/>
            </a:pPr>
            <a:r>
              <a:rPr lang="en-US" b="1" dirty="0"/>
              <a:t>Algorithm Steps:</a:t>
            </a:r>
            <a:endParaRPr lang="en-US" dirty="0"/>
          </a:p>
          <a:p>
            <a:pPr marL="514350" indent="-514350">
              <a:buFont typeface="+mj-lt"/>
              <a:buAutoNum type="arabicPeriod"/>
            </a:pPr>
            <a:r>
              <a:rPr lang="en-US" dirty="0"/>
              <a:t>Set all vertices distances = infinity except for the source vertex, set the source distance = 0.</a:t>
            </a:r>
          </a:p>
          <a:p>
            <a:pPr marL="514350" indent="-514350">
              <a:buFont typeface="+mj-lt"/>
              <a:buAutoNum type="arabicPeriod"/>
            </a:pPr>
            <a:r>
              <a:rPr lang="en-US" dirty="0"/>
              <a:t>Push the source vertex in a min-priority queue in the form (distance , vertex), as the comparison in the min-priority queue will be according to vertices distances.</a:t>
            </a:r>
          </a:p>
          <a:p>
            <a:pPr marL="514350" indent="-514350">
              <a:buFont typeface="+mj-lt"/>
              <a:buAutoNum type="arabicPeriod"/>
            </a:pPr>
            <a:r>
              <a:rPr lang="en-US" dirty="0"/>
              <a:t>Pop the vertex with the minimum distance from the priority queue (at first the popped vertex = source).</a:t>
            </a:r>
          </a:p>
          <a:p>
            <a:pPr marL="514350" indent="-514350">
              <a:buFont typeface="+mj-lt"/>
              <a:buAutoNum type="arabicPeriod"/>
            </a:pPr>
            <a:r>
              <a:rPr lang="en-US" dirty="0"/>
              <a:t>Update the distances of the connected vertices to the popped vertex in case of "current vertex distance + edge weight &lt; next vertex distance", then push the vertex</a:t>
            </a:r>
            <a:br>
              <a:rPr lang="en-US" dirty="0"/>
            </a:br>
            <a:r>
              <a:rPr lang="en-US" dirty="0"/>
              <a:t>with the new distance to the priority queue.</a:t>
            </a:r>
          </a:p>
          <a:p>
            <a:pPr marL="514350" indent="-514350">
              <a:buFont typeface="+mj-lt"/>
              <a:buAutoNum type="arabicPeriod"/>
            </a:pPr>
            <a:r>
              <a:rPr lang="en-US" dirty="0"/>
              <a:t>If the popped vertex is visited before, just continue without using it.</a:t>
            </a:r>
          </a:p>
          <a:p>
            <a:pPr marL="514350" indent="-514350">
              <a:buFont typeface="+mj-lt"/>
              <a:buAutoNum type="arabicPeriod"/>
            </a:pPr>
            <a:r>
              <a:rPr lang="en-US" dirty="0"/>
              <a:t>Apply the same algorithm again until the priority queue is empty.</a:t>
            </a:r>
          </a:p>
          <a:p>
            <a:pPr marL="514350" indent="-514350">
              <a:buFont typeface="+mj-lt"/>
              <a:buAutoNum type="arabicPeriod"/>
            </a:pPr>
            <a:endParaRPr lang="en-US" dirty="0"/>
          </a:p>
        </p:txBody>
      </p:sp>
    </p:spTree>
    <p:extLst>
      <p:ext uri="{BB962C8B-B14F-4D97-AF65-F5344CB8AC3E}">
        <p14:creationId xmlns:p14="http://schemas.microsoft.com/office/powerpoint/2010/main" xmlns="" val="2445468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500563" y="182880"/>
            <a:ext cx="4257675" cy="3314700"/>
          </a:xfrm>
          <a:prstGeom prst="rect">
            <a:avLst/>
          </a:prstGeom>
        </p:spPr>
      </p:pic>
      <p:pic>
        <p:nvPicPr>
          <p:cNvPr id="9" name="Content Placeholder 8"/>
          <p:cNvPicPr>
            <a:picLocks noGrp="1" noChangeAspect="1"/>
          </p:cNvPicPr>
          <p:nvPr>
            <p:ph idx="1"/>
          </p:nvPr>
        </p:nvPicPr>
        <p:blipFill>
          <a:blip r:embed="rId3"/>
          <a:stretch>
            <a:fillRect/>
          </a:stretch>
        </p:blipFill>
        <p:spPr>
          <a:xfrm>
            <a:off x="4340134" y="3492501"/>
            <a:ext cx="4629150" cy="3171825"/>
          </a:xfrm>
          <a:prstGeom prst="rect">
            <a:avLst/>
          </a:prstGeom>
        </p:spPr>
      </p:pic>
      <p:pic>
        <p:nvPicPr>
          <p:cNvPr id="7" name="Picture 6"/>
          <p:cNvPicPr>
            <a:picLocks noChangeAspect="1"/>
          </p:cNvPicPr>
          <p:nvPr/>
        </p:nvPicPr>
        <p:blipFill>
          <a:blip r:embed="rId4"/>
          <a:stretch>
            <a:fillRect/>
          </a:stretch>
        </p:blipFill>
        <p:spPr>
          <a:xfrm>
            <a:off x="138998" y="182881"/>
            <a:ext cx="4281351" cy="3209925"/>
          </a:xfrm>
          <a:prstGeom prst="rect">
            <a:avLst/>
          </a:prstGeom>
        </p:spPr>
      </p:pic>
      <p:pic>
        <p:nvPicPr>
          <p:cNvPr id="8" name="Picture 7"/>
          <p:cNvPicPr>
            <a:picLocks noChangeAspect="1"/>
          </p:cNvPicPr>
          <p:nvPr/>
        </p:nvPicPr>
        <p:blipFill>
          <a:blip r:embed="rId5"/>
          <a:stretch>
            <a:fillRect/>
          </a:stretch>
        </p:blipFill>
        <p:spPr>
          <a:xfrm>
            <a:off x="127362" y="3492500"/>
            <a:ext cx="4212772" cy="3086100"/>
          </a:xfrm>
          <a:prstGeom prst="rect">
            <a:avLst/>
          </a:prstGeom>
        </p:spPr>
      </p:pic>
    </p:spTree>
    <p:extLst>
      <p:ext uri="{BB962C8B-B14F-4D97-AF65-F5344CB8AC3E}">
        <p14:creationId xmlns:p14="http://schemas.microsoft.com/office/powerpoint/2010/main" xmlns="" val="2836624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59149" y="156755"/>
            <a:ext cx="4519136" cy="3371850"/>
          </a:xfrm>
          <a:prstGeom prst="rect">
            <a:avLst/>
          </a:prstGeom>
        </p:spPr>
      </p:pic>
      <p:pic>
        <p:nvPicPr>
          <p:cNvPr id="5" name="Picture 4"/>
          <p:cNvPicPr>
            <a:picLocks noChangeAspect="1"/>
          </p:cNvPicPr>
          <p:nvPr/>
        </p:nvPicPr>
        <p:blipFill>
          <a:blip r:embed="rId3"/>
          <a:stretch>
            <a:fillRect/>
          </a:stretch>
        </p:blipFill>
        <p:spPr>
          <a:xfrm>
            <a:off x="1979023" y="3528606"/>
            <a:ext cx="5701937" cy="3237955"/>
          </a:xfrm>
          <a:prstGeom prst="rect">
            <a:avLst/>
          </a:prstGeom>
        </p:spPr>
      </p:pic>
    </p:spTree>
    <p:extLst>
      <p:ext uri="{BB962C8B-B14F-4D97-AF65-F5344CB8AC3E}">
        <p14:creationId xmlns:p14="http://schemas.microsoft.com/office/powerpoint/2010/main" xmlns="" val="2448417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 y="1463040"/>
            <a:ext cx="4398917" cy="3200400"/>
          </a:xfrm>
          <a:prstGeom prst="rect">
            <a:avLst/>
          </a:prstGeom>
        </p:spPr>
      </p:pic>
      <p:pic>
        <p:nvPicPr>
          <p:cNvPr id="5" name="Picture 4"/>
          <p:cNvPicPr>
            <a:picLocks noChangeAspect="1"/>
          </p:cNvPicPr>
          <p:nvPr/>
        </p:nvPicPr>
        <p:blipFill>
          <a:blip r:embed="rId3"/>
          <a:stretch>
            <a:fillRect/>
          </a:stretch>
        </p:blipFill>
        <p:spPr>
          <a:xfrm>
            <a:off x="4677319" y="1463040"/>
            <a:ext cx="3943350" cy="3200400"/>
          </a:xfrm>
          <a:prstGeom prst="rect">
            <a:avLst/>
          </a:prstGeom>
        </p:spPr>
      </p:pic>
    </p:spTree>
    <p:extLst>
      <p:ext uri="{BB962C8B-B14F-4D97-AF65-F5344CB8AC3E}">
        <p14:creationId xmlns:p14="http://schemas.microsoft.com/office/powerpoint/2010/main" xmlns="" val="3213380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8372"/>
            <a:ext cx="7886700" cy="706029"/>
          </a:xfrm>
        </p:spPr>
        <p:txBody>
          <a:bodyPr>
            <a:normAutofit fontScale="90000"/>
          </a:bodyPr>
          <a:lstStyle/>
          <a:p>
            <a:r>
              <a:rPr lang="en-US" dirty="0" smtClean="0"/>
              <a:t>MINIMUM SPANNING TREE</a:t>
            </a:r>
            <a:endParaRPr lang="en-US" dirty="0"/>
          </a:p>
        </p:txBody>
      </p:sp>
      <p:sp>
        <p:nvSpPr>
          <p:cNvPr id="3" name="Content Placeholder 2"/>
          <p:cNvSpPr>
            <a:spLocks noGrp="1"/>
          </p:cNvSpPr>
          <p:nvPr>
            <p:ph idx="1"/>
          </p:nvPr>
        </p:nvSpPr>
        <p:spPr>
          <a:xfrm>
            <a:off x="284118" y="914400"/>
            <a:ext cx="8650877" cy="5786846"/>
          </a:xfrm>
        </p:spPr>
        <p:txBody>
          <a:bodyPr>
            <a:normAutofit fontScale="70000" lnSpcReduction="20000"/>
          </a:bodyPr>
          <a:lstStyle/>
          <a:p>
            <a:pPr marL="0" indent="0">
              <a:buNone/>
            </a:pPr>
            <a:r>
              <a:rPr lang="en-US" b="1" dirty="0" smtClean="0"/>
              <a:t>What </a:t>
            </a:r>
            <a:r>
              <a:rPr lang="en-US" b="1" dirty="0"/>
              <a:t>is a Spanning Tree?</a:t>
            </a:r>
          </a:p>
          <a:p>
            <a:pPr marL="0" indent="0">
              <a:buNone/>
            </a:pPr>
            <a:r>
              <a:rPr lang="en-US" dirty="0" smtClean="0"/>
              <a:t>	Given </a:t>
            </a:r>
            <a:r>
              <a:rPr lang="en-US" dirty="0"/>
              <a:t>an undirected and connected graph G=(V,E), a spanning tree of the graph G is a tree that spans G (that is, it includes every vertex of G) and is a subgraph of G (every edge in the tree belongs to G</a:t>
            </a:r>
            <a:r>
              <a:rPr lang="en-US" dirty="0" smtClean="0"/>
              <a:t>)</a:t>
            </a:r>
            <a:endParaRPr lang="en-US" dirty="0"/>
          </a:p>
          <a:p>
            <a:pPr marL="0" indent="0">
              <a:buNone/>
            </a:pPr>
            <a:r>
              <a:rPr lang="en-US" b="1" dirty="0"/>
              <a:t>What is a Minimum Spanning Tree?</a:t>
            </a:r>
          </a:p>
          <a:p>
            <a:r>
              <a:rPr lang="en-US" dirty="0"/>
              <a:t>The cost of the spanning tree is the sum of the weights of all the edges in the tree. There can be many spanning trees. Minimum spanning tree is the spanning tree where the cost is minimum among all the spanning trees. There also can be many minimum spanning trees.</a:t>
            </a:r>
          </a:p>
          <a:p>
            <a:r>
              <a:rPr lang="en-US" dirty="0"/>
              <a:t>Minimum spanning tree has direct application in the design of networks. It is used in algorithms approximating the travelling salesman problem, multi-terminal minimum cut problem and minimum-cost weighted perfect matching. Other practical applications are:</a:t>
            </a:r>
          </a:p>
          <a:p>
            <a:pPr marL="0" indent="0">
              <a:buNone/>
            </a:pPr>
            <a:r>
              <a:rPr lang="en-US" dirty="0" smtClean="0"/>
              <a:t>	1. Cluster </a:t>
            </a:r>
            <a:r>
              <a:rPr lang="en-US" dirty="0"/>
              <a:t>Analysis</a:t>
            </a:r>
          </a:p>
          <a:p>
            <a:pPr marL="0" indent="0">
              <a:buNone/>
            </a:pPr>
            <a:r>
              <a:rPr lang="en-US" dirty="0" smtClean="0"/>
              <a:t>	2. Handwriting </a:t>
            </a:r>
            <a:r>
              <a:rPr lang="en-US" dirty="0"/>
              <a:t>recognition</a:t>
            </a:r>
          </a:p>
          <a:p>
            <a:pPr marL="0" indent="0">
              <a:buNone/>
            </a:pPr>
            <a:r>
              <a:rPr lang="en-US" dirty="0" smtClean="0"/>
              <a:t>	3. Image </a:t>
            </a:r>
            <a:r>
              <a:rPr lang="en-US" dirty="0"/>
              <a:t>segmentation</a:t>
            </a:r>
          </a:p>
          <a:p>
            <a:pPr marL="0" indent="0">
              <a:buNone/>
            </a:pPr>
            <a:r>
              <a:rPr lang="en-US" dirty="0" smtClean="0"/>
              <a:t/>
            </a:r>
            <a:br>
              <a:rPr lang="en-US" dirty="0" smtClean="0"/>
            </a:br>
            <a:endParaRPr lang="en-US" dirty="0"/>
          </a:p>
        </p:txBody>
      </p:sp>
    </p:spTree>
    <p:extLst>
      <p:ext uri="{BB962C8B-B14F-4D97-AF65-F5344CB8AC3E}">
        <p14:creationId xmlns:p14="http://schemas.microsoft.com/office/powerpoint/2010/main" xmlns="" val="2907750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54725" y="378822"/>
            <a:ext cx="8631283" cy="6204857"/>
          </a:xfrm>
        </p:spPr>
        <p:txBody>
          <a:bodyPr>
            <a:normAutofit lnSpcReduction="10000"/>
          </a:bodyPr>
          <a:lstStyle/>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a:p>
          <a:p>
            <a:pPr marL="0" indent="0">
              <a:buNone/>
            </a:pPr>
            <a:endParaRPr lang="en-US" b="1" dirty="0" smtClean="0"/>
          </a:p>
          <a:p>
            <a:pPr marL="0" indent="0">
              <a:buNone/>
            </a:pPr>
            <a:r>
              <a:rPr lang="en-US" b="1" dirty="0" smtClean="0"/>
              <a:t>Types of minimum spanning tree</a:t>
            </a:r>
          </a:p>
          <a:p>
            <a:r>
              <a:rPr lang="en-US" dirty="0" err="1"/>
              <a:t>Kruskal’s</a:t>
            </a:r>
            <a:r>
              <a:rPr lang="en-US" dirty="0"/>
              <a:t> Algorithm</a:t>
            </a:r>
          </a:p>
          <a:p>
            <a:r>
              <a:rPr lang="en-US" dirty="0"/>
              <a:t>Prim’s Algorithm</a:t>
            </a:r>
          </a:p>
          <a:p>
            <a:pPr marL="0" indent="0">
              <a:buNone/>
            </a:pPr>
            <a:endParaRPr lang="en-US" dirty="0"/>
          </a:p>
        </p:txBody>
      </p:sp>
      <p:pic>
        <p:nvPicPr>
          <p:cNvPr id="6" name="Picture 5"/>
          <p:cNvPicPr>
            <a:picLocks noChangeAspect="1"/>
          </p:cNvPicPr>
          <p:nvPr/>
        </p:nvPicPr>
        <p:blipFill>
          <a:blip r:embed="rId2"/>
          <a:stretch>
            <a:fillRect/>
          </a:stretch>
        </p:blipFill>
        <p:spPr>
          <a:xfrm>
            <a:off x="519249" y="680900"/>
            <a:ext cx="8239397" cy="3133454"/>
          </a:xfrm>
          <a:prstGeom prst="rect">
            <a:avLst/>
          </a:prstGeom>
        </p:spPr>
      </p:pic>
    </p:spTree>
    <p:extLst>
      <p:ext uri="{BB962C8B-B14F-4D97-AF65-F5344CB8AC3E}">
        <p14:creationId xmlns:p14="http://schemas.microsoft.com/office/powerpoint/2010/main" xmlns="" val="1181114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5335" y="130629"/>
            <a:ext cx="8641080" cy="6426925"/>
          </a:xfrm>
        </p:spPr>
        <p:txBody>
          <a:bodyPr/>
          <a:lstStyle/>
          <a:p>
            <a:pPr marL="0" indent="0">
              <a:buNone/>
            </a:pPr>
            <a:r>
              <a:rPr lang="en-US" sz="2300" b="1" dirty="0" err="1"/>
              <a:t>Kruskal’s</a:t>
            </a:r>
            <a:r>
              <a:rPr lang="en-US" sz="2300" b="1" dirty="0"/>
              <a:t> Algorithm</a:t>
            </a:r>
          </a:p>
          <a:p>
            <a:pPr marL="0" indent="0">
              <a:buNone/>
            </a:pPr>
            <a:r>
              <a:rPr lang="en-US" sz="2300" dirty="0" smtClean="0"/>
              <a:t>	</a:t>
            </a:r>
            <a:r>
              <a:rPr lang="en-US" sz="2300" dirty="0" err="1" smtClean="0"/>
              <a:t>Kruskal’s</a:t>
            </a:r>
            <a:r>
              <a:rPr lang="en-US" sz="2300" dirty="0" smtClean="0"/>
              <a:t> </a:t>
            </a:r>
            <a:r>
              <a:rPr lang="en-US" sz="2300" dirty="0"/>
              <a:t>Algorithm builds the spanning tree by adding edges one by one into a growing spanning tree. </a:t>
            </a:r>
            <a:r>
              <a:rPr lang="en-US" sz="2300" dirty="0" err="1"/>
              <a:t>Kruskal's</a:t>
            </a:r>
            <a:r>
              <a:rPr lang="en-US" sz="2300" dirty="0"/>
              <a:t> algorithm follows greedy approach as in each iteration it finds an edge which has least weight and add it to the growing spanning tree.</a:t>
            </a:r>
          </a:p>
          <a:p>
            <a:pPr marL="0" indent="0">
              <a:buNone/>
            </a:pPr>
            <a:r>
              <a:rPr lang="en-US" sz="2300" b="1" dirty="0"/>
              <a:t>Algorithm Steps:</a:t>
            </a:r>
            <a:endParaRPr lang="en-US" sz="2300" dirty="0"/>
          </a:p>
          <a:p>
            <a:r>
              <a:rPr lang="en-US" sz="2300" dirty="0"/>
              <a:t>Sort the graph edges with respect to their weights.</a:t>
            </a:r>
          </a:p>
          <a:p>
            <a:r>
              <a:rPr lang="en-US" sz="2300" dirty="0"/>
              <a:t>Start adding edges to the MST from the edge with the smallest weight until the edge of the largest weight.</a:t>
            </a:r>
          </a:p>
          <a:p>
            <a:r>
              <a:rPr lang="en-US" sz="2300" dirty="0"/>
              <a:t>Only add edges which doesn't form a cycle , edges which connect only disconnected components</a:t>
            </a:r>
            <a:r>
              <a:rPr lang="en-US" sz="2400" dirty="0"/>
              <a:t>.</a:t>
            </a:r>
          </a:p>
          <a:p>
            <a:pPr marL="0" indent="0">
              <a:buNone/>
            </a:pPr>
            <a:endParaRPr lang="en-US" dirty="0"/>
          </a:p>
        </p:txBody>
      </p:sp>
      <p:pic>
        <p:nvPicPr>
          <p:cNvPr id="4" name="Picture 3"/>
          <p:cNvPicPr>
            <a:picLocks noChangeAspect="1"/>
          </p:cNvPicPr>
          <p:nvPr/>
        </p:nvPicPr>
        <p:blipFill>
          <a:blip r:embed="rId2"/>
          <a:stretch>
            <a:fillRect/>
          </a:stretch>
        </p:blipFill>
        <p:spPr>
          <a:xfrm>
            <a:off x="891539" y="3997234"/>
            <a:ext cx="7004958" cy="2769327"/>
          </a:xfrm>
          <a:prstGeom prst="rect">
            <a:avLst/>
          </a:prstGeom>
        </p:spPr>
      </p:pic>
    </p:spTree>
    <p:extLst>
      <p:ext uri="{BB962C8B-B14F-4D97-AF65-F5344CB8AC3E}">
        <p14:creationId xmlns:p14="http://schemas.microsoft.com/office/powerpoint/2010/main" xmlns="" val="1389760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 y="264545"/>
            <a:ext cx="6877595" cy="3118735"/>
          </a:xfrm>
          <a:prstGeom prst="rect">
            <a:avLst/>
          </a:prstGeom>
        </p:spPr>
      </p:pic>
      <p:sp>
        <p:nvSpPr>
          <p:cNvPr id="6" name="Rectangle 5"/>
          <p:cNvSpPr/>
          <p:nvPr/>
        </p:nvSpPr>
        <p:spPr>
          <a:xfrm>
            <a:off x="254725" y="3904851"/>
            <a:ext cx="8621486" cy="3139321"/>
          </a:xfrm>
          <a:prstGeom prst="rect">
            <a:avLst/>
          </a:prstGeom>
        </p:spPr>
        <p:txBody>
          <a:bodyPr wrap="square">
            <a:spAutoFit/>
          </a:bodyPr>
          <a:lstStyle/>
          <a:p>
            <a:r>
              <a:rPr lang="en-US" b="0" i="0" dirty="0" smtClean="0">
                <a:solidFill>
                  <a:srgbClr val="252C33"/>
                </a:solidFill>
                <a:effectLst/>
                <a:latin typeface="proxima-nova"/>
              </a:rPr>
              <a:t>In </a:t>
            </a:r>
            <a:r>
              <a:rPr lang="en-US" b="0" i="0" dirty="0" err="1" smtClean="0">
                <a:solidFill>
                  <a:srgbClr val="252C33"/>
                </a:solidFill>
                <a:effectLst/>
                <a:latin typeface="proxima-nova"/>
              </a:rPr>
              <a:t>Kruskal’s</a:t>
            </a:r>
            <a:r>
              <a:rPr lang="en-US" b="0" i="0" dirty="0" smtClean="0">
                <a:solidFill>
                  <a:srgbClr val="252C33"/>
                </a:solidFill>
                <a:effectLst/>
                <a:latin typeface="proxima-nova"/>
              </a:rPr>
              <a:t> algorithm, at each iteration we will select the edge with the lowest weight. So, we will start with the lowest weighted edge first i.e., the edges with weight 1. After that we will select the second lowest weighted edge i.e., edge with weight 2. Notice these two edges are totally disjoint. Now, the next edge will be the third lowest weighted edge i.e., edge with weight 3, which connects the two disjoint pieces of the graph. Now, we are not allowed to pick the edge with weight 4, that will create a cycle and we can’t have any cycles. So we will select the fifth lowest weighted edge i.e., edge with weight 5. Now the other two edges will create cycles so we will ignore them. In the end, we end up with a minimum spanning tree with total cost 11 ( = 1 + 2 + 3 + 5).</a:t>
            </a:r>
          </a:p>
          <a:p>
            <a:endParaRPr lang="en-US" b="0" i="0" dirty="0">
              <a:solidFill>
                <a:srgbClr val="252C33"/>
              </a:solidFill>
              <a:effectLst/>
              <a:latin typeface="proxima-nova"/>
            </a:endParaRPr>
          </a:p>
        </p:txBody>
      </p:sp>
      <p:pic>
        <p:nvPicPr>
          <p:cNvPr id="7" name="Picture 6"/>
          <p:cNvPicPr>
            <a:picLocks noChangeAspect="1"/>
          </p:cNvPicPr>
          <p:nvPr/>
        </p:nvPicPr>
        <p:blipFill>
          <a:blip r:embed="rId3"/>
          <a:stretch>
            <a:fillRect/>
          </a:stretch>
        </p:blipFill>
        <p:spPr>
          <a:xfrm>
            <a:off x="6877595" y="264543"/>
            <a:ext cx="2200275" cy="3118735"/>
          </a:xfrm>
          <a:prstGeom prst="rect">
            <a:avLst/>
          </a:prstGeom>
        </p:spPr>
      </p:pic>
    </p:spTree>
    <p:extLst>
      <p:ext uri="{BB962C8B-B14F-4D97-AF65-F5344CB8AC3E}">
        <p14:creationId xmlns:p14="http://schemas.microsoft.com/office/powerpoint/2010/main" xmlns="" val="41409503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929" y="287382"/>
            <a:ext cx="8719457" cy="6453051"/>
          </a:xfrm>
        </p:spPr>
        <p:txBody>
          <a:bodyPr>
            <a:normAutofit/>
          </a:bodyPr>
          <a:lstStyle/>
          <a:p>
            <a:pPr marL="0" indent="0">
              <a:buNone/>
            </a:pPr>
            <a:r>
              <a:rPr lang="en-US" sz="2300" b="1" dirty="0"/>
              <a:t>Prim’s Algorithm</a:t>
            </a:r>
          </a:p>
          <a:p>
            <a:pPr marL="0" indent="0">
              <a:buNone/>
            </a:pPr>
            <a:r>
              <a:rPr lang="en-US" sz="2300" dirty="0" smtClean="0"/>
              <a:t>	Prim’s </a:t>
            </a:r>
            <a:r>
              <a:rPr lang="en-US" sz="2300" dirty="0"/>
              <a:t>Algorithm also use Greedy approach to find the minimum spanning tree. In Prim’s Algorithm we grow the spanning tree from a starting position. Unlike an </a:t>
            </a:r>
            <a:r>
              <a:rPr lang="en-US" sz="2300" b="1" dirty="0"/>
              <a:t>edge</a:t>
            </a:r>
            <a:r>
              <a:rPr lang="en-US" sz="2300" dirty="0"/>
              <a:t> in </a:t>
            </a:r>
            <a:r>
              <a:rPr lang="en-US" sz="2300" dirty="0" err="1"/>
              <a:t>Kruskal's</a:t>
            </a:r>
            <a:r>
              <a:rPr lang="en-US" sz="2300" dirty="0"/>
              <a:t>, we add </a:t>
            </a:r>
            <a:r>
              <a:rPr lang="en-US" sz="2300" b="1" dirty="0"/>
              <a:t>vertex</a:t>
            </a:r>
            <a:r>
              <a:rPr lang="en-US" sz="2300" dirty="0"/>
              <a:t> to the growing spanning tree in Prim's.</a:t>
            </a:r>
          </a:p>
          <a:p>
            <a:pPr marL="0" indent="0">
              <a:buNone/>
            </a:pPr>
            <a:r>
              <a:rPr lang="en-US" sz="2300" b="1" dirty="0"/>
              <a:t>Algorithm Steps:</a:t>
            </a:r>
            <a:endParaRPr lang="en-US" sz="2300" dirty="0"/>
          </a:p>
          <a:p>
            <a:r>
              <a:rPr lang="en-US" sz="2300" dirty="0"/>
              <a:t>Maintain two disjoint sets of vertices. One containing vertices that are in the growing spanning tree and other that are not in the growing spanning tree.</a:t>
            </a:r>
          </a:p>
          <a:p>
            <a:r>
              <a:rPr lang="en-US" sz="2300" dirty="0"/>
              <a:t>Select the cheapest vertex that is connected to the growing spanning tree and is not in the growing spanning tree and add it into the growing spanning tree. This can be done using Priority Queues. Insert the vertices, that are connected to growing spanning tree, into the Priority Queue.</a:t>
            </a:r>
          </a:p>
          <a:p>
            <a:r>
              <a:rPr lang="en-US" sz="2300" dirty="0"/>
              <a:t>Check for cycles. To do that, mark the nodes which have been already selected and insert only those nodes in the Priority Queue that are not marked.</a:t>
            </a:r>
          </a:p>
          <a:p>
            <a:endParaRPr lang="en-US" dirty="0"/>
          </a:p>
        </p:txBody>
      </p:sp>
    </p:spTree>
    <p:extLst>
      <p:ext uri="{BB962C8B-B14F-4D97-AF65-F5344CB8AC3E}">
        <p14:creationId xmlns:p14="http://schemas.microsoft.com/office/powerpoint/2010/main" xmlns="" val="597048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60121" y="0"/>
            <a:ext cx="6926580" cy="2305050"/>
          </a:xfrm>
          <a:prstGeom prst="rect">
            <a:avLst/>
          </a:prstGeom>
        </p:spPr>
      </p:pic>
      <p:pic>
        <p:nvPicPr>
          <p:cNvPr id="5" name="Picture 4"/>
          <p:cNvPicPr>
            <a:picLocks noChangeAspect="1"/>
          </p:cNvPicPr>
          <p:nvPr/>
        </p:nvPicPr>
        <p:blipFill>
          <a:blip r:embed="rId3"/>
          <a:stretch>
            <a:fillRect/>
          </a:stretch>
        </p:blipFill>
        <p:spPr>
          <a:xfrm>
            <a:off x="1048295" y="2305050"/>
            <a:ext cx="6926580" cy="2428875"/>
          </a:xfrm>
          <a:prstGeom prst="rect">
            <a:avLst/>
          </a:prstGeom>
        </p:spPr>
      </p:pic>
      <p:sp>
        <p:nvSpPr>
          <p:cNvPr id="6" name="Rectangle 5"/>
          <p:cNvSpPr/>
          <p:nvPr/>
        </p:nvSpPr>
        <p:spPr>
          <a:xfrm>
            <a:off x="323307" y="4733926"/>
            <a:ext cx="8200208" cy="2862322"/>
          </a:xfrm>
          <a:prstGeom prst="rect">
            <a:avLst/>
          </a:prstGeom>
        </p:spPr>
        <p:txBody>
          <a:bodyPr wrap="square">
            <a:spAutoFit/>
          </a:bodyPr>
          <a:lstStyle/>
          <a:p>
            <a:r>
              <a:rPr lang="en-US" b="0" i="0" dirty="0" smtClean="0">
                <a:solidFill>
                  <a:srgbClr val="252C33"/>
                </a:solidFill>
                <a:effectLst/>
                <a:latin typeface="proxima-nova"/>
              </a:rPr>
              <a:t>In Prim’s Algorithm, we will start with an arbitrary node (it doesn’t matter which one) and mark it. In each iteration we will mark a new vertex that is adjacent to the one that we have already marked. As a greedy algorithm, Prim’s algorithm will select the cheapest edge and mark the vertex. So we will simply choose the edge with weight 1. In the next iteration we have three options, edges with weight 2, 3 and 4. So, we will select the edge with weight 2 and mark the vertex. Now again we have three options, edges with weight 3, 4 and 5. But we can’t choose edge with weight 3 as it is creating a cycle. So we will select the edge with weight 4 and we end up with the minimum spanning tree of total cost 7 ( = 1 + 2 +4).</a:t>
            </a:r>
            <a:endParaRPr lang="en-US" dirty="0"/>
          </a:p>
        </p:txBody>
      </p:sp>
    </p:spTree>
    <p:extLst>
      <p:ext uri="{BB962C8B-B14F-4D97-AF65-F5344CB8AC3E}">
        <p14:creationId xmlns:p14="http://schemas.microsoft.com/office/powerpoint/2010/main" xmlns="" val="3002782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439718"/>
          </a:xfrm>
        </p:spPr>
        <p:txBody>
          <a:bodyPr>
            <a:normAutofit fontScale="90000"/>
          </a:bodyPr>
          <a:lstStyle/>
          <a:p>
            <a:r>
              <a:rPr lang="en-IN" dirty="0" smtClean="0"/>
              <a:t>Applications of Graphs</a:t>
            </a:r>
            <a:endParaRPr lang="en-US" dirty="0"/>
          </a:p>
        </p:txBody>
      </p:sp>
      <p:sp>
        <p:nvSpPr>
          <p:cNvPr id="3" name="Content Placeholder 2"/>
          <p:cNvSpPr>
            <a:spLocks noGrp="1"/>
          </p:cNvSpPr>
          <p:nvPr>
            <p:ph idx="1"/>
          </p:nvPr>
        </p:nvSpPr>
        <p:spPr>
          <a:xfrm>
            <a:off x="457200" y="785794"/>
            <a:ext cx="8229600" cy="5786478"/>
          </a:xfrm>
        </p:spPr>
        <p:txBody>
          <a:bodyPr>
            <a:normAutofit fontScale="47500" lnSpcReduction="20000"/>
          </a:bodyPr>
          <a:lstStyle/>
          <a:p>
            <a:pPr>
              <a:buNone/>
            </a:pPr>
            <a:r>
              <a:rPr lang="en-US" b="1" dirty="0" smtClean="0"/>
              <a:t>1. Social Networks</a:t>
            </a:r>
          </a:p>
          <a:p>
            <a:r>
              <a:rPr lang="en-US" b="1" dirty="0" smtClean="0"/>
              <a:t>Graph Representation</a:t>
            </a:r>
            <a:r>
              <a:rPr lang="en-US" dirty="0" smtClean="0"/>
              <a:t>: Users are nodes; relationships (friends, followers) are edges.</a:t>
            </a:r>
          </a:p>
          <a:p>
            <a:r>
              <a:rPr lang="en-US" b="1" dirty="0" smtClean="0"/>
              <a:t>Use Case</a:t>
            </a:r>
            <a:r>
              <a:rPr lang="en-US" dirty="0" smtClean="0"/>
              <a:t>:</a:t>
            </a:r>
          </a:p>
          <a:p>
            <a:pPr lvl="1"/>
            <a:r>
              <a:rPr lang="en-US" dirty="0" smtClean="0"/>
              <a:t>Suggesting friends (common neighbors),</a:t>
            </a:r>
          </a:p>
          <a:p>
            <a:pPr lvl="1"/>
            <a:r>
              <a:rPr lang="en-US" dirty="0" smtClean="0"/>
              <a:t>Influencer detection (centrality),</a:t>
            </a:r>
          </a:p>
          <a:p>
            <a:pPr lvl="1"/>
            <a:r>
              <a:rPr lang="en-US" dirty="0" smtClean="0"/>
              <a:t>Community detection.</a:t>
            </a:r>
          </a:p>
          <a:p>
            <a:pPr>
              <a:buNone/>
            </a:pPr>
            <a:r>
              <a:rPr lang="en-US" b="1" dirty="0" smtClean="0"/>
              <a:t>2. Routing and Navigation</a:t>
            </a:r>
          </a:p>
          <a:p>
            <a:r>
              <a:rPr lang="en-US" b="1" dirty="0" smtClean="0"/>
              <a:t>Graph Representation</a:t>
            </a:r>
            <a:r>
              <a:rPr lang="en-US" dirty="0" smtClean="0"/>
              <a:t>: Locations (cities, intersections) as nodes; roads as edges.</a:t>
            </a:r>
          </a:p>
          <a:p>
            <a:r>
              <a:rPr lang="en-US" b="1" dirty="0" smtClean="0"/>
              <a:t>Use Case</a:t>
            </a:r>
            <a:r>
              <a:rPr lang="en-US" dirty="0" smtClean="0"/>
              <a:t>:</a:t>
            </a:r>
          </a:p>
          <a:p>
            <a:pPr lvl="1"/>
            <a:r>
              <a:rPr lang="en-US" dirty="0" smtClean="0"/>
              <a:t>GPS systems (Google Maps),</a:t>
            </a:r>
          </a:p>
          <a:p>
            <a:pPr lvl="1"/>
            <a:r>
              <a:rPr lang="en-US" dirty="0" smtClean="0"/>
              <a:t>Finding shortest or fastest route using algorithms like </a:t>
            </a:r>
            <a:r>
              <a:rPr lang="en-US" b="1" dirty="0" err="1" smtClean="0"/>
              <a:t>Dijkstra</a:t>
            </a:r>
            <a:r>
              <a:rPr lang="en-US" dirty="0" smtClean="0"/>
              <a:t>, </a:t>
            </a:r>
            <a:r>
              <a:rPr lang="en-US" b="1" dirty="0" smtClean="0"/>
              <a:t>A</a:t>
            </a:r>
            <a:r>
              <a:rPr lang="en-US" dirty="0" smtClean="0"/>
              <a:t>*.</a:t>
            </a:r>
          </a:p>
          <a:p>
            <a:pPr>
              <a:buNone/>
            </a:pPr>
            <a:r>
              <a:rPr lang="en-US" b="1" dirty="0" smtClean="0"/>
              <a:t>3. Web Page Ranking</a:t>
            </a:r>
          </a:p>
          <a:p>
            <a:r>
              <a:rPr lang="en-US" b="1" dirty="0" smtClean="0"/>
              <a:t>Graph Representation</a:t>
            </a:r>
            <a:r>
              <a:rPr lang="en-US" dirty="0" smtClean="0"/>
              <a:t>: </a:t>
            </a:r>
            <a:r>
              <a:rPr lang="en-US" dirty="0" err="1" smtClean="0"/>
              <a:t>Webpages</a:t>
            </a:r>
            <a:r>
              <a:rPr lang="en-US" dirty="0" smtClean="0"/>
              <a:t> as nodes, hyperlinks as directed edges.</a:t>
            </a:r>
          </a:p>
          <a:p>
            <a:r>
              <a:rPr lang="en-US" b="1" dirty="0" smtClean="0"/>
              <a:t>Use Case</a:t>
            </a:r>
            <a:r>
              <a:rPr lang="en-US" dirty="0" smtClean="0"/>
              <a:t>:</a:t>
            </a:r>
          </a:p>
          <a:p>
            <a:pPr lvl="1"/>
            <a:r>
              <a:rPr lang="en-US" b="1" dirty="0" err="1" smtClean="0"/>
              <a:t>PageRank</a:t>
            </a:r>
            <a:r>
              <a:rPr lang="en-US" b="1" dirty="0" smtClean="0"/>
              <a:t> algorithm</a:t>
            </a:r>
            <a:r>
              <a:rPr lang="en-US" dirty="0" smtClean="0"/>
              <a:t> (used by Google),</a:t>
            </a:r>
          </a:p>
          <a:p>
            <a:pPr lvl="1"/>
            <a:r>
              <a:rPr lang="en-US" dirty="0" smtClean="0"/>
              <a:t>Finding most "important" pages based on link structure.</a:t>
            </a:r>
          </a:p>
          <a:p>
            <a:pPr>
              <a:buNone/>
            </a:pPr>
            <a:r>
              <a:rPr lang="en-US" b="1" dirty="0" smtClean="0"/>
              <a:t>4. Network Design</a:t>
            </a:r>
          </a:p>
          <a:p>
            <a:r>
              <a:rPr lang="en-US" b="1" dirty="0" smtClean="0"/>
              <a:t>Graph Representation</a:t>
            </a:r>
            <a:r>
              <a:rPr lang="en-US" dirty="0" smtClean="0"/>
              <a:t>: Devices as nodes; cables, connections as edges.</a:t>
            </a:r>
          </a:p>
          <a:p>
            <a:r>
              <a:rPr lang="en-US" b="1" dirty="0" smtClean="0"/>
              <a:t>Use Case</a:t>
            </a:r>
            <a:r>
              <a:rPr lang="en-US" dirty="0" smtClean="0"/>
              <a:t>:</a:t>
            </a:r>
          </a:p>
          <a:p>
            <a:pPr lvl="1"/>
            <a:r>
              <a:rPr lang="en-US" dirty="0" smtClean="0"/>
              <a:t>Design minimal-cost networks using </a:t>
            </a:r>
            <a:r>
              <a:rPr lang="en-US" b="1" dirty="0" smtClean="0"/>
              <a:t>Minimum Spanning Tree (MST)</a:t>
            </a:r>
            <a:r>
              <a:rPr lang="en-US" dirty="0" smtClean="0"/>
              <a:t> algorithms (</a:t>
            </a:r>
            <a:r>
              <a:rPr lang="en-US" dirty="0" err="1" smtClean="0"/>
              <a:t>Kruskal’s</a:t>
            </a:r>
            <a:r>
              <a:rPr lang="en-US" dirty="0" smtClean="0"/>
              <a:t>, Prim’s),</a:t>
            </a:r>
          </a:p>
          <a:p>
            <a:pPr lvl="1"/>
            <a:r>
              <a:rPr lang="en-US" dirty="0" smtClean="0"/>
              <a:t>Load balancing and fault tolerance.</a:t>
            </a:r>
          </a:p>
          <a:p>
            <a:pPr>
              <a:buNone/>
            </a:pPr>
            <a:r>
              <a:rPr lang="en-US" b="1" dirty="0" smtClean="0"/>
              <a:t>5. Dependency Resolution</a:t>
            </a:r>
          </a:p>
          <a:p>
            <a:r>
              <a:rPr lang="en-US" b="1" dirty="0" smtClean="0"/>
              <a:t>Graph Representation</a:t>
            </a:r>
            <a:r>
              <a:rPr lang="en-US" dirty="0" smtClean="0"/>
              <a:t>: Tasks/modules as nodes; dependencies as edges.</a:t>
            </a:r>
          </a:p>
          <a:p>
            <a:r>
              <a:rPr lang="en-US" b="1" dirty="0" smtClean="0"/>
              <a:t>Use Case</a:t>
            </a:r>
            <a:r>
              <a:rPr lang="en-US" dirty="0" smtClean="0"/>
              <a:t>:</a:t>
            </a:r>
          </a:p>
          <a:p>
            <a:pPr lvl="1"/>
            <a:r>
              <a:rPr lang="en-US" b="1" dirty="0" smtClean="0"/>
              <a:t>Build systems (</a:t>
            </a:r>
            <a:r>
              <a:rPr lang="en-US" b="1" dirty="0" err="1" smtClean="0"/>
              <a:t>Makefiles</a:t>
            </a:r>
            <a:r>
              <a:rPr lang="en-US" b="1" dirty="0" smtClean="0"/>
              <a:t>, compilers)</a:t>
            </a:r>
            <a:r>
              <a:rPr lang="en-US" dirty="0" smtClean="0"/>
              <a:t> to resolve compilation order,</a:t>
            </a:r>
          </a:p>
          <a:p>
            <a:pPr lvl="1"/>
            <a:r>
              <a:rPr lang="en-US" b="1" dirty="0" smtClean="0"/>
              <a:t>Package managers</a:t>
            </a:r>
            <a:r>
              <a:rPr lang="en-US" dirty="0" smtClean="0"/>
              <a:t> (like </a:t>
            </a:r>
            <a:r>
              <a:rPr lang="en-US" dirty="0" err="1" smtClean="0"/>
              <a:t>npm</a:t>
            </a:r>
            <a:r>
              <a:rPr lang="en-US" dirty="0" smtClean="0"/>
              <a:t>, pip) resolve and install dependencies using </a:t>
            </a:r>
            <a:r>
              <a:rPr lang="en-US" b="1" dirty="0" smtClean="0"/>
              <a:t>Topological Sorting</a:t>
            </a:r>
            <a:r>
              <a:rPr lang="en-US" dirty="0" smtClean="0"/>
              <a:t>.</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511156"/>
          </a:xfrm>
        </p:spPr>
        <p:txBody>
          <a:bodyPr>
            <a:normAutofit fontScale="90000"/>
          </a:bodyPr>
          <a:lstStyle/>
          <a:p>
            <a:r>
              <a:rPr lang="en-IN" dirty="0" smtClean="0"/>
              <a:t>Applications of Graph</a:t>
            </a:r>
            <a:endParaRPr lang="en-US" dirty="0"/>
          </a:p>
        </p:txBody>
      </p:sp>
      <p:sp>
        <p:nvSpPr>
          <p:cNvPr id="3" name="Content Placeholder 2"/>
          <p:cNvSpPr>
            <a:spLocks noGrp="1"/>
          </p:cNvSpPr>
          <p:nvPr>
            <p:ph idx="1"/>
          </p:nvPr>
        </p:nvSpPr>
        <p:spPr>
          <a:xfrm>
            <a:off x="457200" y="857232"/>
            <a:ext cx="8229600" cy="5857916"/>
          </a:xfrm>
        </p:spPr>
        <p:txBody>
          <a:bodyPr>
            <a:normAutofit fontScale="47500" lnSpcReduction="20000"/>
          </a:bodyPr>
          <a:lstStyle/>
          <a:p>
            <a:r>
              <a:rPr lang="en-US" b="1" dirty="0" smtClean="0"/>
              <a:t>6. Recommendation Systems</a:t>
            </a:r>
          </a:p>
          <a:p>
            <a:r>
              <a:rPr lang="en-US" b="1" dirty="0" smtClean="0"/>
              <a:t>Graph Representation</a:t>
            </a:r>
            <a:r>
              <a:rPr lang="en-US" dirty="0" smtClean="0"/>
              <a:t>: Users, products as nodes; purchases/ratings as edges.</a:t>
            </a:r>
          </a:p>
          <a:p>
            <a:r>
              <a:rPr lang="en-US" b="1" dirty="0" smtClean="0"/>
              <a:t>Use Case</a:t>
            </a:r>
            <a:r>
              <a:rPr lang="en-US" dirty="0" smtClean="0"/>
              <a:t>:</a:t>
            </a:r>
          </a:p>
          <a:p>
            <a:pPr lvl="1"/>
            <a:r>
              <a:rPr lang="en-US" dirty="0" smtClean="0"/>
              <a:t>Collaborative filtering using </a:t>
            </a:r>
            <a:r>
              <a:rPr lang="en-US" b="1" dirty="0" smtClean="0"/>
              <a:t>bipartite graphs</a:t>
            </a:r>
            <a:r>
              <a:rPr lang="en-US" dirty="0" smtClean="0"/>
              <a:t>,</a:t>
            </a:r>
          </a:p>
          <a:p>
            <a:pPr lvl="1"/>
            <a:r>
              <a:rPr lang="en-US" dirty="0" smtClean="0"/>
              <a:t>Finding similar users/items based on graph structure.</a:t>
            </a:r>
          </a:p>
          <a:p>
            <a:r>
              <a:rPr lang="en-US" b="1" dirty="0" smtClean="0"/>
              <a:t>7. Path Finding &amp; Maze Solving</a:t>
            </a:r>
          </a:p>
          <a:p>
            <a:r>
              <a:rPr lang="en-US" b="1" dirty="0" smtClean="0"/>
              <a:t>Graph Representation</a:t>
            </a:r>
            <a:r>
              <a:rPr lang="en-US" dirty="0" smtClean="0"/>
              <a:t>: Maze cells or grid tiles as nodes; possible movements as edges.</a:t>
            </a:r>
          </a:p>
          <a:p>
            <a:r>
              <a:rPr lang="en-US" b="1" dirty="0" smtClean="0"/>
              <a:t>Use Case</a:t>
            </a:r>
            <a:r>
              <a:rPr lang="en-US" dirty="0" smtClean="0"/>
              <a:t>:</a:t>
            </a:r>
          </a:p>
          <a:p>
            <a:pPr lvl="1"/>
            <a:r>
              <a:rPr lang="en-US" dirty="0" smtClean="0"/>
              <a:t>Games, AI, robotics use BFS, DFS, A* for movement and search.</a:t>
            </a:r>
          </a:p>
          <a:p>
            <a:r>
              <a:rPr lang="en-US" b="1" dirty="0" smtClean="0"/>
              <a:t>8. Cycle Detection</a:t>
            </a:r>
          </a:p>
          <a:p>
            <a:r>
              <a:rPr lang="en-US" b="1" dirty="0" smtClean="0"/>
              <a:t>Use Case</a:t>
            </a:r>
            <a:r>
              <a:rPr lang="en-US" dirty="0" smtClean="0"/>
              <a:t>:</a:t>
            </a:r>
          </a:p>
          <a:p>
            <a:pPr lvl="1"/>
            <a:r>
              <a:rPr lang="en-US" b="1" dirty="0" smtClean="0"/>
              <a:t>Deadlock detection</a:t>
            </a:r>
            <a:r>
              <a:rPr lang="en-US" dirty="0" smtClean="0"/>
              <a:t> in OS,</a:t>
            </a:r>
          </a:p>
          <a:p>
            <a:pPr lvl="1"/>
            <a:r>
              <a:rPr lang="en-US" dirty="0" smtClean="0"/>
              <a:t>Detecting circular dependencies in spreadsheets or software packages.</a:t>
            </a:r>
          </a:p>
          <a:p>
            <a:r>
              <a:rPr lang="en-US" b="1" dirty="0" smtClean="0"/>
              <a:t>9. Knowledge Graphs</a:t>
            </a:r>
          </a:p>
          <a:p>
            <a:r>
              <a:rPr lang="en-US" b="1" dirty="0" smtClean="0"/>
              <a:t>Graph Representation</a:t>
            </a:r>
            <a:r>
              <a:rPr lang="en-US" dirty="0" smtClean="0"/>
              <a:t>: Entities (people, places, events) as nodes; relationships as edges.</a:t>
            </a:r>
          </a:p>
          <a:p>
            <a:r>
              <a:rPr lang="en-US" b="1" dirty="0" smtClean="0"/>
              <a:t>Use Case</a:t>
            </a:r>
            <a:r>
              <a:rPr lang="en-US" dirty="0" smtClean="0"/>
              <a:t>:</a:t>
            </a:r>
          </a:p>
          <a:p>
            <a:pPr lvl="1"/>
            <a:r>
              <a:rPr lang="en-US" dirty="0" smtClean="0"/>
              <a:t>Semantic search, AI reasoning, </a:t>
            </a:r>
            <a:r>
              <a:rPr lang="en-US" dirty="0" err="1" smtClean="0"/>
              <a:t>chatbots</a:t>
            </a:r>
            <a:r>
              <a:rPr lang="en-US" dirty="0" smtClean="0"/>
              <a:t>.</a:t>
            </a:r>
          </a:p>
          <a:p>
            <a:r>
              <a:rPr lang="en-US" b="1" dirty="0" smtClean="0"/>
              <a:t>10. Modeling State Machines</a:t>
            </a:r>
          </a:p>
          <a:p>
            <a:r>
              <a:rPr lang="en-US" b="1" dirty="0" smtClean="0"/>
              <a:t>Graph Representation</a:t>
            </a:r>
            <a:r>
              <a:rPr lang="en-US" dirty="0" smtClean="0"/>
              <a:t>: States as nodes; transitions as edges.</a:t>
            </a:r>
          </a:p>
          <a:p>
            <a:r>
              <a:rPr lang="en-US" b="1" dirty="0" smtClean="0"/>
              <a:t>Use Case</a:t>
            </a:r>
            <a:r>
              <a:rPr lang="en-US" dirty="0" smtClean="0"/>
              <a:t>:</a:t>
            </a:r>
          </a:p>
          <a:p>
            <a:pPr lvl="1"/>
            <a:r>
              <a:rPr lang="en-US" dirty="0" smtClean="0"/>
              <a:t>Finite automata,</a:t>
            </a:r>
          </a:p>
          <a:p>
            <a:pPr lvl="1"/>
            <a:r>
              <a:rPr lang="en-US" dirty="0" smtClean="0"/>
              <a:t>Software modeling (e.g., user interfaces, game levels).</a:t>
            </a:r>
          </a:p>
          <a:p>
            <a:pPr>
              <a:buNone/>
            </a:pP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1745</Words>
  <Application>Microsoft Office PowerPoint</Application>
  <PresentationFormat>On-screen Show (4:3)</PresentationFormat>
  <Paragraphs>202</Paragraphs>
  <Slides>42</Slides>
  <Notes>1</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UNIT 4 – GRAPH DATA STRUCTURES</vt:lpstr>
      <vt:lpstr>DEFINITION OF GRAPH</vt:lpstr>
      <vt:lpstr>GRAPH TERMINOLOGY</vt:lpstr>
      <vt:lpstr>Types of Graphs</vt:lpstr>
      <vt:lpstr>Slide 5</vt:lpstr>
      <vt:lpstr>Slide 6</vt:lpstr>
      <vt:lpstr>Slide 7</vt:lpstr>
      <vt:lpstr>Slide 8</vt:lpstr>
      <vt:lpstr>Slide 9</vt:lpstr>
      <vt:lpstr>Slide 10</vt:lpstr>
      <vt:lpstr>Slide 11</vt:lpstr>
      <vt:lpstr>Graph Traversals</vt:lpstr>
      <vt:lpstr>DFS (Depth First Search) </vt:lpstr>
      <vt:lpstr>Slide 14</vt:lpstr>
      <vt:lpstr>Slide 15</vt:lpstr>
      <vt:lpstr>Slide 16</vt:lpstr>
      <vt:lpstr>Slide 17</vt:lpstr>
      <vt:lpstr>Slide 18</vt:lpstr>
      <vt:lpstr>Slide 19</vt:lpstr>
      <vt:lpstr>Slide 20</vt:lpstr>
      <vt:lpstr>Slide 21</vt:lpstr>
      <vt:lpstr>Slide 22</vt:lpstr>
      <vt:lpstr>BFS (Breadth First Search) </vt:lpstr>
      <vt:lpstr>Slide 24</vt:lpstr>
      <vt:lpstr>Slide 25</vt:lpstr>
      <vt:lpstr>Slide 26</vt:lpstr>
      <vt:lpstr>Slide 27</vt:lpstr>
      <vt:lpstr>Slide 28</vt:lpstr>
      <vt:lpstr>Slide 29</vt:lpstr>
      <vt:lpstr>Shortest Path</vt:lpstr>
      <vt:lpstr>Dijkstra's Algorithm</vt:lpstr>
      <vt:lpstr>Slide 32</vt:lpstr>
      <vt:lpstr>Slide 33</vt:lpstr>
      <vt:lpstr>Slide 34</vt:lpstr>
      <vt:lpstr>MINIMUM SPANNING TREE</vt:lpstr>
      <vt:lpstr>Slide 36</vt:lpstr>
      <vt:lpstr>Slide 37</vt:lpstr>
      <vt:lpstr>Slide 38</vt:lpstr>
      <vt:lpstr>Slide 39</vt:lpstr>
      <vt:lpstr>Slide 40</vt:lpstr>
      <vt:lpstr>Applications of Graphs</vt:lpstr>
      <vt:lpstr>Applications of Graph</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 GRAPH DATA STRUCTURES</dc:title>
  <dc:creator>Aishwarya Chandrasekaran</dc:creator>
  <cp:lastModifiedBy>Aishwarya Chandrasekaran</cp:lastModifiedBy>
  <cp:revision>3</cp:revision>
  <dcterms:created xsi:type="dcterms:W3CDTF">2025-09-14T16:43:26Z</dcterms:created>
  <dcterms:modified xsi:type="dcterms:W3CDTF">2025-09-19T02:21:53Z</dcterms:modified>
</cp:coreProperties>
</file>